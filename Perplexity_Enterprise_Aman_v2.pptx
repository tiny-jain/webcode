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D"/>
        </a:solidFill>
      </p:bgPr>
    </p:bg>
    <p:spTree>
      <p:nvGrpSpPr>
        <p:cNvPr id="1" name=""/>
        <p:cNvGrpSpPr/>
        <p:nvPr/>
      </p:nvGrpSpPr>
      <p:grpSpPr>
        <a:xfrm>
          <a:off x="0" y="0"/>
          <a:ext cx="0" cy="0"/>
          <a:chOff x="0" y="0"/>
          <a:chExt cx="0" cy="0"/>
        </a:xfrm>
      </p:grpSpPr>
      <p:sp>
        <p:nvSpPr>
          <p:cNvPr id="2" name="Shape 0"/>
          <p:cNvSpPr/>
          <p:nvPr/>
        </p:nvSpPr>
        <p:spPr>
          <a:xfrm>
            <a:off x="731520" y="2103120"/>
            <a:ext cx="731520" cy="36576"/>
          </a:xfrm>
          <a:prstGeom prst="rect">
            <a:avLst/>
          </a:prstGeom>
          <a:solidFill>
            <a:srgbClr val="0891B2"/>
          </a:solidFill>
          <a:ln/>
        </p:spPr>
      </p:sp>
      <p:sp>
        <p:nvSpPr>
          <p:cNvPr id="3" name="Text 1"/>
          <p:cNvSpPr/>
          <p:nvPr/>
        </p:nvSpPr>
        <p:spPr>
          <a:xfrm>
            <a:off x="731520" y="1737360"/>
            <a:ext cx="7315200" cy="320040"/>
          </a:xfrm>
          <a:prstGeom prst="rect">
            <a:avLst/>
          </a:prstGeom>
          <a:noFill/>
          <a:ln/>
        </p:spPr>
        <p:txBody>
          <a:bodyPr wrap="square" lIns="0" tIns="0" rIns="0" bIns="0" rtlCol="0" anchor="ctr"/>
          <a:lstStyle/>
          <a:p>
            <a:pPr indent="0" marL="0">
              <a:buNone/>
            </a:pPr>
            <a:r>
              <a:rPr lang="en-US" sz="1100" b="1" spc="500" kern="0" dirty="0">
                <a:solidFill>
                  <a:srgbClr val="0891B2"/>
                </a:solidFill>
                <a:latin typeface="Calibri" pitchFamily="34" charset="0"/>
                <a:ea typeface="Calibri" pitchFamily="34" charset="-122"/>
                <a:cs typeface="Calibri" pitchFamily="34" charset="-120"/>
              </a:rPr>
              <a:t>INTERNAL · EQUITY RESEARCH</a:t>
            </a:r>
            <a:endParaRPr lang="en-US" sz="1100" dirty="0"/>
          </a:p>
        </p:txBody>
      </p:sp>
      <p:sp>
        <p:nvSpPr>
          <p:cNvPr id="4" name="Text 2"/>
          <p:cNvSpPr/>
          <p:nvPr/>
        </p:nvSpPr>
        <p:spPr>
          <a:xfrm>
            <a:off x="731520" y="2331720"/>
            <a:ext cx="10515600" cy="1188720"/>
          </a:xfrm>
          <a:prstGeom prst="rect">
            <a:avLst/>
          </a:prstGeom>
          <a:noFill/>
          <a:ln/>
        </p:spPr>
        <p:txBody>
          <a:bodyPr wrap="square" lIns="0" tIns="0" rIns="0" bIns="0"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Perplexity Enterprise</a:t>
            </a:r>
            <a:endParaRPr lang="en-US" sz="6000" dirty="0"/>
          </a:p>
        </p:txBody>
      </p:sp>
      <p:sp>
        <p:nvSpPr>
          <p:cNvPr id="5" name="Text 3"/>
          <p:cNvSpPr/>
          <p:nvPr/>
        </p:nvSpPr>
        <p:spPr>
          <a:xfrm>
            <a:off x="731520" y="3611880"/>
            <a:ext cx="10515600" cy="548640"/>
          </a:xfrm>
          <a:prstGeom prst="rect">
            <a:avLst/>
          </a:prstGeom>
          <a:noFill/>
          <a:ln/>
        </p:spPr>
        <p:txBody>
          <a:bodyPr wrap="square" lIns="0" tIns="0" rIns="0" bIns="0" rtlCol="0" anchor="ctr"/>
          <a:lstStyle/>
          <a:p>
            <a:pPr indent="0" marL="0">
              <a:buNone/>
            </a:pPr>
            <a:r>
              <a:rPr lang="en-US" sz="2200" i="1" dirty="0">
                <a:solidFill>
                  <a:srgbClr val="B6D7E5"/>
                </a:solidFill>
                <a:latin typeface="Georgia" pitchFamily="34" charset="0"/>
                <a:ea typeface="Georgia" pitchFamily="34" charset="-122"/>
                <a:cs typeface="Georgia" pitchFamily="34" charset="-120"/>
              </a:rPr>
              <a:t>How I'm using it — features, prompts, and the workflows that have changed</a:t>
            </a:r>
            <a:endParaRPr lang="en-US" sz="2200" dirty="0"/>
          </a:p>
        </p:txBody>
      </p:sp>
      <p:sp>
        <p:nvSpPr>
          <p:cNvPr id="6" name="Shape 4"/>
          <p:cNvSpPr/>
          <p:nvPr/>
        </p:nvSpPr>
        <p:spPr>
          <a:xfrm>
            <a:off x="731520" y="4572000"/>
            <a:ext cx="10698480" cy="18288"/>
          </a:xfrm>
          <a:prstGeom prst="rect">
            <a:avLst/>
          </a:prstGeom>
          <a:solidFill>
            <a:srgbClr val="0891B2">
              <a:alpha val="40000"/>
            </a:srgbClr>
          </a:solidFill>
          <a:ln/>
        </p:spPr>
      </p:sp>
      <p:sp>
        <p:nvSpPr>
          <p:cNvPr id="7" name="Text 5"/>
          <p:cNvSpPr/>
          <p:nvPr/>
        </p:nvSpPr>
        <p:spPr>
          <a:xfrm>
            <a:off x="731520" y="4846320"/>
            <a:ext cx="548640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PRESENTED BY  </a:t>
            </a:r>
            <a:pPr indent="0" marL="0">
              <a:buNone/>
            </a:pPr>
            <a:r>
              <a:rPr lang="en-US" sz="1200" dirty="0">
                <a:solidFill>
                  <a:srgbClr val="FFFFFF"/>
                </a:solidFill>
                <a:latin typeface="Calibri" pitchFamily="34" charset="0"/>
                <a:ea typeface="Calibri" pitchFamily="34" charset="-122"/>
                <a:cs typeface="Calibri" pitchFamily="34" charset="-120"/>
              </a:rPr>
              <a:t>Aman Jain</a:t>
            </a:r>
            <a:endParaRPr lang="en-US" sz="1000" dirty="0"/>
          </a:p>
        </p:txBody>
      </p:sp>
      <p:sp>
        <p:nvSpPr>
          <p:cNvPr id="8" name="Text 6"/>
          <p:cNvSpPr/>
          <p:nvPr/>
        </p:nvSpPr>
        <p:spPr>
          <a:xfrm>
            <a:off x="731520" y="5166360"/>
            <a:ext cx="731520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FOR  </a:t>
            </a:r>
            <a:pPr indent="0" marL="0">
              <a:buNone/>
            </a:pPr>
            <a:r>
              <a:rPr lang="en-US" sz="1200" dirty="0">
                <a:solidFill>
                  <a:srgbClr val="FFFFFF"/>
                </a:solidFill>
                <a:latin typeface="Calibri" pitchFamily="34" charset="0"/>
                <a:ea typeface="Calibri" pitchFamily="34" charset="-122"/>
                <a:cs typeface="Calibri" pitchFamily="34" charset="-120"/>
              </a:rPr>
              <a:t>Equity Research — analysts &amp; associates</a:t>
            </a:r>
            <a:endParaRPr lang="en-US" sz="1000" dirty="0"/>
          </a:p>
        </p:txBody>
      </p:sp>
      <p:sp>
        <p:nvSpPr>
          <p:cNvPr id="9" name="Text 7"/>
          <p:cNvSpPr/>
          <p:nvPr/>
        </p:nvSpPr>
        <p:spPr>
          <a:xfrm>
            <a:off x="731520" y="5486400"/>
            <a:ext cx="1005840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GOAL  </a:t>
            </a:r>
            <a:pPr indent="0" marL="0">
              <a:buNone/>
            </a:pPr>
            <a:r>
              <a:rPr lang="en-US" sz="1200" dirty="0">
                <a:solidFill>
                  <a:srgbClr val="FFFFFF"/>
                </a:solidFill>
                <a:latin typeface="Calibri" pitchFamily="34" charset="0"/>
                <a:ea typeface="Calibri" pitchFamily="34" charset="-122"/>
                <a:cs typeface="Calibri" pitchFamily="34" charset="-120"/>
              </a:rPr>
              <a:t>Get to first prompt, first Space, and first scheduled search in one week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0891B2"/>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FRAMING</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What Perplexity changes — and what it doesn't</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02 / 17</a:t>
            </a:r>
            <a:endParaRPr lang="en-US" sz="1000" dirty="0"/>
          </a:p>
        </p:txBody>
      </p:sp>
      <p:sp>
        <p:nvSpPr>
          <p:cNvPr id="19" name="Text 17"/>
          <p:cNvSpPr/>
          <p:nvPr/>
        </p:nvSpPr>
        <p:spPr>
          <a:xfrm>
            <a:off x="548640" y="1874520"/>
            <a:ext cx="11064240" cy="457200"/>
          </a:xfrm>
          <a:prstGeom prst="rect">
            <a:avLst/>
          </a:prstGeom>
          <a:noFill/>
          <a:ln/>
        </p:spPr>
        <p:txBody>
          <a:bodyPr wrap="square" lIns="0" tIns="0" rIns="0" bIns="0" rtlCol="0" anchor="ctr"/>
          <a:lstStyle/>
          <a:p>
            <a:pPr indent="0" marL="0">
              <a:buNone/>
            </a:pPr>
            <a:r>
              <a:rPr lang="en-US" sz="2200" i="1" dirty="0">
                <a:solidFill>
                  <a:srgbClr val="1E293B"/>
                </a:solidFill>
                <a:latin typeface="Georgia" pitchFamily="34" charset="0"/>
                <a:ea typeface="Georgia" pitchFamily="34" charset="-122"/>
                <a:cs typeface="Georgia" pitchFamily="34" charset="-120"/>
              </a:rPr>
              <a:t>Not a replacement for Bloomberg or AlphaSense. A complement.</a:t>
            </a:r>
            <a:endParaRPr lang="en-US" sz="2200" dirty="0"/>
          </a:p>
        </p:txBody>
      </p:sp>
      <p:sp>
        <p:nvSpPr>
          <p:cNvPr id="20" name="Text 18"/>
          <p:cNvSpPr/>
          <p:nvPr/>
        </p:nvSpPr>
        <p:spPr>
          <a:xfrm>
            <a:off x="548640" y="2606040"/>
            <a:ext cx="11064240" cy="914400"/>
          </a:xfrm>
          <a:prstGeom prst="rect">
            <a:avLst/>
          </a:prstGeom>
          <a:noFill/>
          <a:ln/>
        </p:spPr>
        <p:txBody>
          <a:bodyPr wrap="square" lIns="0" tIns="0" rIns="0" bIns="0" rtlCol="0" anchor="ctr"/>
          <a:lstStyle/>
          <a:p>
            <a:pPr indent="0" marL="0">
              <a:lnSpc>
                <a:spcPct val="135000"/>
              </a:lnSpc>
              <a:buNone/>
            </a:pPr>
            <a:r>
              <a:rPr lang="en-US" sz="1400" dirty="0">
                <a:solidFill>
                  <a:srgbClr val="334155"/>
                </a:solidFill>
                <a:latin typeface="Calibri" pitchFamily="34" charset="0"/>
                <a:ea typeface="Calibri" pitchFamily="34" charset="-122"/>
                <a:cs typeface="Calibri" pitchFamily="34" charset="-120"/>
              </a:rPr>
              <a:t>Bloomberg owns the numbers. AlphaSense owns the curated finance corpus — filings, transcripts, broker research. Perplexity earns its keep in three places they don't reach as well.</a:t>
            </a:r>
            <a:endParaRPr lang="en-US" sz="1400" dirty="0"/>
          </a:p>
        </p:txBody>
      </p:sp>
      <p:sp>
        <p:nvSpPr>
          <p:cNvPr id="21" name="Shape 19"/>
          <p:cNvSpPr/>
          <p:nvPr/>
        </p:nvSpPr>
        <p:spPr>
          <a:xfrm>
            <a:off x="548640" y="3794760"/>
            <a:ext cx="3611880" cy="2468880"/>
          </a:xfrm>
          <a:prstGeom prst="rect">
            <a:avLst/>
          </a:prstGeom>
          <a:solidFill>
            <a:srgbClr val="F8FAFC"/>
          </a:solidFill>
          <a:ln w="6350">
            <a:solidFill>
              <a:srgbClr val="E2E8F0"/>
            </a:solidFill>
            <a:prstDash val="solid"/>
          </a:ln>
        </p:spPr>
      </p:sp>
      <p:sp>
        <p:nvSpPr>
          <p:cNvPr id="22" name="Shape 20"/>
          <p:cNvSpPr/>
          <p:nvPr/>
        </p:nvSpPr>
        <p:spPr>
          <a:xfrm>
            <a:off x="548640" y="3794760"/>
            <a:ext cx="54864" cy="2468880"/>
          </a:xfrm>
          <a:prstGeom prst="rect">
            <a:avLst/>
          </a:prstGeom>
          <a:solidFill>
            <a:srgbClr val="0891B2"/>
          </a:solidFill>
          <a:ln/>
        </p:spPr>
      </p:sp>
      <p:sp>
        <p:nvSpPr>
          <p:cNvPr id="23" name="Text 21"/>
          <p:cNvSpPr/>
          <p:nvPr/>
        </p:nvSpPr>
        <p:spPr>
          <a:xfrm>
            <a:off x="822960" y="4023360"/>
            <a:ext cx="1371600" cy="365760"/>
          </a:xfrm>
          <a:prstGeom prst="rect">
            <a:avLst/>
          </a:prstGeom>
          <a:noFill/>
          <a:ln/>
        </p:spPr>
        <p:txBody>
          <a:bodyPr wrap="square" lIns="0" tIns="0" rIns="0" bIns="0" rtlCol="0" anchor="ctr"/>
          <a:lstStyle/>
          <a:p>
            <a:pPr indent="0" marL="0">
              <a:buNone/>
            </a:pPr>
            <a:r>
              <a:rPr lang="en-US" sz="1400" b="1" dirty="0">
                <a:solidFill>
                  <a:srgbClr val="0891B2"/>
                </a:solidFill>
                <a:latin typeface="Georgia" pitchFamily="34" charset="0"/>
                <a:ea typeface="Georgia" pitchFamily="34" charset="-122"/>
                <a:cs typeface="Georgia" pitchFamily="34" charset="-120"/>
              </a:rPr>
              <a:t>01</a:t>
            </a:r>
            <a:endParaRPr lang="en-US" sz="1400" dirty="0"/>
          </a:p>
        </p:txBody>
      </p:sp>
      <p:sp>
        <p:nvSpPr>
          <p:cNvPr id="24" name="Text 22"/>
          <p:cNvSpPr/>
          <p:nvPr/>
        </p:nvSpPr>
        <p:spPr>
          <a:xfrm>
            <a:off x="822960" y="4434840"/>
            <a:ext cx="3108960" cy="731520"/>
          </a:xfrm>
          <a:prstGeom prst="rect">
            <a:avLst/>
          </a:prstGeom>
          <a:noFill/>
          <a:ln/>
        </p:spPr>
        <p:txBody>
          <a:bodyPr wrap="square" lIns="0" tIns="0" rIns="0" bIns="0" rtlCol="0" anchor="ctr"/>
          <a:lstStyle/>
          <a:p>
            <a:pPr indent="0" marL="0">
              <a:lnSpc>
                <a:spcPct val="110000"/>
              </a:lnSpc>
              <a:buNone/>
            </a:pPr>
            <a:r>
              <a:rPr lang="en-US" sz="1700" b="1" dirty="0">
                <a:solidFill>
                  <a:srgbClr val="1E293B"/>
                </a:solidFill>
                <a:latin typeface="Georgia" pitchFamily="34" charset="0"/>
                <a:ea typeface="Georgia" pitchFamily="34" charset="-122"/>
                <a:cs typeface="Georgia" pitchFamily="34" charset="-120"/>
              </a:rPr>
              <a:t>The open web</a:t>
            </a:r>
            <a:endParaRPr lang="en-US" sz="1700" dirty="0"/>
          </a:p>
        </p:txBody>
      </p:sp>
      <p:sp>
        <p:nvSpPr>
          <p:cNvPr id="25" name="Text 23"/>
          <p:cNvSpPr/>
          <p:nvPr/>
        </p:nvSpPr>
        <p:spPr>
          <a:xfrm>
            <a:off x="822960" y="5303520"/>
            <a:ext cx="3108960" cy="914400"/>
          </a:xfrm>
          <a:prstGeom prst="rect">
            <a:avLst/>
          </a:prstGeom>
          <a:noFill/>
          <a:ln/>
        </p:spPr>
        <p:txBody>
          <a:bodyPr wrap="square" lIns="0" tIns="0" rIns="0" bIns="0" rtlCol="0" anchor="ctr"/>
          <a:lstStyle/>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Real-time news, regional press, regulatory pages, social signals — synthesized with citations.</a:t>
            </a:r>
            <a:endParaRPr lang="en-US" sz="1200" dirty="0"/>
          </a:p>
        </p:txBody>
      </p:sp>
      <p:sp>
        <p:nvSpPr>
          <p:cNvPr id="26" name="Shape 24"/>
          <p:cNvSpPr/>
          <p:nvPr/>
        </p:nvSpPr>
        <p:spPr>
          <a:xfrm>
            <a:off x="4343400" y="3794760"/>
            <a:ext cx="3611880" cy="2468880"/>
          </a:xfrm>
          <a:prstGeom prst="rect">
            <a:avLst/>
          </a:prstGeom>
          <a:solidFill>
            <a:srgbClr val="F8FAFC"/>
          </a:solidFill>
          <a:ln w="6350">
            <a:solidFill>
              <a:srgbClr val="E2E8F0"/>
            </a:solidFill>
            <a:prstDash val="solid"/>
          </a:ln>
        </p:spPr>
      </p:sp>
      <p:sp>
        <p:nvSpPr>
          <p:cNvPr id="27" name="Shape 25"/>
          <p:cNvSpPr/>
          <p:nvPr/>
        </p:nvSpPr>
        <p:spPr>
          <a:xfrm>
            <a:off x="4343400" y="3794760"/>
            <a:ext cx="54864" cy="2468880"/>
          </a:xfrm>
          <a:prstGeom prst="rect">
            <a:avLst/>
          </a:prstGeom>
          <a:solidFill>
            <a:srgbClr val="0891B2"/>
          </a:solidFill>
          <a:ln/>
        </p:spPr>
      </p:sp>
      <p:sp>
        <p:nvSpPr>
          <p:cNvPr id="28" name="Text 26"/>
          <p:cNvSpPr/>
          <p:nvPr/>
        </p:nvSpPr>
        <p:spPr>
          <a:xfrm>
            <a:off x="4617720" y="4023360"/>
            <a:ext cx="1371600" cy="365760"/>
          </a:xfrm>
          <a:prstGeom prst="rect">
            <a:avLst/>
          </a:prstGeom>
          <a:noFill/>
          <a:ln/>
        </p:spPr>
        <p:txBody>
          <a:bodyPr wrap="square" lIns="0" tIns="0" rIns="0" bIns="0" rtlCol="0" anchor="ctr"/>
          <a:lstStyle/>
          <a:p>
            <a:pPr indent="0" marL="0">
              <a:buNone/>
            </a:pPr>
            <a:r>
              <a:rPr lang="en-US" sz="1400" b="1" dirty="0">
                <a:solidFill>
                  <a:srgbClr val="0891B2"/>
                </a:solidFill>
                <a:latin typeface="Georgia" pitchFamily="34" charset="0"/>
                <a:ea typeface="Georgia" pitchFamily="34" charset="-122"/>
                <a:cs typeface="Georgia" pitchFamily="34" charset="-120"/>
              </a:rPr>
              <a:t>02</a:t>
            </a:r>
            <a:endParaRPr lang="en-US" sz="1400" dirty="0"/>
          </a:p>
        </p:txBody>
      </p:sp>
      <p:sp>
        <p:nvSpPr>
          <p:cNvPr id="29" name="Text 27"/>
          <p:cNvSpPr/>
          <p:nvPr/>
        </p:nvSpPr>
        <p:spPr>
          <a:xfrm>
            <a:off x="4617720" y="4434840"/>
            <a:ext cx="3108960" cy="731520"/>
          </a:xfrm>
          <a:prstGeom prst="rect">
            <a:avLst/>
          </a:prstGeom>
          <a:noFill/>
          <a:ln/>
        </p:spPr>
        <p:txBody>
          <a:bodyPr wrap="square" lIns="0" tIns="0" rIns="0" bIns="0" rtlCol="0" anchor="ctr"/>
          <a:lstStyle/>
          <a:p>
            <a:pPr indent="0" marL="0">
              <a:lnSpc>
                <a:spcPct val="110000"/>
              </a:lnSpc>
              <a:buNone/>
            </a:pPr>
            <a:r>
              <a:rPr lang="en-US" sz="1700" b="1" dirty="0">
                <a:solidFill>
                  <a:srgbClr val="1E293B"/>
                </a:solidFill>
                <a:latin typeface="Georgia" pitchFamily="34" charset="0"/>
                <a:ea typeface="Georgia" pitchFamily="34" charset="-122"/>
                <a:cs typeface="Georgia" pitchFamily="34" charset="-120"/>
              </a:rPr>
              <a:t>Reasoning over our documents</a:t>
            </a:r>
            <a:endParaRPr lang="en-US" sz="1700" dirty="0"/>
          </a:p>
        </p:txBody>
      </p:sp>
      <p:sp>
        <p:nvSpPr>
          <p:cNvPr id="30" name="Text 28"/>
          <p:cNvSpPr/>
          <p:nvPr/>
        </p:nvSpPr>
        <p:spPr>
          <a:xfrm>
            <a:off x="4617720" y="5303520"/>
            <a:ext cx="3108960" cy="914400"/>
          </a:xfrm>
          <a:prstGeom prst="rect">
            <a:avLst/>
          </a:prstGeom>
          <a:noFill/>
          <a:ln/>
        </p:spPr>
        <p:txBody>
          <a:bodyPr wrap="square" lIns="0" tIns="0" rIns="0" bIns="0" rtlCol="0" anchor="ctr"/>
          <a:lstStyle/>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Upload filings, transcripts, broker notes. Ask precise questions. Get structured answers back.</a:t>
            </a:r>
            <a:endParaRPr lang="en-US" sz="1200" dirty="0"/>
          </a:p>
        </p:txBody>
      </p:sp>
      <p:sp>
        <p:nvSpPr>
          <p:cNvPr id="31" name="Shape 29"/>
          <p:cNvSpPr/>
          <p:nvPr/>
        </p:nvSpPr>
        <p:spPr>
          <a:xfrm>
            <a:off x="8138160" y="3794760"/>
            <a:ext cx="3611880" cy="2468880"/>
          </a:xfrm>
          <a:prstGeom prst="rect">
            <a:avLst/>
          </a:prstGeom>
          <a:solidFill>
            <a:srgbClr val="F8FAFC"/>
          </a:solidFill>
          <a:ln w="6350">
            <a:solidFill>
              <a:srgbClr val="E2E8F0"/>
            </a:solidFill>
            <a:prstDash val="solid"/>
          </a:ln>
        </p:spPr>
      </p:sp>
      <p:sp>
        <p:nvSpPr>
          <p:cNvPr id="32" name="Shape 30"/>
          <p:cNvSpPr/>
          <p:nvPr/>
        </p:nvSpPr>
        <p:spPr>
          <a:xfrm>
            <a:off x="8138160" y="3794760"/>
            <a:ext cx="54864" cy="2468880"/>
          </a:xfrm>
          <a:prstGeom prst="rect">
            <a:avLst/>
          </a:prstGeom>
          <a:solidFill>
            <a:srgbClr val="0891B2"/>
          </a:solidFill>
          <a:ln/>
        </p:spPr>
      </p:sp>
      <p:sp>
        <p:nvSpPr>
          <p:cNvPr id="33" name="Text 31"/>
          <p:cNvSpPr/>
          <p:nvPr/>
        </p:nvSpPr>
        <p:spPr>
          <a:xfrm>
            <a:off x="8412480" y="4023360"/>
            <a:ext cx="1371600" cy="365760"/>
          </a:xfrm>
          <a:prstGeom prst="rect">
            <a:avLst/>
          </a:prstGeom>
          <a:noFill/>
          <a:ln/>
        </p:spPr>
        <p:txBody>
          <a:bodyPr wrap="square" lIns="0" tIns="0" rIns="0" bIns="0" rtlCol="0" anchor="ctr"/>
          <a:lstStyle/>
          <a:p>
            <a:pPr indent="0" marL="0">
              <a:buNone/>
            </a:pPr>
            <a:r>
              <a:rPr lang="en-US" sz="1400" b="1" dirty="0">
                <a:solidFill>
                  <a:srgbClr val="0891B2"/>
                </a:solidFill>
                <a:latin typeface="Georgia" pitchFamily="34" charset="0"/>
                <a:ea typeface="Georgia" pitchFamily="34" charset="-122"/>
                <a:cs typeface="Georgia" pitchFamily="34" charset="-120"/>
              </a:rPr>
              <a:t>03</a:t>
            </a:r>
            <a:endParaRPr lang="en-US" sz="1400" dirty="0"/>
          </a:p>
        </p:txBody>
      </p:sp>
      <p:sp>
        <p:nvSpPr>
          <p:cNvPr id="34" name="Text 32"/>
          <p:cNvSpPr/>
          <p:nvPr/>
        </p:nvSpPr>
        <p:spPr>
          <a:xfrm>
            <a:off x="8412480" y="4434840"/>
            <a:ext cx="3108960" cy="731520"/>
          </a:xfrm>
          <a:prstGeom prst="rect">
            <a:avLst/>
          </a:prstGeom>
          <a:noFill/>
          <a:ln/>
        </p:spPr>
        <p:txBody>
          <a:bodyPr wrap="square" lIns="0" tIns="0" rIns="0" bIns="0" rtlCol="0" anchor="ctr"/>
          <a:lstStyle/>
          <a:p>
            <a:pPr indent="0" marL="0">
              <a:lnSpc>
                <a:spcPct val="110000"/>
              </a:lnSpc>
              <a:buNone/>
            </a:pPr>
            <a:r>
              <a:rPr lang="en-US" sz="1700" b="1" dirty="0">
                <a:solidFill>
                  <a:srgbClr val="1E293B"/>
                </a:solidFill>
                <a:latin typeface="Georgia" pitchFamily="34" charset="0"/>
                <a:ea typeface="Georgia" pitchFamily="34" charset="-122"/>
                <a:cs typeface="Georgia" pitchFamily="34" charset="-120"/>
              </a:rPr>
              <a:t>Automation we couldn't do before</a:t>
            </a:r>
            <a:endParaRPr lang="en-US" sz="1700" dirty="0"/>
          </a:p>
        </p:txBody>
      </p:sp>
      <p:sp>
        <p:nvSpPr>
          <p:cNvPr id="35" name="Text 33"/>
          <p:cNvSpPr/>
          <p:nvPr/>
        </p:nvSpPr>
        <p:spPr>
          <a:xfrm>
            <a:off x="8412480" y="5303520"/>
            <a:ext cx="3108960" cy="914400"/>
          </a:xfrm>
          <a:prstGeom prst="rect">
            <a:avLst/>
          </a:prstGeom>
          <a:noFill/>
          <a:ln/>
        </p:spPr>
        <p:txBody>
          <a:bodyPr wrap="square" lIns="0" tIns="0" rIns="0" bIns="0" rtlCol="0" anchor="ctr"/>
          <a:lstStyle/>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Scheduled searches, price alerts with custom analyst queries, rephrasing in our voice.</a:t>
            </a:r>
            <a:endParaRPr lang="en-US" sz="1200" dirty="0"/>
          </a:p>
        </p:txBody>
      </p:sp>
      <p:sp>
        <p:nvSpPr>
          <p:cNvPr id="36" name="Text 34"/>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0891B2"/>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SETUP</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Two switches to know before you start</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03 / 17</a:t>
            </a:r>
            <a:endParaRPr lang="en-US" sz="1000" dirty="0"/>
          </a:p>
        </p:txBody>
      </p:sp>
      <p:sp>
        <p:nvSpPr>
          <p:cNvPr id="19" name="Text 17"/>
          <p:cNvSpPr/>
          <p:nvPr/>
        </p:nvSpPr>
        <p:spPr>
          <a:xfrm>
            <a:off x="548640" y="1828800"/>
            <a:ext cx="11064240" cy="365760"/>
          </a:xfrm>
          <a:prstGeom prst="rect">
            <a:avLst/>
          </a:prstGeom>
          <a:noFill/>
          <a:ln/>
        </p:spPr>
        <p:txBody>
          <a:bodyPr wrap="square" lIns="0" tIns="0" rIns="0" bIns="0" rtlCol="0" anchor="ctr"/>
          <a:lstStyle/>
          <a:p>
            <a:pPr indent="0" marL="0">
              <a:buNone/>
            </a:pPr>
            <a:r>
              <a:rPr lang="en-US" sz="1400" i="1" dirty="0">
                <a:solidFill>
                  <a:srgbClr val="64748B"/>
                </a:solidFill>
                <a:latin typeface="Georgia" pitchFamily="34" charset="0"/>
                <a:ea typeface="Georgia" pitchFamily="34" charset="-122"/>
                <a:cs typeface="Georgia" pitchFamily="34" charset="-120"/>
              </a:rPr>
              <a:t>Behaviour of every prompt depends on these two settings. Worth a moment up front.</a:t>
            </a:r>
            <a:endParaRPr lang="en-US" sz="1400" dirty="0"/>
          </a:p>
        </p:txBody>
      </p:sp>
      <p:sp>
        <p:nvSpPr>
          <p:cNvPr id="20" name="Text 18"/>
          <p:cNvSpPr/>
          <p:nvPr/>
        </p:nvSpPr>
        <p:spPr>
          <a:xfrm>
            <a:off x="548640" y="2377440"/>
            <a:ext cx="548640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SWITCH 1 · SEARCH MODE</a:t>
            </a:r>
            <a:endParaRPr lang="en-US" sz="1000" dirty="0"/>
          </a:p>
        </p:txBody>
      </p:sp>
      <p:sp>
        <p:nvSpPr>
          <p:cNvPr id="21" name="Text 19"/>
          <p:cNvSpPr/>
          <p:nvPr/>
        </p:nvSpPr>
        <p:spPr>
          <a:xfrm>
            <a:off x="548640" y="2651760"/>
            <a:ext cx="548640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Search vs Deep Research</a:t>
            </a:r>
            <a:endParaRPr lang="en-US" sz="1700" dirty="0"/>
          </a:p>
        </p:txBody>
      </p:sp>
      <p:pic>
        <p:nvPicPr>
          <p:cNvPr id="22" name="Image 0" descr="/home/claude/deck/images_small/img11_search_modes.jpg">    </p:cNvPr>
          <p:cNvPicPr>
            <a:picLocks noChangeAspect="1"/>
          </p:cNvPicPr>
          <p:nvPr/>
        </p:nvPicPr>
        <p:blipFill>
          <a:blip r:embed="rId1"/>
          <a:srcRect l="0" r="0" t="0" b="0"/>
          <a:stretch/>
        </p:blipFill>
        <p:spPr>
          <a:xfrm>
            <a:off x="548640" y="3200400"/>
            <a:ext cx="5486400" cy="2697480"/>
          </a:xfrm>
          <a:prstGeom prst="rect">
            <a:avLst/>
          </a:prstGeom>
        </p:spPr>
      </p:pic>
      <p:sp>
        <p:nvSpPr>
          <p:cNvPr id="23" name="Text 20"/>
          <p:cNvSpPr/>
          <p:nvPr/>
        </p:nvSpPr>
        <p:spPr>
          <a:xfrm>
            <a:off x="548640" y="5989320"/>
            <a:ext cx="5486400" cy="64008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Default to Search for daily work. Use Deep Research when you need a multi-source brief and can wait 5–10 minutes — it goes deeper and structures the answer.</a:t>
            </a:r>
            <a:endParaRPr lang="en-US" sz="1100" dirty="0"/>
          </a:p>
        </p:txBody>
      </p:sp>
      <p:sp>
        <p:nvSpPr>
          <p:cNvPr id="24" name="Text 21"/>
          <p:cNvSpPr/>
          <p:nvPr/>
        </p:nvSpPr>
        <p:spPr>
          <a:xfrm>
            <a:off x="6263640" y="2377440"/>
            <a:ext cx="548640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SWITCH 2 · MODEL</a:t>
            </a:r>
            <a:endParaRPr lang="en-US" sz="1000" dirty="0"/>
          </a:p>
        </p:txBody>
      </p:sp>
      <p:sp>
        <p:nvSpPr>
          <p:cNvPr id="25" name="Text 22"/>
          <p:cNvSpPr/>
          <p:nvPr/>
        </p:nvSpPr>
        <p:spPr>
          <a:xfrm>
            <a:off x="6263640" y="2651760"/>
            <a:ext cx="548640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Pick the right model for the job</a:t>
            </a:r>
            <a:endParaRPr lang="en-US" sz="1700" dirty="0"/>
          </a:p>
        </p:txBody>
      </p:sp>
      <p:pic>
        <p:nvPicPr>
          <p:cNvPr id="26" name="Image 1" descr="/home/claude/deck/images_small/img10_model_picker.jpg">    </p:cNvPr>
          <p:cNvPicPr>
            <a:picLocks noChangeAspect="1"/>
          </p:cNvPicPr>
          <p:nvPr/>
        </p:nvPicPr>
        <p:blipFill>
          <a:blip r:embed="rId2"/>
          <a:srcRect l="0" r="0" t="0" b="0"/>
          <a:stretch/>
        </p:blipFill>
        <p:spPr>
          <a:xfrm>
            <a:off x="6263640" y="3200400"/>
            <a:ext cx="5486400" cy="2697480"/>
          </a:xfrm>
          <a:prstGeom prst="rect">
            <a:avLst/>
          </a:prstGeom>
        </p:spPr>
      </p:pic>
      <p:sp>
        <p:nvSpPr>
          <p:cNvPr id="27" name="Text 23"/>
          <p:cNvSpPr/>
          <p:nvPr/>
        </p:nvSpPr>
        <p:spPr>
          <a:xfrm>
            <a:off x="6263640" y="5989320"/>
            <a:ext cx="5486400" cy="64008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GPT-5.4 default for general work. Claude Sonnet 4.6 for synthesis and writing. Thinking / GPT-5.5 Max for multi-step reasoning over long documents.</a:t>
            </a:r>
            <a:endParaRPr lang="en-US" sz="1100" dirty="0"/>
          </a:p>
        </p:txBody>
      </p:sp>
      <p:sp>
        <p:nvSpPr>
          <p:cNvPr id="28" name="Text 24"/>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0891B2"/>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PROMPTING</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How to write a prompt — the PICOE framework</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04 / 17</a:t>
            </a:r>
            <a:endParaRPr lang="en-US" sz="1000" dirty="0"/>
          </a:p>
        </p:txBody>
      </p:sp>
      <p:sp>
        <p:nvSpPr>
          <p:cNvPr id="19" name="Text 17"/>
          <p:cNvSpPr/>
          <p:nvPr/>
        </p:nvSpPr>
        <p:spPr>
          <a:xfrm>
            <a:off x="548640" y="182880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Georgia" pitchFamily="34" charset="0"/>
                <a:ea typeface="Georgia" pitchFamily="34" charset="-122"/>
                <a:cs typeface="Georgia" pitchFamily="34" charset="-120"/>
              </a:rPr>
              <a:t>Most people type questions. Power users write prompts. The difference is structure.</a:t>
            </a:r>
            <a:endParaRPr lang="en-US" sz="1600" dirty="0"/>
          </a:p>
        </p:txBody>
      </p:sp>
      <p:sp>
        <p:nvSpPr>
          <p:cNvPr id="20" name="Shape 18"/>
          <p:cNvSpPr/>
          <p:nvPr/>
        </p:nvSpPr>
        <p:spPr>
          <a:xfrm>
            <a:off x="548640" y="2606040"/>
            <a:ext cx="713232" cy="713232"/>
          </a:xfrm>
          <a:prstGeom prst="ellipse">
            <a:avLst/>
          </a:prstGeom>
          <a:solidFill>
            <a:srgbClr val="1E2A4D"/>
          </a:solidFill>
          <a:ln/>
        </p:spPr>
      </p:sp>
      <p:sp>
        <p:nvSpPr>
          <p:cNvPr id="21" name="Text 19"/>
          <p:cNvSpPr/>
          <p:nvPr/>
        </p:nvSpPr>
        <p:spPr>
          <a:xfrm>
            <a:off x="548640" y="2606040"/>
            <a:ext cx="713232" cy="713232"/>
          </a:xfrm>
          <a:prstGeom prst="rect">
            <a:avLst/>
          </a:prstGeom>
          <a:noFill/>
          <a:ln/>
        </p:spPr>
        <p:txBody>
          <a:bodyPr wrap="square" lIns="0" tIns="0" rIns="0" bIns="0" rtlCol="0" anchor="ctr"/>
          <a:lstStyle/>
          <a:p>
            <a:pPr algn="ctr" indent="0" marL="0">
              <a:buNone/>
            </a:pPr>
            <a:r>
              <a:rPr lang="en-US" sz="3200" b="1" dirty="0">
                <a:solidFill>
                  <a:srgbClr val="0891B2"/>
                </a:solidFill>
                <a:latin typeface="Georgia" pitchFamily="34" charset="0"/>
                <a:ea typeface="Georgia" pitchFamily="34" charset="-122"/>
                <a:cs typeface="Georgia" pitchFamily="34" charset="-120"/>
              </a:rPr>
              <a:t>P</a:t>
            </a:r>
            <a:endParaRPr lang="en-US" sz="3200" dirty="0"/>
          </a:p>
        </p:txBody>
      </p:sp>
      <p:sp>
        <p:nvSpPr>
          <p:cNvPr id="22" name="Text 20"/>
          <p:cNvSpPr/>
          <p:nvPr/>
        </p:nvSpPr>
        <p:spPr>
          <a:xfrm>
            <a:off x="1508760" y="2651760"/>
            <a:ext cx="2743200" cy="45720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Persona</a:t>
            </a:r>
            <a:endParaRPr lang="en-US" sz="1600" dirty="0"/>
          </a:p>
        </p:txBody>
      </p:sp>
      <p:sp>
        <p:nvSpPr>
          <p:cNvPr id="23" name="Text 21"/>
          <p:cNvSpPr/>
          <p:nvPr/>
        </p:nvSpPr>
        <p:spPr>
          <a:xfrm>
            <a:off x="4297680" y="2651760"/>
            <a:ext cx="7315200" cy="64008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Who you are. "I work in sell-side equity research at Bernstein, covering Indian financials."</a:t>
            </a:r>
            <a:endParaRPr lang="en-US" sz="1200" dirty="0"/>
          </a:p>
        </p:txBody>
      </p:sp>
      <p:sp>
        <p:nvSpPr>
          <p:cNvPr id="24" name="Shape 22"/>
          <p:cNvSpPr/>
          <p:nvPr/>
        </p:nvSpPr>
        <p:spPr>
          <a:xfrm>
            <a:off x="548640" y="3392424"/>
            <a:ext cx="713232" cy="713232"/>
          </a:xfrm>
          <a:prstGeom prst="ellipse">
            <a:avLst/>
          </a:prstGeom>
          <a:solidFill>
            <a:srgbClr val="1E2A4D"/>
          </a:solidFill>
          <a:ln/>
        </p:spPr>
      </p:sp>
      <p:sp>
        <p:nvSpPr>
          <p:cNvPr id="25" name="Text 23"/>
          <p:cNvSpPr/>
          <p:nvPr/>
        </p:nvSpPr>
        <p:spPr>
          <a:xfrm>
            <a:off x="548640" y="3392424"/>
            <a:ext cx="713232" cy="713232"/>
          </a:xfrm>
          <a:prstGeom prst="rect">
            <a:avLst/>
          </a:prstGeom>
          <a:noFill/>
          <a:ln/>
        </p:spPr>
        <p:txBody>
          <a:bodyPr wrap="square" lIns="0" tIns="0" rIns="0" bIns="0" rtlCol="0" anchor="ctr"/>
          <a:lstStyle/>
          <a:p>
            <a:pPr algn="ctr" indent="0" marL="0">
              <a:buNone/>
            </a:pPr>
            <a:r>
              <a:rPr lang="en-US" sz="3200" b="1" dirty="0">
                <a:solidFill>
                  <a:srgbClr val="0891B2"/>
                </a:solidFill>
                <a:latin typeface="Georgia" pitchFamily="34" charset="0"/>
                <a:ea typeface="Georgia" pitchFamily="34" charset="-122"/>
                <a:cs typeface="Georgia" pitchFamily="34" charset="-120"/>
              </a:rPr>
              <a:t>I</a:t>
            </a:r>
            <a:endParaRPr lang="en-US" sz="3200" dirty="0"/>
          </a:p>
        </p:txBody>
      </p:sp>
      <p:sp>
        <p:nvSpPr>
          <p:cNvPr id="26" name="Text 24"/>
          <p:cNvSpPr/>
          <p:nvPr/>
        </p:nvSpPr>
        <p:spPr>
          <a:xfrm>
            <a:off x="1508760" y="3438144"/>
            <a:ext cx="2743200" cy="45720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Instructions</a:t>
            </a:r>
            <a:endParaRPr lang="en-US" sz="1600" dirty="0"/>
          </a:p>
        </p:txBody>
      </p:sp>
      <p:sp>
        <p:nvSpPr>
          <p:cNvPr id="27" name="Text 25"/>
          <p:cNvSpPr/>
          <p:nvPr/>
        </p:nvSpPr>
        <p:spPr>
          <a:xfrm>
            <a:off x="4297680" y="3438144"/>
            <a:ext cx="7315200" cy="64008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What you want done. Be specific about the topic, the angle, and the inputs to use.</a:t>
            </a:r>
            <a:endParaRPr lang="en-US" sz="1200" dirty="0"/>
          </a:p>
        </p:txBody>
      </p:sp>
      <p:sp>
        <p:nvSpPr>
          <p:cNvPr id="28" name="Shape 26"/>
          <p:cNvSpPr/>
          <p:nvPr/>
        </p:nvSpPr>
        <p:spPr>
          <a:xfrm>
            <a:off x="548640" y="4178808"/>
            <a:ext cx="713232" cy="713232"/>
          </a:xfrm>
          <a:prstGeom prst="ellipse">
            <a:avLst/>
          </a:prstGeom>
          <a:solidFill>
            <a:srgbClr val="1E2A4D"/>
          </a:solidFill>
          <a:ln/>
        </p:spPr>
      </p:sp>
      <p:sp>
        <p:nvSpPr>
          <p:cNvPr id="29" name="Text 27"/>
          <p:cNvSpPr/>
          <p:nvPr/>
        </p:nvSpPr>
        <p:spPr>
          <a:xfrm>
            <a:off x="548640" y="4178808"/>
            <a:ext cx="713232" cy="713232"/>
          </a:xfrm>
          <a:prstGeom prst="rect">
            <a:avLst/>
          </a:prstGeom>
          <a:noFill/>
          <a:ln/>
        </p:spPr>
        <p:txBody>
          <a:bodyPr wrap="square" lIns="0" tIns="0" rIns="0" bIns="0" rtlCol="0" anchor="ctr"/>
          <a:lstStyle/>
          <a:p>
            <a:pPr algn="ctr" indent="0" marL="0">
              <a:buNone/>
            </a:pPr>
            <a:r>
              <a:rPr lang="en-US" sz="3200" b="1" dirty="0">
                <a:solidFill>
                  <a:srgbClr val="0891B2"/>
                </a:solidFill>
                <a:latin typeface="Georgia" pitchFamily="34" charset="0"/>
                <a:ea typeface="Georgia" pitchFamily="34" charset="-122"/>
                <a:cs typeface="Georgia" pitchFamily="34" charset="-120"/>
              </a:rPr>
              <a:t>C</a:t>
            </a:r>
            <a:endParaRPr lang="en-US" sz="3200" dirty="0"/>
          </a:p>
        </p:txBody>
      </p:sp>
      <p:sp>
        <p:nvSpPr>
          <p:cNvPr id="30" name="Text 28"/>
          <p:cNvSpPr/>
          <p:nvPr/>
        </p:nvSpPr>
        <p:spPr>
          <a:xfrm>
            <a:off x="1508760" y="4224528"/>
            <a:ext cx="2743200" cy="45720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Constraint</a:t>
            </a:r>
            <a:endParaRPr lang="en-US" sz="1600" dirty="0"/>
          </a:p>
        </p:txBody>
      </p:sp>
      <p:sp>
        <p:nvSpPr>
          <p:cNvPr id="31" name="Text 29"/>
          <p:cNvSpPr/>
          <p:nvPr/>
        </p:nvSpPr>
        <p:spPr>
          <a:xfrm>
            <a:off x="4297680" y="4224528"/>
            <a:ext cx="7315200" cy="64008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What to avoid. Style, length, jargon level, tone — anything that's a hard no.</a:t>
            </a:r>
            <a:endParaRPr lang="en-US" sz="1200" dirty="0"/>
          </a:p>
        </p:txBody>
      </p:sp>
      <p:sp>
        <p:nvSpPr>
          <p:cNvPr id="32" name="Shape 30"/>
          <p:cNvSpPr/>
          <p:nvPr/>
        </p:nvSpPr>
        <p:spPr>
          <a:xfrm>
            <a:off x="548640" y="4965192"/>
            <a:ext cx="713232" cy="713232"/>
          </a:xfrm>
          <a:prstGeom prst="ellipse">
            <a:avLst/>
          </a:prstGeom>
          <a:solidFill>
            <a:srgbClr val="1E2A4D"/>
          </a:solidFill>
          <a:ln/>
        </p:spPr>
      </p:sp>
      <p:sp>
        <p:nvSpPr>
          <p:cNvPr id="33" name="Text 31"/>
          <p:cNvSpPr/>
          <p:nvPr/>
        </p:nvSpPr>
        <p:spPr>
          <a:xfrm>
            <a:off x="548640" y="4965192"/>
            <a:ext cx="713232" cy="713232"/>
          </a:xfrm>
          <a:prstGeom prst="rect">
            <a:avLst/>
          </a:prstGeom>
          <a:noFill/>
          <a:ln/>
        </p:spPr>
        <p:txBody>
          <a:bodyPr wrap="square" lIns="0" tIns="0" rIns="0" bIns="0" rtlCol="0" anchor="ctr"/>
          <a:lstStyle/>
          <a:p>
            <a:pPr algn="ctr" indent="0" marL="0">
              <a:buNone/>
            </a:pPr>
            <a:r>
              <a:rPr lang="en-US" sz="3200" b="1" dirty="0">
                <a:solidFill>
                  <a:srgbClr val="0891B2"/>
                </a:solidFill>
                <a:latin typeface="Georgia" pitchFamily="34" charset="0"/>
                <a:ea typeface="Georgia" pitchFamily="34" charset="-122"/>
                <a:cs typeface="Georgia" pitchFamily="34" charset="-120"/>
              </a:rPr>
              <a:t>O</a:t>
            </a:r>
            <a:endParaRPr lang="en-US" sz="3200" dirty="0"/>
          </a:p>
        </p:txBody>
      </p:sp>
      <p:sp>
        <p:nvSpPr>
          <p:cNvPr id="34" name="Text 32"/>
          <p:cNvSpPr/>
          <p:nvPr/>
        </p:nvSpPr>
        <p:spPr>
          <a:xfrm>
            <a:off x="1508760" y="5010912"/>
            <a:ext cx="2743200" cy="45720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Output format</a:t>
            </a:r>
            <a:endParaRPr lang="en-US" sz="1600" dirty="0"/>
          </a:p>
        </p:txBody>
      </p:sp>
      <p:sp>
        <p:nvSpPr>
          <p:cNvPr id="35" name="Text 33"/>
          <p:cNvSpPr/>
          <p:nvPr/>
        </p:nvSpPr>
        <p:spPr>
          <a:xfrm>
            <a:off x="4297680" y="5010912"/>
            <a:ext cx="7315200" cy="64008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Shape of the answer. One paragraph / table / bullets / 1-page brief.</a:t>
            </a:r>
            <a:endParaRPr lang="en-US" sz="1200" dirty="0"/>
          </a:p>
        </p:txBody>
      </p:sp>
      <p:sp>
        <p:nvSpPr>
          <p:cNvPr id="36" name="Shape 34"/>
          <p:cNvSpPr/>
          <p:nvPr/>
        </p:nvSpPr>
        <p:spPr>
          <a:xfrm>
            <a:off x="548640" y="5751576"/>
            <a:ext cx="713232" cy="713232"/>
          </a:xfrm>
          <a:prstGeom prst="ellipse">
            <a:avLst/>
          </a:prstGeom>
          <a:solidFill>
            <a:srgbClr val="1E2A4D"/>
          </a:solidFill>
          <a:ln/>
        </p:spPr>
      </p:sp>
      <p:sp>
        <p:nvSpPr>
          <p:cNvPr id="37" name="Text 35"/>
          <p:cNvSpPr/>
          <p:nvPr/>
        </p:nvSpPr>
        <p:spPr>
          <a:xfrm>
            <a:off x="548640" y="5751576"/>
            <a:ext cx="713232" cy="713232"/>
          </a:xfrm>
          <a:prstGeom prst="rect">
            <a:avLst/>
          </a:prstGeom>
          <a:noFill/>
          <a:ln/>
        </p:spPr>
        <p:txBody>
          <a:bodyPr wrap="square" lIns="0" tIns="0" rIns="0" bIns="0" rtlCol="0" anchor="ctr"/>
          <a:lstStyle/>
          <a:p>
            <a:pPr algn="ctr" indent="0" marL="0">
              <a:buNone/>
            </a:pPr>
            <a:r>
              <a:rPr lang="en-US" sz="3200" b="1" dirty="0">
                <a:solidFill>
                  <a:srgbClr val="0891B2"/>
                </a:solidFill>
                <a:latin typeface="Georgia" pitchFamily="34" charset="0"/>
                <a:ea typeface="Georgia" pitchFamily="34" charset="-122"/>
                <a:cs typeface="Georgia" pitchFamily="34" charset="-120"/>
              </a:rPr>
              <a:t>E</a:t>
            </a:r>
            <a:endParaRPr lang="en-US" sz="3200" dirty="0"/>
          </a:p>
        </p:txBody>
      </p:sp>
      <p:sp>
        <p:nvSpPr>
          <p:cNvPr id="38" name="Text 36"/>
          <p:cNvSpPr/>
          <p:nvPr/>
        </p:nvSpPr>
        <p:spPr>
          <a:xfrm>
            <a:off x="1508760" y="5797296"/>
            <a:ext cx="2743200" cy="45720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Examples</a:t>
            </a:r>
            <a:endParaRPr lang="en-US" sz="1600" dirty="0"/>
          </a:p>
        </p:txBody>
      </p:sp>
      <p:sp>
        <p:nvSpPr>
          <p:cNvPr id="39" name="Text 37"/>
          <p:cNvSpPr/>
          <p:nvPr/>
        </p:nvSpPr>
        <p:spPr>
          <a:xfrm>
            <a:off x="4297680" y="5797296"/>
            <a:ext cx="7315200" cy="64008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What good looks like. Paste 2–3 examples of past notes, paragraphs, or output styles.</a:t>
            </a:r>
            <a:endParaRPr lang="en-US" sz="1200" dirty="0"/>
          </a:p>
        </p:txBody>
      </p:sp>
      <p:sp>
        <p:nvSpPr>
          <p:cNvPr id="40" name="Text 38"/>
          <p:cNvSpPr/>
          <p:nvPr/>
        </p:nvSpPr>
        <p:spPr>
          <a:xfrm>
            <a:off x="548640" y="6400800"/>
            <a:ext cx="11064240" cy="274320"/>
          </a:xfrm>
          <a:prstGeom prst="rect">
            <a:avLst/>
          </a:prstGeom>
          <a:noFill/>
          <a:ln/>
        </p:spPr>
        <p:txBody>
          <a:bodyPr wrap="square" lIns="0" tIns="0" rIns="0" bIns="0" rtlCol="0" anchor="ctr"/>
          <a:lstStyle/>
          <a:p>
            <a:pPr indent="0" marL="0">
              <a:buNone/>
            </a:pPr>
            <a:r>
              <a:rPr lang="en-US" sz="1000" i="1" dirty="0">
                <a:solidFill>
                  <a:srgbClr val="0891B2"/>
                </a:solidFill>
                <a:latin typeface="Calibri" pitchFamily="34" charset="0"/>
                <a:ea typeface="Calibri" pitchFamily="34" charset="-122"/>
                <a:cs typeface="Calibri" pitchFamily="34" charset="-120"/>
              </a:rPr>
              <a:t>The more constrained the prompt, the better the output. Two examples follow.</a:t>
            </a:r>
            <a:endParaRPr lang="en-US" sz="1000" dirty="0"/>
          </a:p>
        </p:txBody>
      </p:sp>
      <p:sp>
        <p:nvSpPr>
          <p:cNvPr id="41" name="Text 39"/>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0891B2"/>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PROMPTING · WORKED EXAMPLE</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L&amp;T result note — opening paragraph</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05 / 17</a:t>
            </a:r>
            <a:endParaRPr lang="en-US" sz="1000" dirty="0"/>
          </a:p>
        </p:txBody>
      </p:sp>
      <p:sp>
        <p:nvSpPr>
          <p:cNvPr id="19" name="Text 17"/>
          <p:cNvSpPr/>
          <p:nvPr/>
        </p:nvSpPr>
        <p:spPr>
          <a:xfrm>
            <a:off x="548640" y="1828800"/>
            <a:ext cx="11064240" cy="365760"/>
          </a:xfrm>
          <a:prstGeom prst="rect">
            <a:avLst/>
          </a:prstGeom>
          <a:noFill/>
          <a:ln/>
        </p:spPr>
        <p:txBody>
          <a:bodyPr wrap="square" lIns="0" tIns="0" rIns="0" bIns="0" rtlCol="0" anchor="ctr"/>
          <a:lstStyle/>
          <a:p>
            <a:pPr indent="0" marL="0">
              <a:buNone/>
            </a:pPr>
            <a:r>
              <a:rPr lang="en-US" sz="1400" i="1" dirty="0">
                <a:solidFill>
                  <a:srgbClr val="64748B"/>
                </a:solidFill>
                <a:latin typeface="Georgia" pitchFamily="34" charset="0"/>
                <a:ea typeface="Georgia" pitchFamily="34" charset="-122"/>
                <a:cs typeface="Georgia" pitchFamily="34" charset="-120"/>
              </a:rPr>
              <a:t>The brief I gave Perplexity, mapped to PICOE</a:t>
            </a:r>
            <a:endParaRPr lang="en-US" sz="1400" dirty="0"/>
          </a:p>
        </p:txBody>
      </p:sp>
      <p:sp>
        <p:nvSpPr>
          <p:cNvPr id="20" name="Shape 18"/>
          <p:cNvSpPr/>
          <p:nvPr/>
        </p:nvSpPr>
        <p:spPr>
          <a:xfrm>
            <a:off x="548640" y="2331720"/>
            <a:ext cx="3657600" cy="1325880"/>
          </a:xfrm>
          <a:prstGeom prst="rect">
            <a:avLst/>
          </a:prstGeom>
          <a:solidFill>
            <a:srgbClr val="F8FAFC"/>
          </a:solidFill>
          <a:ln w="6350">
            <a:solidFill>
              <a:srgbClr val="E2E8F0"/>
            </a:solidFill>
            <a:prstDash val="solid"/>
          </a:ln>
        </p:spPr>
      </p:sp>
      <p:sp>
        <p:nvSpPr>
          <p:cNvPr id="21" name="Shape 19"/>
          <p:cNvSpPr/>
          <p:nvPr/>
        </p:nvSpPr>
        <p:spPr>
          <a:xfrm>
            <a:off x="548640" y="2331720"/>
            <a:ext cx="45720" cy="1325880"/>
          </a:xfrm>
          <a:prstGeom prst="rect">
            <a:avLst/>
          </a:prstGeom>
          <a:solidFill>
            <a:srgbClr val="0891B2"/>
          </a:solidFill>
          <a:ln/>
        </p:spPr>
      </p:sp>
      <p:sp>
        <p:nvSpPr>
          <p:cNvPr id="22" name="Text 20"/>
          <p:cNvSpPr/>
          <p:nvPr/>
        </p:nvSpPr>
        <p:spPr>
          <a:xfrm>
            <a:off x="731520" y="2468880"/>
            <a:ext cx="3291840" cy="320040"/>
          </a:xfrm>
          <a:prstGeom prst="rect">
            <a:avLst/>
          </a:prstGeom>
          <a:noFill/>
          <a:ln/>
        </p:spPr>
        <p:txBody>
          <a:bodyPr wrap="square" lIns="0" tIns="0" rIns="0" bIns="0" rtlCol="0" anchor="ctr"/>
          <a:lstStyle/>
          <a:p>
            <a:pPr indent="0" marL="0">
              <a:buNone/>
            </a:pPr>
            <a:r>
              <a:rPr lang="en-US" sz="1600" b="1" dirty="0">
                <a:solidFill>
                  <a:srgbClr val="0891B2"/>
                </a:solidFill>
                <a:latin typeface="Georgia" pitchFamily="34" charset="0"/>
                <a:ea typeface="Georgia" pitchFamily="34" charset="-122"/>
                <a:cs typeface="Georgia" pitchFamily="34" charset="-120"/>
              </a:rPr>
              <a:t>P</a:t>
            </a:r>
            <a:pPr indent="0" marL="0">
              <a:buNone/>
            </a:pPr>
            <a:r>
              <a:rPr lang="en-US" sz="900" b="1" spc="300" kern="0" dirty="0">
                <a:solidFill>
                  <a:srgbClr val="64748B"/>
                </a:solidFill>
              </a:rPr>
              <a:t>   PERSONA</a:t>
            </a:r>
            <a:endParaRPr lang="en-US" sz="1600" dirty="0"/>
          </a:p>
        </p:txBody>
      </p:sp>
      <p:sp>
        <p:nvSpPr>
          <p:cNvPr id="23" name="Text 21"/>
          <p:cNvSpPr/>
          <p:nvPr/>
        </p:nvSpPr>
        <p:spPr>
          <a:xfrm>
            <a:off x="731520" y="2834640"/>
            <a:ext cx="3291840" cy="68580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Sell-side equity research. Covering L&amp;T. Writing result note.</a:t>
            </a:r>
            <a:endParaRPr lang="en-US" sz="1100" dirty="0"/>
          </a:p>
        </p:txBody>
      </p:sp>
      <p:sp>
        <p:nvSpPr>
          <p:cNvPr id="24" name="Shape 22"/>
          <p:cNvSpPr/>
          <p:nvPr/>
        </p:nvSpPr>
        <p:spPr>
          <a:xfrm>
            <a:off x="4297680" y="2331720"/>
            <a:ext cx="3657600" cy="1325880"/>
          </a:xfrm>
          <a:prstGeom prst="rect">
            <a:avLst/>
          </a:prstGeom>
          <a:solidFill>
            <a:srgbClr val="F8FAFC"/>
          </a:solidFill>
          <a:ln w="6350">
            <a:solidFill>
              <a:srgbClr val="E2E8F0"/>
            </a:solidFill>
            <a:prstDash val="solid"/>
          </a:ln>
        </p:spPr>
      </p:sp>
      <p:sp>
        <p:nvSpPr>
          <p:cNvPr id="25" name="Shape 23"/>
          <p:cNvSpPr/>
          <p:nvPr/>
        </p:nvSpPr>
        <p:spPr>
          <a:xfrm>
            <a:off x="4297680" y="2331720"/>
            <a:ext cx="45720" cy="1325880"/>
          </a:xfrm>
          <a:prstGeom prst="rect">
            <a:avLst/>
          </a:prstGeom>
          <a:solidFill>
            <a:srgbClr val="0891B2"/>
          </a:solidFill>
          <a:ln/>
        </p:spPr>
      </p:sp>
      <p:sp>
        <p:nvSpPr>
          <p:cNvPr id="26" name="Text 24"/>
          <p:cNvSpPr/>
          <p:nvPr/>
        </p:nvSpPr>
        <p:spPr>
          <a:xfrm>
            <a:off x="4480560" y="2468880"/>
            <a:ext cx="3291840" cy="320040"/>
          </a:xfrm>
          <a:prstGeom prst="rect">
            <a:avLst/>
          </a:prstGeom>
          <a:noFill/>
          <a:ln/>
        </p:spPr>
        <p:txBody>
          <a:bodyPr wrap="square" lIns="0" tIns="0" rIns="0" bIns="0" rtlCol="0" anchor="ctr"/>
          <a:lstStyle/>
          <a:p>
            <a:pPr indent="0" marL="0">
              <a:buNone/>
            </a:pPr>
            <a:r>
              <a:rPr lang="en-US" sz="1600" b="1" dirty="0">
                <a:solidFill>
                  <a:srgbClr val="0891B2"/>
                </a:solidFill>
                <a:latin typeface="Georgia" pitchFamily="34" charset="0"/>
                <a:ea typeface="Georgia" pitchFamily="34" charset="-122"/>
                <a:cs typeface="Georgia" pitchFamily="34" charset="-120"/>
              </a:rPr>
              <a:t>I</a:t>
            </a:r>
            <a:pPr indent="0" marL="0">
              <a:buNone/>
            </a:pPr>
            <a:r>
              <a:rPr lang="en-US" sz="900" b="1" spc="300" kern="0" dirty="0">
                <a:solidFill>
                  <a:srgbClr val="64748B"/>
                </a:solidFill>
              </a:rPr>
              <a:t>   INSTRUCTIONS</a:t>
            </a:r>
            <a:endParaRPr lang="en-US" sz="1600" dirty="0"/>
          </a:p>
        </p:txBody>
      </p:sp>
      <p:sp>
        <p:nvSpPr>
          <p:cNvPr id="27" name="Text 25"/>
          <p:cNvSpPr/>
          <p:nvPr/>
        </p:nvSpPr>
        <p:spPr>
          <a:xfrm>
            <a:off x="4480560" y="2834640"/>
            <a:ext cx="3291840" cy="68580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Opening paragraph. Order inflow beat (Middle East). Revenue &amp; earnings miss (~₹50bn Q4). Near-term risks. Guidance: 10–12% inflow vs consensus ~17%. New 5-yr plan. Maintain Outperform.</a:t>
            </a:r>
            <a:endParaRPr lang="en-US" sz="1100" dirty="0"/>
          </a:p>
        </p:txBody>
      </p:sp>
      <p:sp>
        <p:nvSpPr>
          <p:cNvPr id="28" name="Shape 26"/>
          <p:cNvSpPr/>
          <p:nvPr/>
        </p:nvSpPr>
        <p:spPr>
          <a:xfrm>
            <a:off x="8046720" y="2331720"/>
            <a:ext cx="3657600" cy="1325880"/>
          </a:xfrm>
          <a:prstGeom prst="rect">
            <a:avLst/>
          </a:prstGeom>
          <a:solidFill>
            <a:srgbClr val="F8FAFC"/>
          </a:solidFill>
          <a:ln w="6350">
            <a:solidFill>
              <a:srgbClr val="E2E8F0"/>
            </a:solidFill>
            <a:prstDash val="solid"/>
          </a:ln>
        </p:spPr>
      </p:sp>
      <p:sp>
        <p:nvSpPr>
          <p:cNvPr id="29" name="Shape 27"/>
          <p:cNvSpPr/>
          <p:nvPr/>
        </p:nvSpPr>
        <p:spPr>
          <a:xfrm>
            <a:off x="8046720" y="2331720"/>
            <a:ext cx="45720" cy="1325880"/>
          </a:xfrm>
          <a:prstGeom prst="rect">
            <a:avLst/>
          </a:prstGeom>
          <a:solidFill>
            <a:srgbClr val="0891B2"/>
          </a:solidFill>
          <a:ln/>
        </p:spPr>
      </p:sp>
      <p:sp>
        <p:nvSpPr>
          <p:cNvPr id="30" name="Text 28"/>
          <p:cNvSpPr/>
          <p:nvPr/>
        </p:nvSpPr>
        <p:spPr>
          <a:xfrm>
            <a:off x="8229600" y="2468880"/>
            <a:ext cx="3291840" cy="320040"/>
          </a:xfrm>
          <a:prstGeom prst="rect">
            <a:avLst/>
          </a:prstGeom>
          <a:noFill/>
          <a:ln/>
        </p:spPr>
        <p:txBody>
          <a:bodyPr wrap="square" lIns="0" tIns="0" rIns="0" bIns="0" rtlCol="0" anchor="ctr"/>
          <a:lstStyle/>
          <a:p>
            <a:pPr indent="0" marL="0">
              <a:buNone/>
            </a:pPr>
            <a:r>
              <a:rPr lang="en-US" sz="1600" b="1" dirty="0">
                <a:solidFill>
                  <a:srgbClr val="0891B2"/>
                </a:solidFill>
                <a:latin typeface="Georgia" pitchFamily="34" charset="0"/>
                <a:ea typeface="Georgia" pitchFamily="34" charset="-122"/>
                <a:cs typeface="Georgia" pitchFamily="34" charset="-120"/>
              </a:rPr>
              <a:t>C</a:t>
            </a:r>
            <a:pPr indent="0" marL="0">
              <a:buNone/>
            </a:pPr>
            <a:r>
              <a:rPr lang="en-US" sz="900" b="1" spc="300" kern="0" dirty="0">
                <a:solidFill>
                  <a:srgbClr val="64748B"/>
                </a:solidFill>
              </a:rPr>
              <a:t>   CONSTRAINT</a:t>
            </a:r>
            <a:endParaRPr lang="en-US" sz="1600" dirty="0"/>
          </a:p>
        </p:txBody>
      </p:sp>
      <p:sp>
        <p:nvSpPr>
          <p:cNvPr id="31" name="Text 29"/>
          <p:cNvSpPr/>
          <p:nvPr/>
        </p:nvSpPr>
        <p:spPr>
          <a:xfrm>
            <a:off x="8229600" y="2834640"/>
            <a:ext cx="3291840" cy="68580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Impactful, no beating around the bush. Match the example style. Simple precise language, minimal jargon.</a:t>
            </a:r>
            <a:endParaRPr lang="en-US" sz="1100" dirty="0"/>
          </a:p>
        </p:txBody>
      </p:sp>
      <p:sp>
        <p:nvSpPr>
          <p:cNvPr id="32" name="Shape 30"/>
          <p:cNvSpPr/>
          <p:nvPr/>
        </p:nvSpPr>
        <p:spPr>
          <a:xfrm>
            <a:off x="548640" y="3794760"/>
            <a:ext cx="5532120" cy="1325880"/>
          </a:xfrm>
          <a:prstGeom prst="rect">
            <a:avLst/>
          </a:prstGeom>
          <a:solidFill>
            <a:srgbClr val="F8FAFC"/>
          </a:solidFill>
          <a:ln w="6350">
            <a:solidFill>
              <a:srgbClr val="E2E8F0"/>
            </a:solidFill>
            <a:prstDash val="solid"/>
          </a:ln>
        </p:spPr>
      </p:sp>
      <p:sp>
        <p:nvSpPr>
          <p:cNvPr id="33" name="Shape 31"/>
          <p:cNvSpPr/>
          <p:nvPr/>
        </p:nvSpPr>
        <p:spPr>
          <a:xfrm>
            <a:off x="548640" y="3794760"/>
            <a:ext cx="45720" cy="1325880"/>
          </a:xfrm>
          <a:prstGeom prst="rect">
            <a:avLst/>
          </a:prstGeom>
          <a:solidFill>
            <a:srgbClr val="0891B2"/>
          </a:solidFill>
          <a:ln/>
        </p:spPr>
      </p:sp>
      <p:sp>
        <p:nvSpPr>
          <p:cNvPr id="34" name="Text 32"/>
          <p:cNvSpPr/>
          <p:nvPr/>
        </p:nvSpPr>
        <p:spPr>
          <a:xfrm>
            <a:off x="731520" y="3931920"/>
            <a:ext cx="5166360" cy="320040"/>
          </a:xfrm>
          <a:prstGeom prst="rect">
            <a:avLst/>
          </a:prstGeom>
          <a:noFill/>
          <a:ln/>
        </p:spPr>
        <p:txBody>
          <a:bodyPr wrap="square" lIns="0" tIns="0" rIns="0" bIns="0" rtlCol="0" anchor="ctr"/>
          <a:lstStyle/>
          <a:p>
            <a:pPr indent="0" marL="0">
              <a:buNone/>
            </a:pPr>
            <a:r>
              <a:rPr lang="en-US" sz="1600" b="1" dirty="0">
                <a:solidFill>
                  <a:srgbClr val="0891B2"/>
                </a:solidFill>
                <a:latin typeface="Georgia" pitchFamily="34" charset="0"/>
                <a:ea typeface="Georgia" pitchFamily="34" charset="-122"/>
                <a:cs typeface="Georgia" pitchFamily="34" charset="-120"/>
              </a:rPr>
              <a:t>O</a:t>
            </a:r>
            <a:pPr indent="0" marL="0">
              <a:buNone/>
            </a:pPr>
            <a:r>
              <a:rPr lang="en-US" sz="900" b="1" spc="300" kern="0" dirty="0">
                <a:solidFill>
                  <a:srgbClr val="64748B"/>
                </a:solidFill>
              </a:rPr>
              <a:t>   OUTPUT FORMAT</a:t>
            </a:r>
            <a:endParaRPr lang="en-US" sz="1600" dirty="0"/>
          </a:p>
        </p:txBody>
      </p:sp>
      <p:sp>
        <p:nvSpPr>
          <p:cNvPr id="35" name="Text 33"/>
          <p:cNvSpPr/>
          <p:nvPr/>
        </p:nvSpPr>
        <p:spPr>
          <a:xfrm>
            <a:off x="731520" y="4297680"/>
            <a:ext cx="5166360" cy="68580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One paragraph.</a:t>
            </a:r>
            <a:endParaRPr lang="en-US" sz="1100" dirty="0"/>
          </a:p>
        </p:txBody>
      </p:sp>
      <p:sp>
        <p:nvSpPr>
          <p:cNvPr id="36" name="Shape 34"/>
          <p:cNvSpPr/>
          <p:nvPr/>
        </p:nvSpPr>
        <p:spPr>
          <a:xfrm>
            <a:off x="6172200" y="3794760"/>
            <a:ext cx="5532120" cy="1325880"/>
          </a:xfrm>
          <a:prstGeom prst="rect">
            <a:avLst/>
          </a:prstGeom>
          <a:solidFill>
            <a:srgbClr val="F8FAFC"/>
          </a:solidFill>
          <a:ln w="6350">
            <a:solidFill>
              <a:srgbClr val="E2E8F0"/>
            </a:solidFill>
            <a:prstDash val="solid"/>
          </a:ln>
        </p:spPr>
      </p:sp>
      <p:sp>
        <p:nvSpPr>
          <p:cNvPr id="37" name="Shape 35"/>
          <p:cNvSpPr/>
          <p:nvPr/>
        </p:nvSpPr>
        <p:spPr>
          <a:xfrm>
            <a:off x="6172200" y="3794760"/>
            <a:ext cx="45720" cy="1325880"/>
          </a:xfrm>
          <a:prstGeom prst="rect">
            <a:avLst/>
          </a:prstGeom>
          <a:solidFill>
            <a:srgbClr val="0891B2"/>
          </a:solidFill>
          <a:ln/>
        </p:spPr>
      </p:sp>
      <p:sp>
        <p:nvSpPr>
          <p:cNvPr id="38" name="Text 36"/>
          <p:cNvSpPr/>
          <p:nvPr/>
        </p:nvSpPr>
        <p:spPr>
          <a:xfrm>
            <a:off x="6355080" y="3931920"/>
            <a:ext cx="5166360" cy="320040"/>
          </a:xfrm>
          <a:prstGeom prst="rect">
            <a:avLst/>
          </a:prstGeom>
          <a:noFill/>
          <a:ln/>
        </p:spPr>
        <p:txBody>
          <a:bodyPr wrap="square" lIns="0" tIns="0" rIns="0" bIns="0" rtlCol="0" anchor="ctr"/>
          <a:lstStyle/>
          <a:p>
            <a:pPr indent="0" marL="0">
              <a:buNone/>
            </a:pPr>
            <a:r>
              <a:rPr lang="en-US" sz="1600" b="1" dirty="0">
                <a:solidFill>
                  <a:srgbClr val="0891B2"/>
                </a:solidFill>
                <a:latin typeface="Georgia" pitchFamily="34" charset="0"/>
                <a:ea typeface="Georgia" pitchFamily="34" charset="-122"/>
                <a:cs typeface="Georgia" pitchFamily="34" charset="-120"/>
              </a:rPr>
              <a:t>E</a:t>
            </a:r>
            <a:pPr indent="0" marL="0">
              <a:buNone/>
            </a:pPr>
            <a:r>
              <a:rPr lang="en-US" sz="900" b="1" spc="300" kern="0" dirty="0">
                <a:solidFill>
                  <a:srgbClr val="64748B"/>
                </a:solidFill>
              </a:rPr>
              <a:t>   EXAMPLES</a:t>
            </a:r>
            <a:endParaRPr lang="en-US" sz="1600" dirty="0"/>
          </a:p>
        </p:txBody>
      </p:sp>
      <p:sp>
        <p:nvSpPr>
          <p:cNvPr id="39" name="Text 37"/>
          <p:cNvSpPr/>
          <p:nvPr/>
        </p:nvSpPr>
        <p:spPr>
          <a:xfrm>
            <a:off x="6355080" y="4297680"/>
            <a:ext cx="5166360" cy="68580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Three prior L&amp;T opening paragraphs from past notes, pasted in full.</a:t>
            </a:r>
            <a:endParaRPr lang="en-US" sz="1100" dirty="0"/>
          </a:p>
        </p:txBody>
      </p:sp>
      <p:sp>
        <p:nvSpPr>
          <p:cNvPr id="40" name="Text 38"/>
          <p:cNvSpPr/>
          <p:nvPr/>
        </p:nvSpPr>
        <p:spPr>
          <a:xfrm>
            <a:off x="548640" y="5349240"/>
            <a:ext cx="11064240" cy="365760"/>
          </a:xfrm>
          <a:prstGeom prst="rect">
            <a:avLst/>
          </a:prstGeom>
          <a:noFill/>
          <a:ln/>
        </p:spPr>
        <p:txBody>
          <a:bodyPr wrap="square" lIns="0" tIns="0" rIns="0" bIns="0" rtlCol="0" anchor="ctr"/>
          <a:lstStyle/>
          <a:p>
            <a:pPr algn="ctr" indent="0" marL="0">
              <a:buNone/>
            </a:pPr>
            <a:r>
              <a:rPr lang="en-US" sz="1400" i="1" dirty="0">
                <a:solidFill>
                  <a:srgbClr val="0891B2"/>
                </a:solidFill>
                <a:latin typeface="Georgia" pitchFamily="34" charset="0"/>
                <a:ea typeface="Georgia" pitchFamily="34" charset="-122"/>
                <a:cs typeface="Georgia" pitchFamily="34" charset="-120"/>
              </a:rPr>
              <a:t>Output on next slide →</a:t>
            </a:r>
            <a:endParaRPr lang="en-US" sz="1400" dirty="0"/>
          </a:p>
        </p:txBody>
      </p:sp>
      <p:sp>
        <p:nvSpPr>
          <p:cNvPr id="41" name="Text 39"/>
          <p:cNvSpPr/>
          <p:nvPr/>
        </p:nvSpPr>
        <p:spPr>
          <a:xfrm>
            <a:off x="548640" y="5806440"/>
            <a:ext cx="11064240" cy="27432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STYLE EXAMPLES INCLUDED:</a:t>
            </a:r>
            <a:endParaRPr lang="en-US" sz="900" dirty="0"/>
          </a:p>
        </p:txBody>
      </p:sp>
      <p:sp>
        <p:nvSpPr>
          <p:cNvPr id="42" name="Text 40"/>
          <p:cNvSpPr/>
          <p:nvPr/>
        </p:nvSpPr>
        <p:spPr>
          <a:xfrm>
            <a:off x="548640" y="6080760"/>
            <a:ext cx="11064240" cy="548640"/>
          </a:xfrm>
          <a:prstGeom prst="rect">
            <a:avLst/>
          </a:prstGeom>
          <a:noFill/>
          <a:ln/>
        </p:spPr>
        <p:txBody>
          <a:bodyPr wrap="square" lIns="0" tIns="0" rIns="0" bIns="0" rtlCol="0" anchor="ctr"/>
          <a:lstStyle/>
          <a:p>
            <a:pPr indent="0" marL="0">
              <a:lnSpc>
                <a:spcPct val="130000"/>
              </a:lnSpc>
              <a:buNone/>
            </a:pPr>
            <a:r>
              <a:rPr lang="en-US" sz="1100" i="1" dirty="0">
                <a:solidFill>
                  <a:srgbClr val="334155"/>
                </a:solidFill>
                <a:latin typeface="Calibri" pitchFamily="34" charset="0"/>
                <a:ea typeface="Calibri" pitchFamily="34" charset="-122"/>
                <a:cs typeface="Calibri" pitchFamily="34" charset="-120"/>
              </a:rPr>
              <a:t>Three opening paragraphs from prior L&amp;T result notes — different quarters, similar voice — pasted verbatim so the model could learn the cadence, hedging, and structure of how we write.</a:t>
            </a:r>
            <a:endParaRPr lang="en-US" sz="1100" dirty="0"/>
          </a:p>
        </p:txBody>
      </p:sp>
      <p:sp>
        <p:nvSpPr>
          <p:cNvPr id="43" name="Text 41"/>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0891B2"/>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PROMPTING · WORKED EXAMPLE</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L&amp;T result note — the output Perplexity returned</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06 / 17</a:t>
            </a:r>
            <a:endParaRPr lang="en-US" sz="1000" dirty="0"/>
          </a:p>
        </p:txBody>
      </p:sp>
      <p:sp>
        <p:nvSpPr>
          <p:cNvPr id="19" name="Shape 17"/>
          <p:cNvSpPr/>
          <p:nvPr/>
        </p:nvSpPr>
        <p:spPr>
          <a:xfrm>
            <a:off x="548640" y="1874520"/>
            <a:ext cx="11064240" cy="4023360"/>
          </a:xfrm>
          <a:prstGeom prst="rect">
            <a:avLst/>
          </a:prstGeom>
          <a:solidFill>
            <a:srgbClr val="1E2A4D"/>
          </a:solidFill>
          <a:ln/>
        </p:spPr>
      </p:sp>
      <p:sp>
        <p:nvSpPr>
          <p:cNvPr id="20" name="Shape 18"/>
          <p:cNvSpPr/>
          <p:nvPr/>
        </p:nvSpPr>
        <p:spPr>
          <a:xfrm>
            <a:off x="548640" y="1874520"/>
            <a:ext cx="73152" cy="4023360"/>
          </a:xfrm>
          <a:prstGeom prst="rect">
            <a:avLst/>
          </a:prstGeom>
          <a:solidFill>
            <a:srgbClr val="0891B2"/>
          </a:solidFill>
          <a:ln/>
        </p:spPr>
      </p:sp>
      <p:sp>
        <p:nvSpPr>
          <p:cNvPr id="21" name="Text 19"/>
          <p:cNvSpPr/>
          <p:nvPr/>
        </p:nvSpPr>
        <p:spPr>
          <a:xfrm>
            <a:off x="914400" y="1920240"/>
            <a:ext cx="548640" cy="640080"/>
          </a:xfrm>
          <a:prstGeom prst="rect">
            <a:avLst/>
          </a:prstGeom>
          <a:noFill/>
          <a:ln/>
        </p:spPr>
        <p:txBody>
          <a:bodyPr wrap="square" lIns="0" tIns="0" rIns="0" bIns="0" rtlCol="0" anchor="ctr"/>
          <a:lstStyle/>
          <a:p>
            <a:pPr indent="0" marL="0">
              <a:buNone/>
            </a:pPr>
            <a:r>
              <a:rPr lang="en-US" sz="4800" b="1" dirty="0">
                <a:solidFill>
                  <a:srgbClr val="0891B2"/>
                </a:solidFill>
                <a:latin typeface="Georgia" pitchFamily="34" charset="0"/>
                <a:ea typeface="Georgia" pitchFamily="34" charset="-122"/>
                <a:cs typeface="Georgia" pitchFamily="34" charset="-120"/>
              </a:rPr>
              <a:t>“</a:t>
            </a:r>
            <a:endParaRPr lang="en-US" sz="4800" dirty="0"/>
          </a:p>
        </p:txBody>
      </p:sp>
      <p:sp>
        <p:nvSpPr>
          <p:cNvPr id="22" name="Text 20"/>
          <p:cNvSpPr/>
          <p:nvPr/>
        </p:nvSpPr>
        <p:spPr>
          <a:xfrm>
            <a:off x="1463040" y="2103120"/>
            <a:ext cx="9692640" cy="3657600"/>
          </a:xfrm>
          <a:prstGeom prst="rect">
            <a:avLst/>
          </a:prstGeom>
          <a:noFill/>
          <a:ln/>
        </p:spPr>
        <p:txBody>
          <a:bodyPr wrap="square" lIns="0" tIns="0" rIns="0" bIns="0" rtlCol="0" anchor="ctr"/>
          <a:lstStyle/>
          <a:p>
            <a:pPr indent="0" marL="0">
              <a:lnSpc>
                <a:spcPct val="140000"/>
              </a:lnSpc>
              <a:buNone/>
            </a:pPr>
            <a:r>
              <a:rPr lang="en-US" sz="1250" i="1" dirty="0">
                <a:solidFill>
                  <a:srgbClr val="FFFFFF"/>
                </a:solidFill>
                <a:latin typeface="Georgia" pitchFamily="34" charset="0"/>
                <a:ea typeface="Georgia" pitchFamily="34" charset="-122"/>
                <a:cs typeface="Georgia" pitchFamily="34" charset="-120"/>
              </a:rPr>
              <a:t>L&amp;T reported a quarter with a meaningful miss on revenue and earnings — ₹50bn of headwinds from Middle East project disruptions and India water sector delays weighed on execution — but the order inflow story more than held up, with inflows beating expectations on the back of strong international demand, particularly from the Middle East. The near-term read-through is mixed: execution delays, supply chain disruptions, and higher insurance costs remain live risks, and consensus will need to reset revenue growth expectations from ~17% closer to the company's own guidance of 10–12%. What keeps us constructive is the demand backdrop — Middle East capex pipeline remains robust, and management's new 5-year plan articulates a credible expansion into industrial electronics, nuclear, data centers, and green hydrogen, with targets of 10–12% order inflow CAGR, 12–15% revenue growth, and 16–17% ROE. Near-term execution headwinds are real, but the long-term structural story remains firmly intact — we maintain Outperform.</a:t>
            </a:r>
            <a:endParaRPr lang="en-US" sz="1250" dirty="0"/>
          </a:p>
        </p:txBody>
      </p:sp>
      <p:sp>
        <p:nvSpPr>
          <p:cNvPr id="23" name="Shape 21"/>
          <p:cNvSpPr/>
          <p:nvPr/>
        </p:nvSpPr>
        <p:spPr>
          <a:xfrm>
            <a:off x="548640" y="5989320"/>
            <a:ext cx="11064240" cy="502920"/>
          </a:xfrm>
          <a:prstGeom prst="rect">
            <a:avLst/>
          </a:prstGeom>
          <a:solidFill>
            <a:srgbClr val="ECFEFF"/>
          </a:solidFill>
          <a:ln w="6350">
            <a:solidFill>
              <a:srgbClr val="0891B2"/>
            </a:solidFill>
            <a:prstDash val="solid"/>
          </a:ln>
        </p:spPr>
      </p:sp>
      <p:sp>
        <p:nvSpPr>
          <p:cNvPr id="24" name="Text 22"/>
          <p:cNvSpPr/>
          <p:nvPr/>
        </p:nvSpPr>
        <p:spPr>
          <a:xfrm>
            <a:off x="777240" y="5989320"/>
            <a:ext cx="10607040" cy="5029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THE POINT  </a:t>
            </a:r>
            <a:pPr indent="0" marL="0">
              <a:buNone/>
            </a:pPr>
            <a:r>
              <a:rPr lang="en-US" sz="1200" i="1" dirty="0">
                <a:solidFill>
                  <a:srgbClr val="1E293B"/>
                </a:solidFill>
                <a:latin typeface="Calibri" pitchFamily="34" charset="0"/>
                <a:ea typeface="Calibri" pitchFamily="34" charset="-122"/>
                <a:cs typeface="Calibri" pitchFamily="34" charset="-120"/>
              </a:rPr>
              <a:t>Same length, same hedging, same Bernstein voice. The structure does the work — minutes saved per note.</a:t>
            </a:r>
            <a:endParaRPr lang="en-US" sz="1000" dirty="0"/>
          </a:p>
        </p:txBody>
      </p:sp>
      <p:sp>
        <p:nvSpPr>
          <p:cNvPr id="25" name="Text 23"/>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0891B2"/>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PROMPTING · QUICK WINS</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Two more places PICOE pays off</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07 / 17</a:t>
            </a:r>
            <a:endParaRPr lang="en-US" sz="1000" dirty="0"/>
          </a:p>
        </p:txBody>
      </p:sp>
      <p:sp>
        <p:nvSpPr>
          <p:cNvPr id="19" name="Shape 17"/>
          <p:cNvSpPr/>
          <p:nvPr/>
        </p:nvSpPr>
        <p:spPr>
          <a:xfrm>
            <a:off x="548640" y="1874520"/>
            <a:ext cx="5486400" cy="4572000"/>
          </a:xfrm>
          <a:prstGeom prst="rect">
            <a:avLst/>
          </a:prstGeom>
          <a:solidFill>
            <a:srgbClr val="F8FAFC"/>
          </a:solidFill>
          <a:ln w="6350">
            <a:solidFill>
              <a:srgbClr val="E2E8F0"/>
            </a:solidFill>
            <a:prstDash val="solid"/>
          </a:ln>
        </p:spPr>
      </p:sp>
      <p:sp>
        <p:nvSpPr>
          <p:cNvPr id="20" name="Shape 18"/>
          <p:cNvSpPr/>
          <p:nvPr/>
        </p:nvSpPr>
        <p:spPr>
          <a:xfrm>
            <a:off x="548640" y="1874520"/>
            <a:ext cx="54864" cy="4572000"/>
          </a:xfrm>
          <a:prstGeom prst="rect">
            <a:avLst/>
          </a:prstGeom>
          <a:solidFill>
            <a:srgbClr val="0891B2"/>
          </a:solidFill>
          <a:ln/>
        </p:spPr>
      </p:sp>
      <p:sp>
        <p:nvSpPr>
          <p:cNvPr id="21" name="Text 19"/>
          <p:cNvSpPr/>
          <p:nvPr/>
        </p:nvSpPr>
        <p:spPr>
          <a:xfrm>
            <a:off x="822960" y="2057400"/>
            <a:ext cx="502920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EXAMPLE 2</a:t>
            </a:r>
            <a:endParaRPr lang="en-US" sz="900" dirty="0"/>
          </a:p>
        </p:txBody>
      </p:sp>
      <p:sp>
        <p:nvSpPr>
          <p:cNvPr id="22" name="Text 20"/>
          <p:cNvSpPr/>
          <p:nvPr/>
        </p:nvSpPr>
        <p:spPr>
          <a:xfrm>
            <a:off x="822960" y="2331720"/>
            <a:ext cx="5029200" cy="45720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Personal — draft a tricky email</a:t>
            </a:r>
            <a:endParaRPr lang="en-US" sz="1600" dirty="0"/>
          </a:p>
        </p:txBody>
      </p:sp>
      <p:sp>
        <p:nvSpPr>
          <p:cNvPr id="23" name="Text 21"/>
          <p:cNvSpPr/>
          <p:nvPr/>
        </p:nvSpPr>
        <p:spPr>
          <a:xfrm>
            <a:off x="822960" y="2834640"/>
            <a:ext cx="5029200" cy="1097280"/>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Leave request for a wedding during earnings season, to a boss 15 years senior. PICOE handles the diplomacy: persona (junior analyst), constraint (busy season, may not approve), output (short, effective email).</a:t>
            </a:r>
            <a:endParaRPr lang="en-US" sz="1150" dirty="0"/>
          </a:p>
        </p:txBody>
      </p:sp>
      <p:sp>
        <p:nvSpPr>
          <p:cNvPr id="24" name="Text 22"/>
          <p:cNvSpPr/>
          <p:nvPr/>
        </p:nvSpPr>
        <p:spPr>
          <a:xfrm>
            <a:off x="822960" y="3977640"/>
            <a:ext cx="5029200" cy="228600"/>
          </a:xfrm>
          <a:prstGeom prst="rect">
            <a:avLst/>
          </a:prstGeom>
          <a:noFill/>
          <a:ln/>
        </p:spPr>
        <p:txBody>
          <a:bodyPr wrap="square" lIns="0" tIns="0" rIns="0" bIns="0" rtlCol="0" anchor="ctr"/>
          <a:lstStyle/>
          <a:p>
            <a:pPr indent="0" marL="0">
              <a:buNone/>
            </a:pPr>
            <a:r>
              <a:rPr lang="en-US" sz="800" b="1" spc="300" kern="0" dirty="0">
                <a:solidFill>
                  <a:srgbClr val="64748B"/>
                </a:solidFill>
                <a:latin typeface="Calibri" pitchFamily="34" charset="0"/>
                <a:ea typeface="Calibri" pitchFamily="34" charset="-122"/>
                <a:cs typeface="Calibri" pitchFamily="34" charset="-120"/>
              </a:rPr>
              <a:t>WHAT CAME BACK</a:t>
            </a:r>
            <a:endParaRPr lang="en-US" sz="800" dirty="0"/>
          </a:p>
        </p:txBody>
      </p:sp>
      <p:sp>
        <p:nvSpPr>
          <p:cNvPr id="25" name="Text 23"/>
          <p:cNvSpPr/>
          <p:nvPr/>
        </p:nvSpPr>
        <p:spPr>
          <a:xfrm>
            <a:off x="822960" y="4251960"/>
            <a:ext cx="5029200" cy="1645920"/>
          </a:xfrm>
          <a:prstGeom prst="rect">
            <a:avLst/>
          </a:prstGeom>
          <a:noFill/>
          <a:ln/>
        </p:spPr>
        <p:txBody>
          <a:bodyPr wrap="square" lIns="0" tIns="0" rIns="0" bIns="0" rtlCol="0" anchor="ctr"/>
          <a:lstStyle/>
          <a:p>
            <a:pPr indent="0" marL="0">
              <a:lnSpc>
                <a:spcPct val="135000"/>
              </a:lnSpc>
              <a:buNone/>
            </a:pPr>
            <a:r>
              <a:rPr lang="en-US" sz="1100" i="1" dirty="0">
                <a:solidFill>
                  <a:srgbClr val="1E293B"/>
                </a:solidFill>
                <a:latin typeface="Georgia" pitchFamily="34" charset="0"/>
                <a:ea typeface="Georgia" pitchFamily="34" charset="-122"/>
                <a:cs typeface="Georgia" pitchFamily="34" charset="-120"/>
              </a:rPr>
              <a:t>"…I'm aware this falls during earnings season, so I'll ensure all my key deliverables are covered in advance and remain available on call for any critical items if needed. Please let me know if this works, or if you'd prefer any adjustments…"</a:t>
            </a:r>
            <a:endParaRPr lang="en-US" sz="1100" dirty="0"/>
          </a:p>
        </p:txBody>
      </p:sp>
      <p:sp>
        <p:nvSpPr>
          <p:cNvPr id="26" name="Text 24"/>
          <p:cNvSpPr/>
          <p:nvPr/>
        </p:nvSpPr>
        <p:spPr>
          <a:xfrm>
            <a:off x="822960" y="5989320"/>
            <a:ext cx="5029200" cy="365760"/>
          </a:xfrm>
          <a:prstGeom prst="rect">
            <a:avLst/>
          </a:prstGeom>
          <a:noFill/>
          <a:ln/>
        </p:spPr>
        <p:txBody>
          <a:bodyPr wrap="square" lIns="0" tIns="0" rIns="0" bIns="0" rtlCol="0" anchor="ctr"/>
          <a:lstStyle/>
          <a:p>
            <a:pPr indent="0" marL="0">
              <a:lnSpc>
                <a:spcPct val="130000"/>
              </a:lnSpc>
              <a:buNone/>
            </a:pPr>
            <a:r>
              <a:rPr lang="en-US" sz="1000" i="1" dirty="0">
                <a:solidFill>
                  <a:srgbClr val="0891B2"/>
                </a:solidFill>
                <a:latin typeface="Calibri" pitchFamily="34" charset="0"/>
                <a:ea typeface="Calibri" pitchFamily="34" charset="-122"/>
                <a:cs typeface="Calibri" pitchFamily="34" charset="-120"/>
              </a:rPr>
              <a:t>→ Same logic works for difficult client emails, pushback to a PM, escalations.</a:t>
            </a:r>
            <a:endParaRPr lang="en-US" sz="1000" dirty="0"/>
          </a:p>
        </p:txBody>
      </p:sp>
      <p:sp>
        <p:nvSpPr>
          <p:cNvPr id="27" name="Shape 25"/>
          <p:cNvSpPr/>
          <p:nvPr/>
        </p:nvSpPr>
        <p:spPr>
          <a:xfrm>
            <a:off x="6263640" y="1874520"/>
            <a:ext cx="5486400" cy="4572000"/>
          </a:xfrm>
          <a:prstGeom prst="rect">
            <a:avLst/>
          </a:prstGeom>
          <a:solidFill>
            <a:srgbClr val="1E2A4D"/>
          </a:solidFill>
          <a:ln/>
        </p:spPr>
      </p:sp>
      <p:sp>
        <p:nvSpPr>
          <p:cNvPr id="28" name="Shape 26"/>
          <p:cNvSpPr/>
          <p:nvPr/>
        </p:nvSpPr>
        <p:spPr>
          <a:xfrm>
            <a:off x="6263640" y="1874520"/>
            <a:ext cx="54864" cy="4572000"/>
          </a:xfrm>
          <a:prstGeom prst="rect">
            <a:avLst/>
          </a:prstGeom>
          <a:solidFill>
            <a:srgbClr val="0891B2"/>
          </a:solidFill>
          <a:ln/>
        </p:spPr>
      </p:sp>
      <p:sp>
        <p:nvSpPr>
          <p:cNvPr id="29" name="Text 27"/>
          <p:cNvSpPr/>
          <p:nvPr/>
        </p:nvSpPr>
        <p:spPr>
          <a:xfrm>
            <a:off x="6537960" y="2057400"/>
            <a:ext cx="502920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EXAMPLE 3  ·  MULTIPLIER</a:t>
            </a:r>
            <a:endParaRPr lang="en-US" sz="900" dirty="0"/>
          </a:p>
        </p:txBody>
      </p:sp>
      <p:sp>
        <p:nvSpPr>
          <p:cNvPr id="30" name="Text 28"/>
          <p:cNvSpPr/>
          <p:nvPr/>
        </p:nvSpPr>
        <p:spPr>
          <a:xfrm>
            <a:off x="6537960" y="233172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Use AI to write prompts for AI</a:t>
            </a:r>
            <a:endParaRPr lang="en-US" sz="1600" dirty="0"/>
          </a:p>
        </p:txBody>
      </p:sp>
      <p:sp>
        <p:nvSpPr>
          <p:cNvPr id="31" name="Text 29"/>
          <p:cNvSpPr/>
          <p:nvPr/>
        </p:nvSpPr>
        <p:spPr>
          <a:xfrm>
            <a:off x="6537960" y="2834640"/>
            <a:ext cx="5029200" cy="914400"/>
          </a:xfrm>
          <a:prstGeom prst="rect">
            <a:avLst/>
          </a:prstGeom>
          <a:noFill/>
          <a:ln/>
        </p:spPr>
        <p:txBody>
          <a:bodyPr wrap="square" lIns="0" tIns="0" rIns="0" bIns="0" rtlCol="0" anchor="ctr"/>
          <a:lstStyle/>
          <a:p>
            <a:pPr indent="0" marL="0">
              <a:lnSpc>
                <a:spcPct val="130000"/>
              </a:lnSpc>
              <a:buNone/>
            </a:pPr>
            <a:r>
              <a:rPr lang="en-US" sz="1150" dirty="0">
                <a:solidFill>
                  <a:srgbClr val="B6D7E5"/>
                </a:solidFill>
                <a:latin typeface="Calibri" pitchFamily="34" charset="0"/>
                <a:ea typeface="Calibri" pitchFamily="34" charset="-122"/>
                <a:cs typeface="Calibri" pitchFamily="34" charset="-120"/>
              </a:rPr>
              <a:t>Ask Perplexity to generate a high-quality, structured prompt for ChatGPT / Claude / Gemini on a specific research task. Paste that prompt into any other tool and reuse it across names.</a:t>
            </a:r>
            <a:endParaRPr lang="en-US" sz="1150" dirty="0"/>
          </a:p>
        </p:txBody>
      </p:sp>
      <p:sp>
        <p:nvSpPr>
          <p:cNvPr id="32" name="Text 30"/>
          <p:cNvSpPr/>
          <p:nvPr/>
        </p:nvSpPr>
        <p:spPr>
          <a:xfrm>
            <a:off x="6537960" y="3794760"/>
            <a:ext cx="5029200" cy="228600"/>
          </a:xfrm>
          <a:prstGeom prst="rect">
            <a:avLst/>
          </a:prstGeom>
          <a:noFill/>
          <a:ln/>
        </p:spPr>
        <p:txBody>
          <a:bodyPr wrap="square" lIns="0" tIns="0" rIns="0" bIns="0" rtlCol="0" anchor="ctr"/>
          <a:lstStyle/>
          <a:p>
            <a:pPr indent="0" marL="0">
              <a:buNone/>
            </a:pPr>
            <a:r>
              <a:rPr lang="en-US" sz="800" b="1" spc="300" kern="0" dirty="0">
                <a:solidFill>
                  <a:srgbClr val="0891B2"/>
                </a:solidFill>
                <a:latin typeface="Calibri" pitchFamily="34" charset="0"/>
                <a:ea typeface="Calibri" pitchFamily="34" charset="-122"/>
                <a:cs typeface="Calibri" pitchFamily="34" charset="-120"/>
              </a:rPr>
              <a:t>WHAT I ASKED</a:t>
            </a:r>
            <a:endParaRPr lang="en-US" sz="800" dirty="0"/>
          </a:p>
        </p:txBody>
      </p:sp>
      <p:sp>
        <p:nvSpPr>
          <p:cNvPr id="33" name="Text 31"/>
          <p:cNvSpPr/>
          <p:nvPr/>
        </p:nvSpPr>
        <p:spPr>
          <a:xfrm>
            <a:off x="6537960" y="4069080"/>
            <a:ext cx="5029200" cy="685800"/>
          </a:xfrm>
          <a:prstGeom prst="rect">
            <a:avLst/>
          </a:prstGeom>
          <a:noFill/>
          <a:ln/>
        </p:spPr>
        <p:txBody>
          <a:bodyPr wrap="square" lIns="0" tIns="0" rIns="0" bIns="0" rtlCol="0" anchor="ctr"/>
          <a:lstStyle/>
          <a:p>
            <a:pPr indent="0" marL="0">
              <a:lnSpc>
                <a:spcPct val="130000"/>
              </a:lnSpc>
              <a:buNone/>
            </a:pPr>
            <a:r>
              <a:rPr lang="en-US" sz="1100" i="1" dirty="0">
                <a:solidFill>
                  <a:srgbClr val="FFFFFF"/>
                </a:solidFill>
                <a:latin typeface="Georgia" pitchFamily="34" charset="0"/>
                <a:ea typeface="Georgia" pitchFamily="34" charset="-122"/>
                <a:cs typeface="Georgia" pitchFamily="34" charset="-120"/>
              </a:rPr>
              <a:t>"I need research on HDFC Bank. Give me a strong prompt I can use in other AI platforms."</a:t>
            </a:r>
            <a:endParaRPr lang="en-US" sz="1100" dirty="0"/>
          </a:p>
        </p:txBody>
      </p:sp>
      <p:sp>
        <p:nvSpPr>
          <p:cNvPr id="34" name="Text 32"/>
          <p:cNvSpPr/>
          <p:nvPr/>
        </p:nvSpPr>
        <p:spPr>
          <a:xfrm>
            <a:off x="6537960" y="4800600"/>
            <a:ext cx="5029200" cy="228600"/>
          </a:xfrm>
          <a:prstGeom prst="rect">
            <a:avLst/>
          </a:prstGeom>
          <a:noFill/>
          <a:ln/>
        </p:spPr>
        <p:txBody>
          <a:bodyPr wrap="square" lIns="0" tIns="0" rIns="0" bIns="0" rtlCol="0" anchor="ctr"/>
          <a:lstStyle/>
          <a:p>
            <a:pPr indent="0" marL="0">
              <a:buNone/>
            </a:pPr>
            <a:r>
              <a:rPr lang="en-US" sz="800" b="1" spc="300" kern="0" dirty="0">
                <a:solidFill>
                  <a:srgbClr val="0891B2"/>
                </a:solidFill>
                <a:latin typeface="Calibri" pitchFamily="34" charset="0"/>
                <a:ea typeface="Calibri" pitchFamily="34" charset="-122"/>
                <a:cs typeface="Calibri" pitchFamily="34" charset="-120"/>
              </a:rPr>
              <a:t>WHAT CAME BACK</a:t>
            </a:r>
            <a:endParaRPr lang="en-US" sz="800" dirty="0"/>
          </a:p>
        </p:txBody>
      </p:sp>
      <p:sp>
        <p:nvSpPr>
          <p:cNvPr id="35" name="Text 33"/>
          <p:cNvSpPr/>
          <p:nvPr/>
        </p:nvSpPr>
        <p:spPr>
          <a:xfrm>
            <a:off x="6537960" y="5074920"/>
            <a:ext cx="5029200" cy="1097280"/>
          </a:xfrm>
          <a:prstGeom prst="rect">
            <a:avLst/>
          </a:prstGeom>
          <a:noFill/>
          <a:ln/>
        </p:spPr>
        <p:txBody>
          <a:bodyPr wrap="square" lIns="0" tIns="0" rIns="0" bIns="0" rtlCol="0" anchor="ctr"/>
          <a:lstStyle/>
          <a:p>
            <a:pPr indent="0" marL="0">
              <a:lnSpc>
                <a:spcPct val="130000"/>
              </a:lnSpc>
              <a:buNone/>
            </a:pPr>
            <a:r>
              <a:rPr lang="en-US" sz="1050" dirty="0">
                <a:solidFill>
                  <a:srgbClr val="B6D7E5"/>
                </a:solidFill>
                <a:latin typeface="Calibri" pitchFamily="34" charset="0"/>
                <a:ea typeface="Calibri" pitchFamily="34" charset="-122"/>
                <a:cs typeface="Calibri" pitchFamily="34" charset="-120"/>
              </a:rPr>
              <a:t>A 1,500-word structured analyst prompt with 8 scope sections: investment snapshot → business model → financials → strategy → competitive positioning → valuation → risks → actionable takeaways. Reusable for every name.</a:t>
            </a:r>
            <a:endParaRPr lang="en-US" sz="1050" dirty="0"/>
          </a:p>
        </p:txBody>
      </p:sp>
      <p:sp>
        <p:nvSpPr>
          <p:cNvPr id="36" name="Text 34"/>
          <p:cNvSpPr/>
          <p:nvPr/>
        </p:nvSpPr>
        <p:spPr>
          <a:xfrm>
            <a:off x="6537960" y="6126480"/>
            <a:ext cx="5029200" cy="274320"/>
          </a:xfrm>
          <a:prstGeom prst="rect">
            <a:avLst/>
          </a:prstGeom>
          <a:noFill/>
          <a:ln/>
        </p:spPr>
        <p:txBody>
          <a:bodyPr wrap="square" lIns="0" tIns="0" rIns="0" bIns="0" rtlCol="0" anchor="ctr"/>
          <a:lstStyle/>
          <a:p>
            <a:pPr indent="0" marL="0">
              <a:buNone/>
            </a:pPr>
            <a:r>
              <a:rPr lang="en-US" sz="1000" b="1" i="1" dirty="0">
                <a:solidFill>
                  <a:srgbClr val="0891B2"/>
                </a:solidFill>
                <a:latin typeface="Calibri" pitchFamily="34" charset="0"/>
                <a:ea typeface="Calibri" pitchFamily="34" charset="-122"/>
                <a:cs typeface="Calibri" pitchFamily="34" charset="-120"/>
              </a:rPr>
              <a:t>→ This is the meta-skill. Learn it once.</a:t>
            </a:r>
            <a:endParaRPr lang="en-US" sz="1000" dirty="0"/>
          </a:p>
        </p:txBody>
      </p:sp>
      <p:sp>
        <p:nvSpPr>
          <p:cNvPr id="37" name="Text 35"/>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0891B2"/>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AUTOMATION</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Scheduled searches — daily intelligence on autopilot</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08 / 17</a:t>
            </a:r>
            <a:endParaRPr lang="en-US" sz="1000" dirty="0"/>
          </a:p>
        </p:txBody>
      </p:sp>
      <p:sp>
        <p:nvSpPr>
          <p:cNvPr id="19" name="Shape 17"/>
          <p:cNvSpPr/>
          <p:nvPr/>
        </p:nvSpPr>
        <p:spPr>
          <a:xfrm>
            <a:off x="548640" y="2331720"/>
            <a:ext cx="4114800" cy="1207008"/>
          </a:xfrm>
          <a:prstGeom prst="rect">
            <a:avLst/>
          </a:prstGeom>
          <a:solidFill>
            <a:srgbClr val="F8FAFC"/>
          </a:solidFill>
          <a:ln w="6350">
            <a:solidFill>
              <a:srgbClr val="E2E8F0"/>
            </a:solidFill>
            <a:prstDash val="solid"/>
          </a:ln>
        </p:spPr>
      </p:sp>
      <p:sp>
        <p:nvSpPr>
          <p:cNvPr id="20" name="Shape 18"/>
          <p:cNvSpPr/>
          <p:nvPr/>
        </p:nvSpPr>
        <p:spPr>
          <a:xfrm>
            <a:off x="548640" y="2331720"/>
            <a:ext cx="54864" cy="1207008"/>
          </a:xfrm>
          <a:prstGeom prst="rect">
            <a:avLst/>
          </a:prstGeom>
          <a:solidFill>
            <a:srgbClr val="0891B2"/>
          </a:solidFill>
          <a:ln/>
        </p:spPr>
      </p:sp>
      <p:sp>
        <p:nvSpPr>
          <p:cNvPr id="21" name="Text 19"/>
          <p:cNvSpPr/>
          <p:nvPr/>
        </p:nvSpPr>
        <p:spPr>
          <a:xfrm>
            <a:off x="777240" y="24963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WE'RE DOING</a:t>
            </a:r>
            <a:endParaRPr lang="en-US" sz="900" dirty="0"/>
          </a:p>
        </p:txBody>
      </p:sp>
      <p:sp>
        <p:nvSpPr>
          <p:cNvPr id="22" name="Text 20"/>
          <p:cNvSpPr/>
          <p:nvPr/>
        </p:nvSpPr>
        <p:spPr>
          <a:xfrm>
            <a:off x="777240" y="27889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Set a recurring search at a fixed time on covered names and sectors. Output arrives by email, app, and in-product.</a:t>
            </a:r>
            <a:endParaRPr lang="en-US" sz="1150" dirty="0"/>
          </a:p>
        </p:txBody>
      </p:sp>
      <p:sp>
        <p:nvSpPr>
          <p:cNvPr id="23" name="Shape 21"/>
          <p:cNvSpPr/>
          <p:nvPr/>
        </p:nvSpPr>
        <p:spPr>
          <a:xfrm>
            <a:off x="548640" y="3703320"/>
            <a:ext cx="4114800" cy="1207008"/>
          </a:xfrm>
          <a:prstGeom prst="rect">
            <a:avLst/>
          </a:prstGeom>
          <a:solidFill>
            <a:srgbClr val="F8FAFC"/>
          </a:solidFill>
          <a:ln w="6350">
            <a:solidFill>
              <a:srgbClr val="E2E8F0"/>
            </a:solidFill>
            <a:prstDash val="solid"/>
          </a:ln>
        </p:spPr>
      </p:sp>
      <p:sp>
        <p:nvSpPr>
          <p:cNvPr id="24" name="Shape 22"/>
          <p:cNvSpPr/>
          <p:nvPr/>
        </p:nvSpPr>
        <p:spPr>
          <a:xfrm>
            <a:off x="548640" y="3703320"/>
            <a:ext cx="54864" cy="1207008"/>
          </a:xfrm>
          <a:prstGeom prst="rect">
            <a:avLst/>
          </a:prstGeom>
          <a:solidFill>
            <a:srgbClr val="0891B2"/>
          </a:solidFill>
          <a:ln/>
        </p:spPr>
      </p:sp>
      <p:sp>
        <p:nvSpPr>
          <p:cNvPr id="25" name="Text 23"/>
          <p:cNvSpPr/>
          <p:nvPr/>
        </p:nvSpPr>
        <p:spPr>
          <a:xfrm>
            <a:off x="777240" y="38679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WHY IT MATTERS</a:t>
            </a:r>
            <a:endParaRPr lang="en-US" sz="900" dirty="0"/>
          </a:p>
        </p:txBody>
      </p:sp>
      <p:sp>
        <p:nvSpPr>
          <p:cNvPr id="26" name="Text 24"/>
          <p:cNvSpPr/>
          <p:nvPr/>
        </p:nvSpPr>
        <p:spPr>
          <a:xfrm>
            <a:off x="777240" y="41605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News flow on 10+ names is impossible to track manually each morning. Important moves slip through.</a:t>
            </a:r>
            <a:endParaRPr lang="en-US" sz="1150" dirty="0"/>
          </a:p>
        </p:txBody>
      </p:sp>
      <p:sp>
        <p:nvSpPr>
          <p:cNvPr id="27" name="Shape 25"/>
          <p:cNvSpPr/>
          <p:nvPr/>
        </p:nvSpPr>
        <p:spPr>
          <a:xfrm>
            <a:off x="548640" y="5074920"/>
            <a:ext cx="4114800" cy="1207008"/>
          </a:xfrm>
          <a:prstGeom prst="rect">
            <a:avLst/>
          </a:prstGeom>
          <a:solidFill>
            <a:srgbClr val="F8FAFC"/>
          </a:solidFill>
          <a:ln w="6350">
            <a:solidFill>
              <a:srgbClr val="E2E8F0"/>
            </a:solidFill>
            <a:prstDash val="solid"/>
          </a:ln>
        </p:spPr>
      </p:sp>
      <p:sp>
        <p:nvSpPr>
          <p:cNvPr id="28" name="Shape 26"/>
          <p:cNvSpPr/>
          <p:nvPr/>
        </p:nvSpPr>
        <p:spPr>
          <a:xfrm>
            <a:off x="548640" y="5074920"/>
            <a:ext cx="54864" cy="1207008"/>
          </a:xfrm>
          <a:prstGeom prst="rect">
            <a:avLst/>
          </a:prstGeom>
          <a:solidFill>
            <a:srgbClr val="0891B2"/>
          </a:solidFill>
          <a:ln/>
        </p:spPr>
      </p:sp>
      <p:sp>
        <p:nvSpPr>
          <p:cNvPr id="29" name="Text 27"/>
          <p:cNvSpPr/>
          <p:nvPr/>
        </p:nvSpPr>
        <p:spPr>
          <a:xfrm>
            <a:off x="777240" y="52395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IT SOLVES</a:t>
            </a:r>
            <a:endParaRPr lang="en-US" sz="900" dirty="0"/>
          </a:p>
        </p:txBody>
      </p:sp>
      <p:sp>
        <p:nvSpPr>
          <p:cNvPr id="30" name="Text 28"/>
          <p:cNvSpPr/>
          <p:nvPr/>
        </p:nvSpPr>
        <p:spPr>
          <a:xfrm>
            <a:off x="777240" y="55321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The "what did I miss overnight?" tax at the start of every working day. Replaces 30 minutes of triage with a 2-minute scan.</a:t>
            </a:r>
            <a:endParaRPr lang="en-US" sz="1150" dirty="0"/>
          </a:p>
        </p:txBody>
      </p:sp>
      <p:sp>
        <p:nvSpPr>
          <p:cNvPr id="31" name="Text 29"/>
          <p:cNvSpPr/>
          <p:nvPr/>
        </p:nvSpPr>
        <p:spPr>
          <a:xfrm>
            <a:off x="493776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MY SCHEDULED SEARCH</a:t>
            </a:r>
            <a:endParaRPr lang="en-US" sz="900" dirty="0"/>
          </a:p>
        </p:txBody>
      </p:sp>
      <p:sp>
        <p:nvSpPr>
          <p:cNvPr id="32" name="Text 30"/>
          <p:cNvSpPr/>
          <p:nvPr/>
        </p:nvSpPr>
        <p:spPr>
          <a:xfrm>
            <a:off x="850392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OUTPUT — DAILY DIGEST</a:t>
            </a:r>
            <a:endParaRPr lang="en-US" sz="900" dirty="0"/>
          </a:p>
        </p:txBody>
      </p:sp>
      <p:pic>
        <p:nvPicPr>
          <p:cNvPr id="33" name="Image 0" descr="/home/claude/deck/images_small/img13_scheduled_search.jpg">    </p:cNvPr>
          <p:cNvPicPr>
            <a:picLocks noChangeAspect="1"/>
          </p:cNvPicPr>
          <p:nvPr/>
        </p:nvPicPr>
        <p:blipFill>
          <a:blip r:embed="rId1"/>
          <a:srcRect l="0" r="0" t="0" b="0"/>
          <a:stretch/>
        </p:blipFill>
        <p:spPr>
          <a:xfrm>
            <a:off x="4937760" y="2606040"/>
            <a:ext cx="3291840" cy="2468880"/>
          </a:xfrm>
          <a:prstGeom prst="rect">
            <a:avLst/>
          </a:prstGeom>
        </p:spPr>
      </p:pic>
      <p:sp>
        <p:nvSpPr>
          <p:cNvPr id="34" name="Text 31"/>
          <p:cNvSpPr/>
          <p:nvPr/>
        </p:nvSpPr>
        <p:spPr>
          <a:xfrm>
            <a:off x="493776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Runs daily at 11:21 PM. Covers L&amp;T, Adani Ports, Power Grid, UltraTech, Ambuja, Shree Cement, Waaree, Premier Energies + MNRE / CTU / CEA.</a:t>
            </a:r>
            <a:endParaRPr lang="en-US" sz="1000" dirty="0"/>
          </a:p>
        </p:txBody>
      </p:sp>
      <p:sp>
        <p:nvSpPr>
          <p:cNvPr id="35" name="Shape 32"/>
          <p:cNvSpPr/>
          <p:nvPr/>
        </p:nvSpPr>
        <p:spPr>
          <a:xfrm>
            <a:off x="8503920" y="2606040"/>
            <a:ext cx="3291840" cy="2468880"/>
          </a:xfrm>
          <a:prstGeom prst="rect">
            <a:avLst/>
          </a:prstGeom>
          <a:solidFill>
            <a:srgbClr val="ECFEFF"/>
          </a:solidFill>
          <a:ln w="12700">
            <a:solidFill>
              <a:srgbClr val="0891B2"/>
            </a:solidFill>
            <a:prstDash val="dash"/>
          </a:ln>
        </p:spPr>
      </p:sp>
      <p:sp>
        <p:nvSpPr>
          <p:cNvPr id="36" name="Text 33"/>
          <p:cNvSpPr/>
          <p:nvPr/>
        </p:nvSpPr>
        <p:spPr>
          <a:xfrm>
            <a:off x="8503920" y="3520440"/>
            <a:ext cx="3291840" cy="457200"/>
          </a:xfrm>
          <a:prstGeom prst="rect">
            <a:avLst/>
          </a:prstGeom>
          <a:noFill/>
          <a:ln/>
        </p:spPr>
        <p:txBody>
          <a:bodyPr wrap="square" lIns="0" tIns="0" rIns="0" bIns="0" rtlCol="0" anchor="ctr"/>
          <a:lstStyle/>
          <a:p>
            <a:pPr algn="ctr" indent="0" marL="0">
              <a:buNone/>
            </a:pPr>
            <a:r>
              <a:rPr lang="en-US" sz="2800" dirty="0">
                <a:solidFill>
                  <a:srgbClr val="0891B2"/>
                </a:solidFill>
                <a:latin typeface="Calibri" pitchFamily="34" charset="0"/>
                <a:ea typeface="Calibri" pitchFamily="34" charset="-122"/>
                <a:cs typeface="Calibri" pitchFamily="34" charset="-120"/>
              </a:rPr>
              <a:t>⎘</a:t>
            </a:r>
            <a:endParaRPr lang="en-US" sz="2800" dirty="0"/>
          </a:p>
        </p:txBody>
      </p:sp>
      <p:sp>
        <p:nvSpPr>
          <p:cNvPr id="37" name="Text 34"/>
          <p:cNvSpPr/>
          <p:nvPr/>
        </p:nvSpPr>
        <p:spPr>
          <a:xfrm>
            <a:off x="8503920" y="4023360"/>
            <a:ext cx="3291840" cy="365760"/>
          </a:xfrm>
          <a:prstGeom prst="rect">
            <a:avLst/>
          </a:prstGeom>
          <a:noFill/>
          <a:ln/>
        </p:spPr>
        <p:txBody>
          <a:bodyPr wrap="square" lIns="0" tIns="0" rIns="0" bIns="0" rtlCol="0" anchor="ctr"/>
          <a:lstStyle/>
          <a:p>
            <a:pPr algn="ctr" indent="0" marL="0">
              <a:buNone/>
            </a:pPr>
            <a:r>
              <a:rPr lang="en-US" sz="1100" b="1" dirty="0">
                <a:solidFill>
                  <a:srgbClr val="155E75"/>
                </a:solidFill>
                <a:latin typeface="Calibri" pitchFamily="34" charset="0"/>
                <a:ea typeface="Calibri" pitchFamily="34" charset="-122"/>
                <a:cs typeface="Calibri" pitchFamily="34" charset="-120"/>
              </a:rPr>
              <a:t>Daily digest screenshot</a:t>
            </a:r>
            <a:endParaRPr lang="en-US" sz="1100" dirty="0"/>
          </a:p>
        </p:txBody>
      </p:sp>
      <p:sp>
        <p:nvSpPr>
          <p:cNvPr id="38" name="Text 35"/>
          <p:cNvSpPr/>
          <p:nvPr/>
        </p:nvSpPr>
        <p:spPr>
          <a:xfrm>
            <a:off x="8503920" y="4297680"/>
            <a:ext cx="329184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To be added</a:t>
            </a:r>
            <a:endParaRPr lang="en-US" sz="900" dirty="0"/>
          </a:p>
        </p:txBody>
      </p:sp>
      <p:sp>
        <p:nvSpPr>
          <p:cNvPr id="39" name="Text 36"/>
          <p:cNvSpPr/>
          <p:nvPr/>
        </p:nvSpPr>
        <p:spPr>
          <a:xfrm>
            <a:off x="850392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The actual digest that lands in my inbox each morning.</a:t>
            </a:r>
            <a:endParaRPr lang="en-US" sz="1000" dirty="0"/>
          </a:p>
        </p:txBody>
      </p:sp>
      <p:sp>
        <p:nvSpPr>
          <p:cNvPr id="40" name="Text 37"/>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0891B2"/>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AUTOMATION</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Personalization — tell Perplexity who you are, once</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09 / 17</a:t>
            </a:r>
            <a:endParaRPr lang="en-US" sz="1000" dirty="0"/>
          </a:p>
        </p:txBody>
      </p:sp>
      <p:sp>
        <p:nvSpPr>
          <p:cNvPr id="19" name="Shape 17"/>
          <p:cNvSpPr/>
          <p:nvPr/>
        </p:nvSpPr>
        <p:spPr>
          <a:xfrm>
            <a:off x="548640" y="2331720"/>
            <a:ext cx="4114800" cy="1207008"/>
          </a:xfrm>
          <a:prstGeom prst="rect">
            <a:avLst/>
          </a:prstGeom>
          <a:solidFill>
            <a:srgbClr val="F8FAFC"/>
          </a:solidFill>
          <a:ln w="6350">
            <a:solidFill>
              <a:srgbClr val="E2E8F0"/>
            </a:solidFill>
            <a:prstDash val="solid"/>
          </a:ln>
        </p:spPr>
      </p:sp>
      <p:sp>
        <p:nvSpPr>
          <p:cNvPr id="20" name="Shape 18"/>
          <p:cNvSpPr/>
          <p:nvPr/>
        </p:nvSpPr>
        <p:spPr>
          <a:xfrm>
            <a:off x="548640" y="2331720"/>
            <a:ext cx="54864" cy="1207008"/>
          </a:xfrm>
          <a:prstGeom prst="rect">
            <a:avLst/>
          </a:prstGeom>
          <a:solidFill>
            <a:srgbClr val="0891B2"/>
          </a:solidFill>
          <a:ln/>
        </p:spPr>
      </p:sp>
      <p:sp>
        <p:nvSpPr>
          <p:cNvPr id="21" name="Text 19"/>
          <p:cNvSpPr/>
          <p:nvPr/>
        </p:nvSpPr>
        <p:spPr>
          <a:xfrm>
            <a:off x="777240" y="24963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WE'RE DOING</a:t>
            </a:r>
            <a:endParaRPr lang="en-US" sz="900" dirty="0"/>
          </a:p>
        </p:txBody>
      </p:sp>
      <p:sp>
        <p:nvSpPr>
          <p:cNvPr id="22" name="Text 20"/>
          <p:cNvSpPr/>
          <p:nvPr/>
        </p:nvSpPr>
        <p:spPr>
          <a:xfrm>
            <a:off x="777240" y="27889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Fill in occupation, firm, and custom instructions (preferred jargon level, tone, sectors covered) in settings.</a:t>
            </a:r>
            <a:endParaRPr lang="en-US" sz="1150" dirty="0"/>
          </a:p>
        </p:txBody>
      </p:sp>
      <p:sp>
        <p:nvSpPr>
          <p:cNvPr id="23" name="Shape 21"/>
          <p:cNvSpPr/>
          <p:nvPr/>
        </p:nvSpPr>
        <p:spPr>
          <a:xfrm>
            <a:off x="548640" y="3703320"/>
            <a:ext cx="4114800" cy="1207008"/>
          </a:xfrm>
          <a:prstGeom prst="rect">
            <a:avLst/>
          </a:prstGeom>
          <a:solidFill>
            <a:srgbClr val="F8FAFC"/>
          </a:solidFill>
          <a:ln w="6350">
            <a:solidFill>
              <a:srgbClr val="E2E8F0"/>
            </a:solidFill>
            <a:prstDash val="solid"/>
          </a:ln>
        </p:spPr>
      </p:sp>
      <p:sp>
        <p:nvSpPr>
          <p:cNvPr id="24" name="Shape 22"/>
          <p:cNvSpPr/>
          <p:nvPr/>
        </p:nvSpPr>
        <p:spPr>
          <a:xfrm>
            <a:off x="548640" y="3703320"/>
            <a:ext cx="54864" cy="1207008"/>
          </a:xfrm>
          <a:prstGeom prst="rect">
            <a:avLst/>
          </a:prstGeom>
          <a:solidFill>
            <a:srgbClr val="0891B2"/>
          </a:solidFill>
          <a:ln/>
        </p:spPr>
      </p:sp>
      <p:sp>
        <p:nvSpPr>
          <p:cNvPr id="25" name="Text 23"/>
          <p:cNvSpPr/>
          <p:nvPr/>
        </p:nvSpPr>
        <p:spPr>
          <a:xfrm>
            <a:off x="777240" y="38679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WHY IT MATTERS</a:t>
            </a:r>
            <a:endParaRPr lang="en-US" sz="900" dirty="0"/>
          </a:p>
        </p:txBody>
      </p:sp>
      <p:sp>
        <p:nvSpPr>
          <p:cNvPr id="26" name="Text 24"/>
          <p:cNvSpPr/>
          <p:nvPr/>
        </p:nvSpPr>
        <p:spPr>
          <a:xfrm>
            <a:off x="777240" y="41605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Without it, every prompt is doing two jobs: re-establishing who you are AND asking the actual question. Wasted effort.</a:t>
            </a:r>
            <a:endParaRPr lang="en-US" sz="1150" dirty="0"/>
          </a:p>
        </p:txBody>
      </p:sp>
      <p:sp>
        <p:nvSpPr>
          <p:cNvPr id="27" name="Shape 25"/>
          <p:cNvSpPr/>
          <p:nvPr/>
        </p:nvSpPr>
        <p:spPr>
          <a:xfrm>
            <a:off x="548640" y="5074920"/>
            <a:ext cx="4114800" cy="1207008"/>
          </a:xfrm>
          <a:prstGeom prst="rect">
            <a:avLst/>
          </a:prstGeom>
          <a:solidFill>
            <a:srgbClr val="F8FAFC"/>
          </a:solidFill>
          <a:ln w="6350">
            <a:solidFill>
              <a:srgbClr val="E2E8F0"/>
            </a:solidFill>
            <a:prstDash val="solid"/>
          </a:ln>
        </p:spPr>
      </p:sp>
      <p:sp>
        <p:nvSpPr>
          <p:cNvPr id="28" name="Shape 26"/>
          <p:cNvSpPr/>
          <p:nvPr/>
        </p:nvSpPr>
        <p:spPr>
          <a:xfrm>
            <a:off x="548640" y="5074920"/>
            <a:ext cx="54864" cy="1207008"/>
          </a:xfrm>
          <a:prstGeom prst="rect">
            <a:avLst/>
          </a:prstGeom>
          <a:solidFill>
            <a:srgbClr val="0891B2"/>
          </a:solidFill>
          <a:ln/>
        </p:spPr>
      </p:sp>
      <p:sp>
        <p:nvSpPr>
          <p:cNvPr id="29" name="Text 27"/>
          <p:cNvSpPr/>
          <p:nvPr/>
        </p:nvSpPr>
        <p:spPr>
          <a:xfrm>
            <a:off x="777240" y="52395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IT SOLVES</a:t>
            </a:r>
            <a:endParaRPr lang="en-US" sz="900" dirty="0"/>
          </a:p>
        </p:txBody>
      </p:sp>
      <p:sp>
        <p:nvSpPr>
          <p:cNvPr id="30" name="Text 28"/>
          <p:cNvSpPr/>
          <p:nvPr/>
        </p:nvSpPr>
        <p:spPr>
          <a:xfrm>
            <a:off x="777240" y="55321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Generic, retail-tone outputs from a tool that should be writing for analysts. Saves a sentence of context per prompt.</a:t>
            </a:r>
            <a:endParaRPr lang="en-US" sz="1150" dirty="0"/>
          </a:p>
        </p:txBody>
      </p:sp>
      <p:sp>
        <p:nvSpPr>
          <p:cNvPr id="31" name="Text 29"/>
          <p:cNvSpPr/>
          <p:nvPr/>
        </p:nvSpPr>
        <p:spPr>
          <a:xfrm>
            <a:off x="493776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PERSONALIZATION SETTINGS</a:t>
            </a:r>
            <a:endParaRPr lang="en-US" sz="900" dirty="0"/>
          </a:p>
        </p:txBody>
      </p:sp>
      <p:sp>
        <p:nvSpPr>
          <p:cNvPr id="32" name="Text 30"/>
          <p:cNvSpPr/>
          <p:nvPr/>
        </p:nvSpPr>
        <p:spPr>
          <a:xfrm>
            <a:off x="850392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OUTPUT — A PROMPT WITH IT ON</a:t>
            </a:r>
            <a:endParaRPr lang="en-US" sz="900" dirty="0"/>
          </a:p>
        </p:txBody>
      </p:sp>
      <p:pic>
        <p:nvPicPr>
          <p:cNvPr id="33" name="Image 0" descr="/home/claude/deck/images_small/img08_personalization.jpg">    </p:cNvPr>
          <p:cNvPicPr>
            <a:picLocks noChangeAspect="1"/>
          </p:cNvPicPr>
          <p:nvPr/>
        </p:nvPicPr>
        <p:blipFill>
          <a:blip r:embed="rId1"/>
          <a:srcRect l="0" r="0" t="0" b="0"/>
          <a:stretch/>
        </p:blipFill>
        <p:spPr>
          <a:xfrm>
            <a:off x="4937760" y="2606040"/>
            <a:ext cx="3291840" cy="2468880"/>
          </a:xfrm>
          <a:prstGeom prst="rect">
            <a:avLst/>
          </a:prstGeom>
        </p:spPr>
      </p:pic>
      <p:sp>
        <p:nvSpPr>
          <p:cNvPr id="34" name="Text 31"/>
          <p:cNvSpPr/>
          <p:nvPr/>
        </p:nvSpPr>
        <p:spPr>
          <a:xfrm>
            <a:off x="493776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One-time setup. Persists across every search going forward.</a:t>
            </a:r>
            <a:endParaRPr lang="en-US" sz="1000" dirty="0"/>
          </a:p>
        </p:txBody>
      </p:sp>
      <p:sp>
        <p:nvSpPr>
          <p:cNvPr id="35" name="Shape 32"/>
          <p:cNvSpPr/>
          <p:nvPr/>
        </p:nvSpPr>
        <p:spPr>
          <a:xfrm>
            <a:off x="8503920" y="2606040"/>
            <a:ext cx="3291840" cy="2468880"/>
          </a:xfrm>
          <a:prstGeom prst="rect">
            <a:avLst/>
          </a:prstGeom>
          <a:solidFill>
            <a:srgbClr val="ECFEFF"/>
          </a:solidFill>
          <a:ln w="12700">
            <a:solidFill>
              <a:srgbClr val="0891B2"/>
            </a:solidFill>
            <a:prstDash val="dash"/>
          </a:ln>
        </p:spPr>
      </p:sp>
      <p:sp>
        <p:nvSpPr>
          <p:cNvPr id="36" name="Text 33"/>
          <p:cNvSpPr/>
          <p:nvPr/>
        </p:nvSpPr>
        <p:spPr>
          <a:xfrm>
            <a:off x="8503920" y="3520440"/>
            <a:ext cx="3291840" cy="457200"/>
          </a:xfrm>
          <a:prstGeom prst="rect">
            <a:avLst/>
          </a:prstGeom>
          <a:noFill/>
          <a:ln/>
        </p:spPr>
        <p:txBody>
          <a:bodyPr wrap="square" lIns="0" tIns="0" rIns="0" bIns="0" rtlCol="0" anchor="ctr"/>
          <a:lstStyle/>
          <a:p>
            <a:pPr algn="ctr" indent="0" marL="0">
              <a:buNone/>
            </a:pPr>
            <a:r>
              <a:rPr lang="en-US" sz="2800" dirty="0">
                <a:solidFill>
                  <a:srgbClr val="0891B2"/>
                </a:solidFill>
                <a:latin typeface="Calibri" pitchFamily="34" charset="0"/>
                <a:ea typeface="Calibri" pitchFamily="34" charset="-122"/>
                <a:cs typeface="Calibri" pitchFamily="34" charset="-120"/>
              </a:rPr>
              <a:t>⎘</a:t>
            </a:r>
            <a:endParaRPr lang="en-US" sz="2800" dirty="0"/>
          </a:p>
        </p:txBody>
      </p:sp>
      <p:sp>
        <p:nvSpPr>
          <p:cNvPr id="37" name="Text 34"/>
          <p:cNvSpPr/>
          <p:nvPr/>
        </p:nvSpPr>
        <p:spPr>
          <a:xfrm>
            <a:off x="8503920" y="4023360"/>
            <a:ext cx="3291840" cy="365760"/>
          </a:xfrm>
          <a:prstGeom prst="rect">
            <a:avLst/>
          </a:prstGeom>
          <a:noFill/>
          <a:ln/>
        </p:spPr>
        <p:txBody>
          <a:bodyPr wrap="square" lIns="0" tIns="0" rIns="0" bIns="0" rtlCol="0" anchor="ctr"/>
          <a:lstStyle/>
          <a:p>
            <a:pPr algn="ctr" indent="0" marL="0">
              <a:buNone/>
            </a:pPr>
            <a:r>
              <a:rPr lang="en-US" sz="1100" b="1" dirty="0">
                <a:solidFill>
                  <a:srgbClr val="155E75"/>
                </a:solidFill>
                <a:latin typeface="Calibri" pitchFamily="34" charset="0"/>
                <a:ea typeface="Calibri" pitchFamily="34" charset="-122"/>
                <a:cs typeface="Calibri" pitchFamily="34" charset="-120"/>
              </a:rPr>
              <a:t>Before / after example</a:t>
            </a:r>
            <a:endParaRPr lang="en-US" sz="1100" dirty="0"/>
          </a:p>
        </p:txBody>
      </p:sp>
      <p:sp>
        <p:nvSpPr>
          <p:cNvPr id="38" name="Text 35"/>
          <p:cNvSpPr/>
          <p:nvPr/>
        </p:nvSpPr>
        <p:spPr>
          <a:xfrm>
            <a:off x="8503920" y="4297680"/>
            <a:ext cx="329184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To be added</a:t>
            </a:r>
            <a:endParaRPr lang="en-US" sz="900" dirty="0"/>
          </a:p>
        </p:txBody>
      </p:sp>
      <p:sp>
        <p:nvSpPr>
          <p:cNvPr id="39" name="Text 36"/>
          <p:cNvSpPr/>
          <p:nvPr/>
        </p:nvSpPr>
        <p:spPr>
          <a:xfrm>
            <a:off x="850392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A simple prompt run with personalization on vs off, side by side.</a:t>
            </a:r>
            <a:endParaRPr lang="en-US" sz="1000" dirty="0"/>
          </a:p>
        </p:txBody>
      </p:sp>
      <p:sp>
        <p:nvSpPr>
          <p:cNvPr id="40" name="Text 37"/>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0891B2"/>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AUTOMATION</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Price alerts with a custom analyst query</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 / 17</a:t>
            </a:r>
            <a:endParaRPr lang="en-US" sz="1000" dirty="0"/>
          </a:p>
        </p:txBody>
      </p:sp>
      <p:sp>
        <p:nvSpPr>
          <p:cNvPr id="19" name="Shape 17"/>
          <p:cNvSpPr/>
          <p:nvPr/>
        </p:nvSpPr>
        <p:spPr>
          <a:xfrm>
            <a:off x="548640" y="2331720"/>
            <a:ext cx="4114800" cy="1207008"/>
          </a:xfrm>
          <a:prstGeom prst="rect">
            <a:avLst/>
          </a:prstGeom>
          <a:solidFill>
            <a:srgbClr val="F8FAFC"/>
          </a:solidFill>
          <a:ln w="6350">
            <a:solidFill>
              <a:srgbClr val="E2E8F0"/>
            </a:solidFill>
            <a:prstDash val="solid"/>
          </a:ln>
        </p:spPr>
      </p:sp>
      <p:sp>
        <p:nvSpPr>
          <p:cNvPr id="20" name="Shape 18"/>
          <p:cNvSpPr/>
          <p:nvPr/>
        </p:nvSpPr>
        <p:spPr>
          <a:xfrm>
            <a:off x="548640" y="2331720"/>
            <a:ext cx="54864" cy="1207008"/>
          </a:xfrm>
          <a:prstGeom prst="rect">
            <a:avLst/>
          </a:prstGeom>
          <a:solidFill>
            <a:srgbClr val="0891B2"/>
          </a:solidFill>
          <a:ln/>
        </p:spPr>
      </p:sp>
      <p:sp>
        <p:nvSpPr>
          <p:cNvPr id="21" name="Text 19"/>
          <p:cNvSpPr/>
          <p:nvPr/>
        </p:nvSpPr>
        <p:spPr>
          <a:xfrm>
            <a:off x="777240" y="24963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WE'RE DOING</a:t>
            </a:r>
            <a:endParaRPr lang="en-US" sz="900" dirty="0"/>
          </a:p>
        </p:txBody>
      </p:sp>
      <p:sp>
        <p:nvSpPr>
          <p:cNvPr id="22" name="Text 20"/>
          <p:cNvSpPr/>
          <p:nvPr/>
        </p:nvSpPr>
        <p:spPr>
          <a:xfrm>
            <a:off x="777240" y="27889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Set a target price on a covered name. Attach a default analyst query that auto-runs when the target is hit.</a:t>
            </a:r>
            <a:endParaRPr lang="en-US" sz="1150" dirty="0"/>
          </a:p>
        </p:txBody>
      </p:sp>
      <p:sp>
        <p:nvSpPr>
          <p:cNvPr id="23" name="Shape 21"/>
          <p:cNvSpPr/>
          <p:nvPr/>
        </p:nvSpPr>
        <p:spPr>
          <a:xfrm>
            <a:off x="548640" y="3703320"/>
            <a:ext cx="4114800" cy="1207008"/>
          </a:xfrm>
          <a:prstGeom prst="rect">
            <a:avLst/>
          </a:prstGeom>
          <a:solidFill>
            <a:srgbClr val="F8FAFC"/>
          </a:solidFill>
          <a:ln w="6350">
            <a:solidFill>
              <a:srgbClr val="E2E8F0"/>
            </a:solidFill>
            <a:prstDash val="solid"/>
          </a:ln>
        </p:spPr>
      </p:sp>
      <p:sp>
        <p:nvSpPr>
          <p:cNvPr id="24" name="Shape 22"/>
          <p:cNvSpPr/>
          <p:nvPr/>
        </p:nvSpPr>
        <p:spPr>
          <a:xfrm>
            <a:off x="548640" y="3703320"/>
            <a:ext cx="54864" cy="1207008"/>
          </a:xfrm>
          <a:prstGeom prst="rect">
            <a:avLst/>
          </a:prstGeom>
          <a:solidFill>
            <a:srgbClr val="0891B2"/>
          </a:solidFill>
          <a:ln/>
        </p:spPr>
      </p:sp>
      <p:sp>
        <p:nvSpPr>
          <p:cNvPr id="25" name="Text 23"/>
          <p:cNvSpPr/>
          <p:nvPr/>
        </p:nvSpPr>
        <p:spPr>
          <a:xfrm>
            <a:off x="777240" y="38679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WHY IT MATTERS</a:t>
            </a:r>
            <a:endParaRPr lang="en-US" sz="900" dirty="0"/>
          </a:p>
        </p:txBody>
      </p:sp>
      <p:sp>
        <p:nvSpPr>
          <p:cNvPr id="26" name="Text 24"/>
          <p:cNvSpPr/>
          <p:nvPr/>
        </p:nvSpPr>
        <p:spPr>
          <a:xfrm>
            <a:off x="777240" y="41605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When a stock moves, clients want a fast take — and I'm usually mid-something-else. Reactive scrambling is the norm.</a:t>
            </a:r>
            <a:endParaRPr lang="en-US" sz="1150" dirty="0"/>
          </a:p>
        </p:txBody>
      </p:sp>
      <p:sp>
        <p:nvSpPr>
          <p:cNvPr id="27" name="Shape 25"/>
          <p:cNvSpPr/>
          <p:nvPr/>
        </p:nvSpPr>
        <p:spPr>
          <a:xfrm>
            <a:off x="548640" y="5074920"/>
            <a:ext cx="4114800" cy="1207008"/>
          </a:xfrm>
          <a:prstGeom prst="rect">
            <a:avLst/>
          </a:prstGeom>
          <a:solidFill>
            <a:srgbClr val="F8FAFC"/>
          </a:solidFill>
          <a:ln w="6350">
            <a:solidFill>
              <a:srgbClr val="E2E8F0"/>
            </a:solidFill>
            <a:prstDash val="solid"/>
          </a:ln>
        </p:spPr>
      </p:sp>
      <p:sp>
        <p:nvSpPr>
          <p:cNvPr id="28" name="Shape 26"/>
          <p:cNvSpPr/>
          <p:nvPr/>
        </p:nvSpPr>
        <p:spPr>
          <a:xfrm>
            <a:off x="548640" y="5074920"/>
            <a:ext cx="54864" cy="1207008"/>
          </a:xfrm>
          <a:prstGeom prst="rect">
            <a:avLst/>
          </a:prstGeom>
          <a:solidFill>
            <a:srgbClr val="0891B2"/>
          </a:solidFill>
          <a:ln/>
        </p:spPr>
      </p:sp>
      <p:sp>
        <p:nvSpPr>
          <p:cNvPr id="29" name="Text 27"/>
          <p:cNvSpPr/>
          <p:nvPr/>
        </p:nvSpPr>
        <p:spPr>
          <a:xfrm>
            <a:off x="777240" y="52395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IT SOLVES</a:t>
            </a:r>
            <a:endParaRPr lang="en-US" sz="900" dirty="0"/>
          </a:p>
        </p:txBody>
      </p:sp>
      <p:sp>
        <p:nvSpPr>
          <p:cNvPr id="30" name="Text 28"/>
          <p:cNvSpPr/>
          <p:nvPr/>
        </p:nvSpPr>
        <p:spPr>
          <a:xfrm>
            <a:off x="777240" y="55321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The 10–15 minutes of writing a 2–3 line client note on the fly when a name moves. Arrives client-ready in my inbox.</a:t>
            </a:r>
            <a:endParaRPr lang="en-US" sz="1150" dirty="0"/>
          </a:p>
        </p:txBody>
      </p:sp>
      <p:sp>
        <p:nvSpPr>
          <p:cNvPr id="31" name="Text 29"/>
          <p:cNvSpPr/>
          <p:nvPr/>
        </p:nvSpPr>
        <p:spPr>
          <a:xfrm>
            <a:off x="493776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ALERT + QUERY SETUP</a:t>
            </a:r>
            <a:endParaRPr lang="en-US" sz="900" dirty="0"/>
          </a:p>
        </p:txBody>
      </p:sp>
      <p:sp>
        <p:nvSpPr>
          <p:cNvPr id="32" name="Text 30"/>
          <p:cNvSpPr/>
          <p:nvPr/>
        </p:nvSpPr>
        <p:spPr>
          <a:xfrm>
            <a:off x="850392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OUTPUT — THE ALERT IT SENDS</a:t>
            </a:r>
            <a:endParaRPr lang="en-US" sz="900" dirty="0"/>
          </a:p>
        </p:txBody>
      </p:sp>
      <p:pic>
        <p:nvPicPr>
          <p:cNvPr id="33" name="Image 0" descr="/home/claude/deck/images_small/img09_price_alert.jpg">    </p:cNvPr>
          <p:cNvPicPr>
            <a:picLocks noChangeAspect="1"/>
          </p:cNvPicPr>
          <p:nvPr/>
        </p:nvPicPr>
        <p:blipFill>
          <a:blip r:embed="rId1"/>
          <a:srcRect l="0" r="0" t="0" b="0"/>
          <a:stretch/>
        </p:blipFill>
        <p:spPr>
          <a:xfrm>
            <a:off x="4937760" y="2606040"/>
            <a:ext cx="3291840" cy="2468880"/>
          </a:xfrm>
          <a:prstGeom prst="rect">
            <a:avLst/>
          </a:prstGeom>
        </p:spPr>
      </p:pic>
      <p:sp>
        <p:nvSpPr>
          <p:cNvPr id="34" name="Text 31"/>
          <p:cNvSpPr/>
          <p:nvPr/>
        </p:nvSpPr>
        <p:spPr>
          <a:xfrm>
            <a:off x="493776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L&amp;T set to ₹4,637 with a custom 2–3 pointer query attached.</a:t>
            </a:r>
            <a:endParaRPr lang="en-US" sz="1000" dirty="0"/>
          </a:p>
        </p:txBody>
      </p:sp>
      <p:sp>
        <p:nvSpPr>
          <p:cNvPr id="35" name="Shape 32"/>
          <p:cNvSpPr/>
          <p:nvPr/>
        </p:nvSpPr>
        <p:spPr>
          <a:xfrm>
            <a:off x="8503920" y="2606040"/>
            <a:ext cx="3291840" cy="2468880"/>
          </a:xfrm>
          <a:prstGeom prst="rect">
            <a:avLst/>
          </a:prstGeom>
          <a:solidFill>
            <a:srgbClr val="ECFEFF"/>
          </a:solidFill>
          <a:ln w="12700">
            <a:solidFill>
              <a:srgbClr val="0891B2"/>
            </a:solidFill>
            <a:prstDash val="dash"/>
          </a:ln>
        </p:spPr>
      </p:sp>
      <p:sp>
        <p:nvSpPr>
          <p:cNvPr id="36" name="Text 33"/>
          <p:cNvSpPr/>
          <p:nvPr/>
        </p:nvSpPr>
        <p:spPr>
          <a:xfrm>
            <a:off x="8503920" y="3520440"/>
            <a:ext cx="3291840" cy="457200"/>
          </a:xfrm>
          <a:prstGeom prst="rect">
            <a:avLst/>
          </a:prstGeom>
          <a:noFill/>
          <a:ln/>
        </p:spPr>
        <p:txBody>
          <a:bodyPr wrap="square" lIns="0" tIns="0" rIns="0" bIns="0" rtlCol="0" anchor="ctr"/>
          <a:lstStyle/>
          <a:p>
            <a:pPr algn="ctr" indent="0" marL="0">
              <a:buNone/>
            </a:pPr>
            <a:r>
              <a:rPr lang="en-US" sz="2800" dirty="0">
                <a:solidFill>
                  <a:srgbClr val="0891B2"/>
                </a:solidFill>
                <a:latin typeface="Calibri" pitchFamily="34" charset="0"/>
                <a:ea typeface="Calibri" pitchFamily="34" charset="-122"/>
                <a:cs typeface="Calibri" pitchFamily="34" charset="-120"/>
              </a:rPr>
              <a:t>⎘</a:t>
            </a:r>
            <a:endParaRPr lang="en-US" sz="2800" dirty="0"/>
          </a:p>
        </p:txBody>
      </p:sp>
      <p:sp>
        <p:nvSpPr>
          <p:cNvPr id="37" name="Text 34"/>
          <p:cNvSpPr/>
          <p:nvPr/>
        </p:nvSpPr>
        <p:spPr>
          <a:xfrm>
            <a:off x="8503920" y="4023360"/>
            <a:ext cx="3291840" cy="365760"/>
          </a:xfrm>
          <a:prstGeom prst="rect">
            <a:avLst/>
          </a:prstGeom>
          <a:noFill/>
          <a:ln/>
        </p:spPr>
        <p:txBody>
          <a:bodyPr wrap="square" lIns="0" tIns="0" rIns="0" bIns="0" rtlCol="0" anchor="ctr"/>
          <a:lstStyle/>
          <a:p>
            <a:pPr algn="ctr" indent="0" marL="0">
              <a:buNone/>
            </a:pPr>
            <a:r>
              <a:rPr lang="en-US" sz="1100" b="1" dirty="0">
                <a:solidFill>
                  <a:srgbClr val="155E75"/>
                </a:solidFill>
                <a:latin typeface="Calibri" pitchFamily="34" charset="0"/>
                <a:ea typeface="Calibri" pitchFamily="34" charset="-122"/>
                <a:cs typeface="Calibri" pitchFamily="34" charset="-120"/>
              </a:rPr>
              <a:t>Alert email screenshot</a:t>
            </a:r>
            <a:endParaRPr lang="en-US" sz="1100" dirty="0"/>
          </a:p>
        </p:txBody>
      </p:sp>
      <p:sp>
        <p:nvSpPr>
          <p:cNvPr id="38" name="Text 35"/>
          <p:cNvSpPr/>
          <p:nvPr/>
        </p:nvSpPr>
        <p:spPr>
          <a:xfrm>
            <a:off x="8503920" y="4297680"/>
            <a:ext cx="329184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To be added</a:t>
            </a:r>
            <a:endParaRPr lang="en-US" sz="900" dirty="0"/>
          </a:p>
        </p:txBody>
      </p:sp>
      <p:sp>
        <p:nvSpPr>
          <p:cNvPr id="39" name="Text 36"/>
          <p:cNvSpPr/>
          <p:nvPr/>
        </p:nvSpPr>
        <p:spPr>
          <a:xfrm>
            <a:off x="850392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The alert + auto-generated client-ready insight when target hits.</a:t>
            </a:r>
            <a:endParaRPr lang="en-US" sz="1000" dirty="0"/>
          </a:p>
        </p:txBody>
      </p:sp>
      <p:sp>
        <p:nvSpPr>
          <p:cNvPr id="40" name="Text 37"/>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0891B2"/>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FINANCE TAB</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Daily market view + watchlist of covered names</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 / 17</a:t>
            </a:r>
            <a:endParaRPr lang="en-US" sz="1000" dirty="0"/>
          </a:p>
        </p:txBody>
      </p:sp>
      <p:sp>
        <p:nvSpPr>
          <p:cNvPr id="19" name="Shape 17"/>
          <p:cNvSpPr/>
          <p:nvPr/>
        </p:nvSpPr>
        <p:spPr>
          <a:xfrm>
            <a:off x="548640" y="2331720"/>
            <a:ext cx="4114800" cy="1207008"/>
          </a:xfrm>
          <a:prstGeom prst="rect">
            <a:avLst/>
          </a:prstGeom>
          <a:solidFill>
            <a:srgbClr val="F8FAFC"/>
          </a:solidFill>
          <a:ln w="6350">
            <a:solidFill>
              <a:srgbClr val="E2E8F0"/>
            </a:solidFill>
            <a:prstDash val="solid"/>
          </a:ln>
        </p:spPr>
      </p:sp>
      <p:sp>
        <p:nvSpPr>
          <p:cNvPr id="20" name="Shape 18"/>
          <p:cNvSpPr/>
          <p:nvPr/>
        </p:nvSpPr>
        <p:spPr>
          <a:xfrm>
            <a:off x="548640" y="2331720"/>
            <a:ext cx="54864" cy="1207008"/>
          </a:xfrm>
          <a:prstGeom prst="rect">
            <a:avLst/>
          </a:prstGeom>
          <a:solidFill>
            <a:srgbClr val="0891B2"/>
          </a:solidFill>
          <a:ln/>
        </p:spPr>
      </p:sp>
      <p:sp>
        <p:nvSpPr>
          <p:cNvPr id="21" name="Text 19"/>
          <p:cNvSpPr/>
          <p:nvPr/>
        </p:nvSpPr>
        <p:spPr>
          <a:xfrm>
            <a:off x="777240" y="24963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WE'RE DOING</a:t>
            </a:r>
            <a:endParaRPr lang="en-US" sz="900" dirty="0"/>
          </a:p>
        </p:txBody>
      </p:sp>
      <p:sp>
        <p:nvSpPr>
          <p:cNvPr id="22" name="Text 20"/>
          <p:cNvSpPr/>
          <p:nvPr/>
        </p:nvSpPr>
        <p:spPr>
          <a:xfrm>
            <a:off x="777240" y="27889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Add covered names to a Finance-tab watchlist. Get a daily market summary written for analyst-level context.</a:t>
            </a:r>
            <a:endParaRPr lang="en-US" sz="1150" dirty="0"/>
          </a:p>
        </p:txBody>
      </p:sp>
      <p:sp>
        <p:nvSpPr>
          <p:cNvPr id="23" name="Shape 21"/>
          <p:cNvSpPr/>
          <p:nvPr/>
        </p:nvSpPr>
        <p:spPr>
          <a:xfrm>
            <a:off x="548640" y="3703320"/>
            <a:ext cx="4114800" cy="1207008"/>
          </a:xfrm>
          <a:prstGeom prst="rect">
            <a:avLst/>
          </a:prstGeom>
          <a:solidFill>
            <a:srgbClr val="F8FAFC"/>
          </a:solidFill>
          <a:ln w="6350">
            <a:solidFill>
              <a:srgbClr val="E2E8F0"/>
            </a:solidFill>
            <a:prstDash val="solid"/>
          </a:ln>
        </p:spPr>
      </p:sp>
      <p:sp>
        <p:nvSpPr>
          <p:cNvPr id="24" name="Shape 22"/>
          <p:cNvSpPr/>
          <p:nvPr/>
        </p:nvSpPr>
        <p:spPr>
          <a:xfrm>
            <a:off x="548640" y="3703320"/>
            <a:ext cx="54864" cy="1207008"/>
          </a:xfrm>
          <a:prstGeom prst="rect">
            <a:avLst/>
          </a:prstGeom>
          <a:solidFill>
            <a:srgbClr val="0891B2"/>
          </a:solidFill>
          <a:ln/>
        </p:spPr>
      </p:sp>
      <p:sp>
        <p:nvSpPr>
          <p:cNvPr id="25" name="Text 23"/>
          <p:cNvSpPr/>
          <p:nvPr/>
        </p:nvSpPr>
        <p:spPr>
          <a:xfrm>
            <a:off x="777240" y="38679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WHY IT MATTERS</a:t>
            </a:r>
            <a:endParaRPr lang="en-US" sz="900" dirty="0"/>
          </a:p>
        </p:txBody>
      </p:sp>
      <p:sp>
        <p:nvSpPr>
          <p:cNvPr id="26" name="Text 24"/>
          <p:cNvSpPr/>
          <p:nvPr/>
        </p:nvSpPr>
        <p:spPr>
          <a:xfrm>
            <a:off x="777240" y="41605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Mainstream financial news is written for retail investors. My morning briefing needs to assume domain knowledge.</a:t>
            </a:r>
            <a:endParaRPr lang="en-US" sz="1150" dirty="0"/>
          </a:p>
        </p:txBody>
      </p:sp>
      <p:sp>
        <p:nvSpPr>
          <p:cNvPr id="27" name="Shape 25"/>
          <p:cNvSpPr/>
          <p:nvPr/>
        </p:nvSpPr>
        <p:spPr>
          <a:xfrm>
            <a:off x="548640" y="5074920"/>
            <a:ext cx="4114800" cy="1207008"/>
          </a:xfrm>
          <a:prstGeom prst="rect">
            <a:avLst/>
          </a:prstGeom>
          <a:solidFill>
            <a:srgbClr val="F8FAFC"/>
          </a:solidFill>
          <a:ln w="6350">
            <a:solidFill>
              <a:srgbClr val="E2E8F0"/>
            </a:solidFill>
            <a:prstDash val="solid"/>
          </a:ln>
        </p:spPr>
      </p:sp>
      <p:sp>
        <p:nvSpPr>
          <p:cNvPr id="28" name="Shape 26"/>
          <p:cNvSpPr/>
          <p:nvPr/>
        </p:nvSpPr>
        <p:spPr>
          <a:xfrm>
            <a:off x="548640" y="5074920"/>
            <a:ext cx="54864" cy="1207008"/>
          </a:xfrm>
          <a:prstGeom prst="rect">
            <a:avLst/>
          </a:prstGeom>
          <a:solidFill>
            <a:srgbClr val="0891B2"/>
          </a:solidFill>
          <a:ln/>
        </p:spPr>
      </p:sp>
      <p:sp>
        <p:nvSpPr>
          <p:cNvPr id="29" name="Text 27"/>
          <p:cNvSpPr/>
          <p:nvPr/>
        </p:nvSpPr>
        <p:spPr>
          <a:xfrm>
            <a:off x="777240" y="52395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IT SOLVES</a:t>
            </a:r>
            <a:endParaRPr lang="en-US" sz="900" dirty="0"/>
          </a:p>
        </p:txBody>
      </p:sp>
      <p:sp>
        <p:nvSpPr>
          <p:cNvPr id="30" name="Text 28"/>
          <p:cNvSpPr/>
          <p:nvPr/>
        </p:nvSpPr>
        <p:spPr>
          <a:xfrm>
            <a:off x="777240" y="55321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The first 30 minutes of every day spent triaging which sector moves matter and why. The synthesis is done for me.</a:t>
            </a:r>
            <a:endParaRPr lang="en-US" sz="1150" dirty="0"/>
          </a:p>
        </p:txBody>
      </p:sp>
      <p:sp>
        <p:nvSpPr>
          <p:cNvPr id="31" name="Text 29"/>
          <p:cNvSpPr/>
          <p:nvPr/>
        </p:nvSpPr>
        <p:spPr>
          <a:xfrm>
            <a:off x="493776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WATCHLIST</a:t>
            </a:r>
            <a:endParaRPr lang="en-US" sz="900" dirty="0"/>
          </a:p>
        </p:txBody>
      </p:sp>
      <p:sp>
        <p:nvSpPr>
          <p:cNvPr id="32" name="Text 30"/>
          <p:cNvSpPr/>
          <p:nvPr/>
        </p:nvSpPr>
        <p:spPr>
          <a:xfrm>
            <a:off x="850392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DAILY COMMENTARY</a:t>
            </a:r>
            <a:endParaRPr lang="en-US" sz="900" dirty="0"/>
          </a:p>
        </p:txBody>
      </p:sp>
      <p:pic>
        <p:nvPicPr>
          <p:cNvPr id="33" name="Image 0" descr="/home/claude/deck/images_small/img07_watchlist.jpg">    </p:cNvPr>
          <p:cNvPicPr>
            <a:picLocks noChangeAspect="1"/>
          </p:cNvPicPr>
          <p:nvPr/>
        </p:nvPicPr>
        <p:blipFill>
          <a:blip r:embed="rId1"/>
          <a:srcRect l="0" r="0" t="0" b="0"/>
          <a:stretch/>
        </p:blipFill>
        <p:spPr>
          <a:xfrm>
            <a:off x="4937760" y="2606040"/>
            <a:ext cx="3291840" cy="2468880"/>
          </a:xfrm>
          <a:prstGeom prst="rect">
            <a:avLst/>
          </a:prstGeom>
        </p:spPr>
      </p:pic>
      <p:sp>
        <p:nvSpPr>
          <p:cNvPr id="34" name="Text 31"/>
          <p:cNvSpPr/>
          <p:nvPr/>
        </p:nvSpPr>
        <p:spPr>
          <a:xfrm>
            <a:off x="493776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PFC, NTPC Green, JSW Energy, Power Grid, Ambuja — the names I care about.</a:t>
            </a:r>
            <a:endParaRPr lang="en-US" sz="1000" dirty="0"/>
          </a:p>
        </p:txBody>
      </p:sp>
      <p:pic>
        <p:nvPicPr>
          <p:cNvPr id="35" name="Image 1" descr="/home/claude/deck/images_small/img06_market_view.jpg">    </p:cNvPr>
          <p:cNvPicPr>
            <a:picLocks noChangeAspect="1"/>
          </p:cNvPicPr>
          <p:nvPr/>
        </p:nvPicPr>
        <p:blipFill>
          <a:blip r:embed="rId2"/>
          <a:srcRect l="0" r="0" t="0" b="0"/>
          <a:stretch/>
        </p:blipFill>
        <p:spPr>
          <a:xfrm>
            <a:off x="8503920" y="2606040"/>
            <a:ext cx="3291840" cy="2468880"/>
          </a:xfrm>
          <a:prstGeom prst="rect">
            <a:avLst/>
          </a:prstGeom>
        </p:spPr>
      </p:pic>
      <p:sp>
        <p:nvSpPr>
          <p:cNvPr id="36" name="Text 32"/>
          <p:cNvSpPr/>
          <p:nvPr/>
        </p:nvSpPr>
        <p:spPr>
          <a:xfrm>
            <a:off x="850392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Sector-level synthesis with peer moves, sell-side calls, and macro context.</a:t>
            </a:r>
            <a:endParaRPr lang="en-US" sz="1000" dirty="0"/>
          </a:p>
        </p:txBody>
      </p:sp>
      <p:sp>
        <p:nvSpPr>
          <p:cNvPr id="37" name="Text 33"/>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0891B2"/>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FINANCE TAB</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Earnings tab — three things in one place</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 / 17</a:t>
            </a:r>
            <a:endParaRPr lang="en-US" sz="1000" dirty="0"/>
          </a:p>
        </p:txBody>
      </p:sp>
      <p:sp>
        <p:nvSpPr>
          <p:cNvPr id="19" name="Shape 17"/>
          <p:cNvSpPr/>
          <p:nvPr/>
        </p:nvSpPr>
        <p:spPr>
          <a:xfrm>
            <a:off x="548640" y="2331720"/>
            <a:ext cx="4114800" cy="1207008"/>
          </a:xfrm>
          <a:prstGeom prst="rect">
            <a:avLst/>
          </a:prstGeom>
          <a:solidFill>
            <a:srgbClr val="F8FAFC"/>
          </a:solidFill>
          <a:ln w="6350">
            <a:solidFill>
              <a:srgbClr val="E2E8F0"/>
            </a:solidFill>
            <a:prstDash val="solid"/>
          </a:ln>
        </p:spPr>
      </p:sp>
      <p:sp>
        <p:nvSpPr>
          <p:cNvPr id="20" name="Shape 18"/>
          <p:cNvSpPr/>
          <p:nvPr/>
        </p:nvSpPr>
        <p:spPr>
          <a:xfrm>
            <a:off x="548640" y="2331720"/>
            <a:ext cx="54864" cy="1207008"/>
          </a:xfrm>
          <a:prstGeom prst="rect">
            <a:avLst/>
          </a:prstGeom>
          <a:solidFill>
            <a:srgbClr val="0891B2"/>
          </a:solidFill>
          <a:ln/>
        </p:spPr>
      </p:sp>
      <p:sp>
        <p:nvSpPr>
          <p:cNvPr id="21" name="Text 19"/>
          <p:cNvSpPr/>
          <p:nvPr/>
        </p:nvSpPr>
        <p:spPr>
          <a:xfrm>
            <a:off x="777240" y="24963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WE'RE DOING</a:t>
            </a:r>
            <a:endParaRPr lang="en-US" sz="900" dirty="0"/>
          </a:p>
        </p:txBody>
      </p:sp>
      <p:sp>
        <p:nvSpPr>
          <p:cNvPr id="22" name="Text 20"/>
          <p:cNvSpPr/>
          <p:nvPr/>
        </p:nvSpPr>
        <p:spPr>
          <a:xfrm>
            <a:off x="777240" y="27889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Live transcript, AI-summarized highlights, and source documents (filings, presentations, prepared remarks) for any covered name.</a:t>
            </a:r>
            <a:endParaRPr lang="en-US" sz="1150" dirty="0"/>
          </a:p>
        </p:txBody>
      </p:sp>
      <p:sp>
        <p:nvSpPr>
          <p:cNvPr id="23" name="Shape 21"/>
          <p:cNvSpPr/>
          <p:nvPr/>
        </p:nvSpPr>
        <p:spPr>
          <a:xfrm>
            <a:off x="548640" y="3703320"/>
            <a:ext cx="4114800" cy="1207008"/>
          </a:xfrm>
          <a:prstGeom prst="rect">
            <a:avLst/>
          </a:prstGeom>
          <a:solidFill>
            <a:srgbClr val="F8FAFC"/>
          </a:solidFill>
          <a:ln w="6350">
            <a:solidFill>
              <a:srgbClr val="E2E8F0"/>
            </a:solidFill>
            <a:prstDash val="solid"/>
          </a:ln>
        </p:spPr>
      </p:sp>
      <p:sp>
        <p:nvSpPr>
          <p:cNvPr id="24" name="Shape 22"/>
          <p:cNvSpPr/>
          <p:nvPr/>
        </p:nvSpPr>
        <p:spPr>
          <a:xfrm>
            <a:off x="548640" y="3703320"/>
            <a:ext cx="54864" cy="1207008"/>
          </a:xfrm>
          <a:prstGeom prst="rect">
            <a:avLst/>
          </a:prstGeom>
          <a:solidFill>
            <a:srgbClr val="0891B2"/>
          </a:solidFill>
          <a:ln/>
        </p:spPr>
      </p:sp>
      <p:sp>
        <p:nvSpPr>
          <p:cNvPr id="25" name="Text 23"/>
          <p:cNvSpPr/>
          <p:nvPr/>
        </p:nvSpPr>
        <p:spPr>
          <a:xfrm>
            <a:off x="777240" y="38679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WHY IT MATTERS</a:t>
            </a:r>
            <a:endParaRPr lang="en-US" sz="900" dirty="0"/>
          </a:p>
        </p:txBody>
      </p:sp>
      <p:sp>
        <p:nvSpPr>
          <p:cNvPr id="26" name="Text 24"/>
          <p:cNvSpPr/>
          <p:nvPr/>
        </p:nvSpPr>
        <p:spPr>
          <a:xfrm>
            <a:off x="777240" y="41605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Earnings days are a sprint — multiple calls back-to-back, every minute counts. Tab-switching is a tax.</a:t>
            </a:r>
            <a:endParaRPr lang="en-US" sz="1150" dirty="0"/>
          </a:p>
        </p:txBody>
      </p:sp>
      <p:sp>
        <p:nvSpPr>
          <p:cNvPr id="27" name="Shape 25"/>
          <p:cNvSpPr/>
          <p:nvPr/>
        </p:nvSpPr>
        <p:spPr>
          <a:xfrm>
            <a:off x="548640" y="5074920"/>
            <a:ext cx="4114800" cy="1207008"/>
          </a:xfrm>
          <a:prstGeom prst="rect">
            <a:avLst/>
          </a:prstGeom>
          <a:solidFill>
            <a:srgbClr val="F8FAFC"/>
          </a:solidFill>
          <a:ln w="6350">
            <a:solidFill>
              <a:srgbClr val="E2E8F0"/>
            </a:solidFill>
            <a:prstDash val="solid"/>
          </a:ln>
        </p:spPr>
      </p:sp>
      <p:sp>
        <p:nvSpPr>
          <p:cNvPr id="28" name="Shape 26"/>
          <p:cNvSpPr/>
          <p:nvPr/>
        </p:nvSpPr>
        <p:spPr>
          <a:xfrm>
            <a:off x="548640" y="5074920"/>
            <a:ext cx="54864" cy="1207008"/>
          </a:xfrm>
          <a:prstGeom prst="rect">
            <a:avLst/>
          </a:prstGeom>
          <a:solidFill>
            <a:srgbClr val="0891B2"/>
          </a:solidFill>
          <a:ln/>
        </p:spPr>
      </p:sp>
      <p:sp>
        <p:nvSpPr>
          <p:cNvPr id="29" name="Text 27"/>
          <p:cNvSpPr/>
          <p:nvPr/>
        </p:nvSpPr>
        <p:spPr>
          <a:xfrm>
            <a:off x="777240" y="52395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IT SOLVES</a:t>
            </a:r>
            <a:endParaRPr lang="en-US" sz="900" dirty="0"/>
          </a:p>
        </p:txBody>
      </p:sp>
      <p:sp>
        <p:nvSpPr>
          <p:cNvPr id="30" name="Text 28"/>
          <p:cNvSpPr/>
          <p:nvPr/>
        </p:nvSpPr>
        <p:spPr>
          <a:xfrm>
            <a:off x="777240" y="55321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Switching between Bloomberg, the IR webcast, the deck, and our note system mid-call. Everything stays in one view.</a:t>
            </a:r>
            <a:endParaRPr lang="en-US" sz="1150" dirty="0"/>
          </a:p>
        </p:txBody>
      </p:sp>
      <p:sp>
        <p:nvSpPr>
          <p:cNvPr id="31" name="Text 29"/>
          <p:cNvSpPr/>
          <p:nvPr/>
        </p:nvSpPr>
        <p:spPr>
          <a:xfrm>
            <a:off x="493776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EARNINGS TAB — HDFC BANK</a:t>
            </a:r>
            <a:endParaRPr lang="en-US" sz="900" dirty="0"/>
          </a:p>
        </p:txBody>
      </p:sp>
      <p:sp>
        <p:nvSpPr>
          <p:cNvPr id="32" name="Text 30"/>
          <p:cNvSpPr/>
          <p:nvPr/>
        </p:nvSpPr>
        <p:spPr>
          <a:xfrm>
            <a:off x="850392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OUTPUT — HIGHLIGHTS VIEW</a:t>
            </a:r>
            <a:endParaRPr lang="en-US" sz="900" dirty="0"/>
          </a:p>
        </p:txBody>
      </p:sp>
      <p:pic>
        <p:nvPicPr>
          <p:cNvPr id="33" name="Image 0" descr="/home/claude/deck/images_small/img05_hdfc_earnings.jpg">    </p:cNvPr>
          <p:cNvPicPr>
            <a:picLocks noChangeAspect="1"/>
          </p:cNvPicPr>
          <p:nvPr/>
        </p:nvPicPr>
        <p:blipFill>
          <a:blip r:embed="rId1"/>
          <a:srcRect l="0" r="0" t="0" b="0"/>
          <a:stretch/>
        </p:blipFill>
        <p:spPr>
          <a:xfrm>
            <a:off x="4937760" y="2606040"/>
            <a:ext cx="3291840" cy="2468880"/>
          </a:xfrm>
          <a:prstGeom prst="rect">
            <a:avLst/>
          </a:prstGeom>
        </p:spPr>
      </p:pic>
      <p:sp>
        <p:nvSpPr>
          <p:cNvPr id="34" name="Text 31"/>
          <p:cNvSpPr/>
          <p:nvPr/>
        </p:nvSpPr>
        <p:spPr>
          <a:xfrm>
            <a:off x="493776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Revenue / EPS estimates vs actual, with the three sub-tabs shown.</a:t>
            </a:r>
            <a:endParaRPr lang="en-US" sz="1000" dirty="0"/>
          </a:p>
        </p:txBody>
      </p:sp>
      <p:sp>
        <p:nvSpPr>
          <p:cNvPr id="35" name="Shape 32"/>
          <p:cNvSpPr/>
          <p:nvPr/>
        </p:nvSpPr>
        <p:spPr>
          <a:xfrm>
            <a:off x="8503920" y="2606040"/>
            <a:ext cx="3291840" cy="2468880"/>
          </a:xfrm>
          <a:prstGeom prst="rect">
            <a:avLst/>
          </a:prstGeom>
          <a:solidFill>
            <a:srgbClr val="ECFEFF"/>
          </a:solidFill>
          <a:ln w="12700">
            <a:solidFill>
              <a:srgbClr val="0891B2"/>
            </a:solidFill>
            <a:prstDash val="dash"/>
          </a:ln>
        </p:spPr>
      </p:sp>
      <p:sp>
        <p:nvSpPr>
          <p:cNvPr id="36" name="Text 33"/>
          <p:cNvSpPr/>
          <p:nvPr/>
        </p:nvSpPr>
        <p:spPr>
          <a:xfrm>
            <a:off x="8503920" y="3520440"/>
            <a:ext cx="3291840" cy="457200"/>
          </a:xfrm>
          <a:prstGeom prst="rect">
            <a:avLst/>
          </a:prstGeom>
          <a:noFill/>
          <a:ln/>
        </p:spPr>
        <p:txBody>
          <a:bodyPr wrap="square" lIns="0" tIns="0" rIns="0" bIns="0" rtlCol="0" anchor="ctr"/>
          <a:lstStyle/>
          <a:p>
            <a:pPr algn="ctr" indent="0" marL="0">
              <a:buNone/>
            </a:pPr>
            <a:r>
              <a:rPr lang="en-US" sz="2800" dirty="0">
                <a:solidFill>
                  <a:srgbClr val="0891B2"/>
                </a:solidFill>
                <a:latin typeface="Calibri" pitchFamily="34" charset="0"/>
                <a:ea typeface="Calibri" pitchFamily="34" charset="-122"/>
                <a:cs typeface="Calibri" pitchFamily="34" charset="-120"/>
              </a:rPr>
              <a:t>⎘</a:t>
            </a:r>
            <a:endParaRPr lang="en-US" sz="2800" dirty="0"/>
          </a:p>
        </p:txBody>
      </p:sp>
      <p:sp>
        <p:nvSpPr>
          <p:cNvPr id="37" name="Text 34"/>
          <p:cNvSpPr/>
          <p:nvPr/>
        </p:nvSpPr>
        <p:spPr>
          <a:xfrm>
            <a:off x="8503920" y="4023360"/>
            <a:ext cx="3291840" cy="365760"/>
          </a:xfrm>
          <a:prstGeom prst="rect">
            <a:avLst/>
          </a:prstGeom>
          <a:noFill/>
          <a:ln/>
        </p:spPr>
        <p:txBody>
          <a:bodyPr wrap="square" lIns="0" tIns="0" rIns="0" bIns="0" rtlCol="0" anchor="ctr"/>
          <a:lstStyle/>
          <a:p>
            <a:pPr algn="ctr" indent="0" marL="0">
              <a:buNone/>
            </a:pPr>
            <a:r>
              <a:rPr lang="en-US" sz="1100" b="1" dirty="0">
                <a:solidFill>
                  <a:srgbClr val="155E75"/>
                </a:solidFill>
                <a:latin typeface="Calibri" pitchFamily="34" charset="0"/>
                <a:ea typeface="Calibri" pitchFamily="34" charset="-122"/>
                <a:cs typeface="Calibri" pitchFamily="34" charset="-120"/>
              </a:rPr>
              <a:t>Highlights view screenshot</a:t>
            </a:r>
            <a:endParaRPr lang="en-US" sz="1100" dirty="0"/>
          </a:p>
        </p:txBody>
      </p:sp>
      <p:sp>
        <p:nvSpPr>
          <p:cNvPr id="38" name="Text 35"/>
          <p:cNvSpPr/>
          <p:nvPr/>
        </p:nvSpPr>
        <p:spPr>
          <a:xfrm>
            <a:off x="8503920" y="4297680"/>
            <a:ext cx="329184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To be added</a:t>
            </a:r>
            <a:endParaRPr lang="en-US" sz="900" dirty="0"/>
          </a:p>
        </p:txBody>
      </p:sp>
      <p:sp>
        <p:nvSpPr>
          <p:cNvPr id="39" name="Text 36"/>
          <p:cNvSpPr/>
          <p:nvPr/>
        </p:nvSpPr>
        <p:spPr>
          <a:xfrm>
            <a:off x="850392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Click into Highlights for the AI-summarized commentary by theme.</a:t>
            </a:r>
            <a:endParaRPr lang="en-US" sz="1000" dirty="0"/>
          </a:p>
        </p:txBody>
      </p:sp>
      <p:sp>
        <p:nvSpPr>
          <p:cNvPr id="40" name="Text 37"/>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0891B2"/>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SPACES</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Spaces — purpose-built rooms for repeated data pulls</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 / 17</a:t>
            </a:r>
            <a:endParaRPr lang="en-US" sz="1000" dirty="0"/>
          </a:p>
        </p:txBody>
      </p:sp>
      <p:sp>
        <p:nvSpPr>
          <p:cNvPr id="19" name="Shape 17"/>
          <p:cNvSpPr/>
          <p:nvPr/>
        </p:nvSpPr>
        <p:spPr>
          <a:xfrm>
            <a:off x="548640" y="2331720"/>
            <a:ext cx="4114800" cy="1207008"/>
          </a:xfrm>
          <a:prstGeom prst="rect">
            <a:avLst/>
          </a:prstGeom>
          <a:solidFill>
            <a:srgbClr val="F8FAFC"/>
          </a:solidFill>
          <a:ln w="6350">
            <a:solidFill>
              <a:srgbClr val="E2E8F0"/>
            </a:solidFill>
            <a:prstDash val="solid"/>
          </a:ln>
        </p:spPr>
      </p:sp>
      <p:sp>
        <p:nvSpPr>
          <p:cNvPr id="20" name="Shape 18"/>
          <p:cNvSpPr/>
          <p:nvPr/>
        </p:nvSpPr>
        <p:spPr>
          <a:xfrm>
            <a:off x="548640" y="2331720"/>
            <a:ext cx="54864" cy="1207008"/>
          </a:xfrm>
          <a:prstGeom prst="rect">
            <a:avLst/>
          </a:prstGeom>
          <a:solidFill>
            <a:srgbClr val="0891B2"/>
          </a:solidFill>
          <a:ln/>
        </p:spPr>
      </p:sp>
      <p:sp>
        <p:nvSpPr>
          <p:cNvPr id="21" name="Text 19"/>
          <p:cNvSpPr/>
          <p:nvPr/>
        </p:nvSpPr>
        <p:spPr>
          <a:xfrm>
            <a:off x="777240" y="24963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WE'RE DOING</a:t>
            </a:r>
            <a:endParaRPr lang="en-US" sz="900" dirty="0"/>
          </a:p>
        </p:txBody>
      </p:sp>
      <p:sp>
        <p:nvSpPr>
          <p:cNvPr id="22" name="Text 20"/>
          <p:cNvSpPr/>
          <p:nvPr/>
        </p:nvSpPr>
        <p:spPr>
          <a:xfrm>
            <a:off x="777240" y="27889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Create a Space, upload relevant filings, give it custom instructions. Ask precise questions across them.</a:t>
            </a:r>
            <a:endParaRPr lang="en-US" sz="1150" dirty="0"/>
          </a:p>
        </p:txBody>
      </p:sp>
      <p:sp>
        <p:nvSpPr>
          <p:cNvPr id="23" name="Shape 21"/>
          <p:cNvSpPr/>
          <p:nvPr/>
        </p:nvSpPr>
        <p:spPr>
          <a:xfrm>
            <a:off x="548640" y="3703320"/>
            <a:ext cx="4114800" cy="1207008"/>
          </a:xfrm>
          <a:prstGeom prst="rect">
            <a:avLst/>
          </a:prstGeom>
          <a:solidFill>
            <a:srgbClr val="F8FAFC"/>
          </a:solidFill>
          <a:ln w="6350">
            <a:solidFill>
              <a:srgbClr val="E2E8F0"/>
            </a:solidFill>
            <a:prstDash val="solid"/>
          </a:ln>
        </p:spPr>
      </p:sp>
      <p:sp>
        <p:nvSpPr>
          <p:cNvPr id="24" name="Shape 22"/>
          <p:cNvSpPr/>
          <p:nvPr/>
        </p:nvSpPr>
        <p:spPr>
          <a:xfrm>
            <a:off x="548640" y="3703320"/>
            <a:ext cx="54864" cy="1207008"/>
          </a:xfrm>
          <a:prstGeom prst="rect">
            <a:avLst/>
          </a:prstGeom>
          <a:solidFill>
            <a:srgbClr val="0891B2"/>
          </a:solidFill>
          <a:ln/>
        </p:spPr>
      </p:sp>
      <p:sp>
        <p:nvSpPr>
          <p:cNvPr id="25" name="Text 23"/>
          <p:cNvSpPr/>
          <p:nvPr/>
        </p:nvSpPr>
        <p:spPr>
          <a:xfrm>
            <a:off x="777240" y="38679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WHY IT MATTERS</a:t>
            </a:r>
            <a:endParaRPr lang="en-US" sz="900" dirty="0"/>
          </a:p>
        </p:txBody>
      </p:sp>
      <p:sp>
        <p:nvSpPr>
          <p:cNvPr id="26" name="Text 24"/>
          <p:cNvSpPr/>
          <p:nvPr/>
        </p:nvSpPr>
        <p:spPr>
          <a:xfrm>
            <a:off x="777240" y="41605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The same data pulls (volumes, segment breakouts, capex) come up every quarter on the same names.</a:t>
            </a:r>
            <a:endParaRPr lang="en-US" sz="1150" dirty="0"/>
          </a:p>
        </p:txBody>
      </p:sp>
      <p:sp>
        <p:nvSpPr>
          <p:cNvPr id="27" name="Shape 25"/>
          <p:cNvSpPr/>
          <p:nvPr/>
        </p:nvSpPr>
        <p:spPr>
          <a:xfrm>
            <a:off x="548640" y="5074920"/>
            <a:ext cx="4114800" cy="1207008"/>
          </a:xfrm>
          <a:prstGeom prst="rect">
            <a:avLst/>
          </a:prstGeom>
          <a:solidFill>
            <a:srgbClr val="F8FAFC"/>
          </a:solidFill>
          <a:ln w="6350">
            <a:solidFill>
              <a:srgbClr val="E2E8F0"/>
            </a:solidFill>
            <a:prstDash val="solid"/>
          </a:ln>
        </p:spPr>
      </p:sp>
      <p:sp>
        <p:nvSpPr>
          <p:cNvPr id="28" name="Shape 26"/>
          <p:cNvSpPr/>
          <p:nvPr/>
        </p:nvSpPr>
        <p:spPr>
          <a:xfrm>
            <a:off x="548640" y="5074920"/>
            <a:ext cx="54864" cy="1207008"/>
          </a:xfrm>
          <a:prstGeom prst="rect">
            <a:avLst/>
          </a:prstGeom>
          <a:solidFill>
            <a:srgbClr val="0891B2"/>
          </a:solidFill>
          <a:ln/>
        </p:spPr>
      </p:sp>
      <p:sp>
        <p:nvSpPr>
          <p:cNvPr id="29" name="Text 27"/>
          <p:cNvSpPr/>
          <p:nvPr/>
        </p:nvSpPr>
        <p:spPr>
          <a:xfrm>
            <a:off x="777240" y="52395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IT SOLVES</a:t>
            </a:r>
            <a:endParaRPr lang="en-US" sz="900" dirty="0"/>
          </a:p>
        </p:txBody>
      </p:sp>
      <p:sp>
        <p:nvSpPr>
          <p:cNvPr id="30" name="Text 28"/>
          <p:cNvSpPr/>
          <p:nvPr/>
        </p:nvSpPr>
        <p:spPr>
          <a:xfrm>
            <a:off x="777240" y="55321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Re-opening 5 PDFs and Ctrl-F'ing through them every time I need a number. Output cites only the docs I uploaded.</a:t>
            </a:r>
            <a:endParaRPr lang="en-US" sz="1150" dirty="0"/>
          </a:p>
        </p:txBody>
      </p:sp>
      <p:sp>
        <p:nvSpPr>
          <p:cNvPr id="31" name="Text 29"/>
          <p:cNvSpPr/>
          <p:nvPr/>
        </p:nvSpPr>
        <p:spPr>
          <a:xfrm>
            <a:off x="493776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SETUP — ADANI PORTS</a:t>
            </a:r>
            <a:endParaRPr lang="en-US" sz="900" dirty="0"/>
          </a:p>
        </p:txBody>
      </p:sp>
      <p:sp>
        <p:nvSpPr>
          <p:cNvPr id="32" name="Text 30"/>
          <p:cNvSpPr/>
          <p:nvPr/>
        </p:nvSpPr>
        <p:spPr>
          <a:xfrm>
            <a:off x="850392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OUTPUT — A CLEAN TABLE</a:t>
            </a:r>
            <a:endParaRPr lang="en-US" sz="900" dirty="0"/>
          </a:p>
        </p:txBody>
      </p:sp>
      <p:pic>
        <p:nvPicPr>
          <p:cNvPr id="33" name="Image 0" descr="/home/claude/deck/images_small/img04_adani_space.jpg">    </p:cNvPr>
          <p:cNvPicPr>
            <a:picLocks noChangeAspect="1"/>
          </p:cNvPicPr>
          <p:nvPr/>
        </p:nvPicPr>
        <p:blipFill>
          <a:blip r:embed="rId1"/>
          <a:srcRect l="0" r="0" t="0" b="0"/>
          <a:stretch/>
        </p:blipFill>
        <p:spPr>
          <a:xfrm>
            <a:off x="4937760" y="2606040"/>
            <a:ext cx="3291840" cy="2468880"/>
          </a:xfrm>
          <a:prstGeom prst="rect">
            <a:avLst/>
          </a:prstGeom>
        </p:spPr>
      </p:pic>
      <p:sp>
        <p:nvSpPr>
          <p:cNvPr id="34" name="Text 31"/>
          <p:cNvSpPr/>
          <p:nvPr/>
        </p:nvSpPr>
        <p:spPr>
          <a:xfrm>
            <a:off x="493776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Custom instructions + uploaded filings define a guarded scope.</a:t>
            </a:r>
            <a:endParaRPr lang="en-US" sz="1000" dirty="0"/>
          </a:p>
        </p:txBody>
      </p:sp>
      <p:pic>
        <p:nvPicPr>
          <p:cNvPr id="35" name="Image 1" descr="/home/claude/deck/images_small/img02_adani_table.jpg">    </p:cNvPr>
          <p:cNvPicPr>
            <a:picLocks noChangeAspect="1"/>
          </p:cNvPicPr>
          <p:nvPr/>
        </p:nvPicPr>
        <p:blipFill>
          <a:blip r:embed="rId2"/>
          <a:srcRect l="0" r="0" t="0" b="0"/>
          <a:stretch/>
        </p:blipFill>
        <p:spPr>
          <a:xfrm>
            <a:off x="8503920" y="2606040"/>
            <a:ext cx="3291840" cy="2468880"/>
          </a:xfrm>
          <a:prstGeom prst="rect">
            <a:avLst/>
          </a:prstGeom>
        </p:spPr>
      </p:pic>
      <p:sp>
        <p:nvSpPr>
          <p:cNvPr id="36" name="Text 32"/>
          <p:cNvSpPr/>
          <p:nvPr/>
        </p:nvSpPr>
        <p:spPr>
          <a:xfrm>
            <a:off x="850392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Quarter-wise international cargo volume, sourced from my uploaded filings.</a:t>
            </a:r>
            <a:endParaRPr lang="en-US" sz="1000" dirty="0"/>
          </a:p>
        </p:txBody>
      </p:sp>
      <p:sp>
        <p:nvSpPr>
          <p:cNvPr id="37" name="Text 33"/>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0891B2"/>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F1F5F9"/>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SPACES</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Spaces — capture our house voice for rephrasing</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 / 17</a:t>
            </a:r>
            <a:endParaRPr lang="en-US" sz="1000" dirty="0"/>
          </a:p>
        </p:txBody>
      </p:sp>
      <p:sp>
        <p:nvSpPr>
          <p:cNvPr id="19" name="Shape 17"/>
          <p:cNvSpPr/>
          <p:nvPr/>
        </p:nvSpPr>
        <p:spPr>
          <a:xfrm>
            <a:off x="548640" y="2331720"/>
            <a:ext cx="4114800" cy="1207008"/>
          </a:xfrm>
          <a:prstGeom prst="rect">
            <a:avLst/>
          </a:prstGeom>
          <a:solidFill>
            <a:srgbClr val="F8FAFC"/>
          </a:solidFill>
          <a:ln w="6350">
            <a:solidFill>
              <a:srgbClr val="E2E8F0"/>
            </a:solidFill>
            <a:prstDash val="solid"/>
          </a:ln>
        </p:spPr>
      </p:sp>
      <p:sp>
        <p:nvSpPr>
          <p:cNvPr id="20" name="Shape 18"/>
          <p:cNvSpPr/>
          <p:nvPr/>
        </p:nvSpPr>
        <p:spPr>
          <a:xfrm>
            <a:off x="548640" y="2331720"/>
            <a:ext cx="54864" cy="1207008"/>
          </a:xfrm>
          <a:prstGeom prst="rect">
            <a:avLst/>
          </a:prstGeom>
          <a:solidFill>
            <a:srgbClr val="0891B2"/>
          </a:solidFill>
          <a:ln/>
        </p:spPr>
      </p:sp>
      <p:sp>
        <p:nvSpPr>
          <p:cNvPr id="21" name="Text 19"/>
          <p:cNvSpPr/>
          <p:nvPr/>
        </p:nvSpPr>
        <p:spPr>
          <a:xfrm>
            <a:off x="777240" y="24963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WE'RE DOING</a:t>
            </a:r>
            <a:endParaRPr lang="en-US" sz="900" dirty="0"/>
          </a:p>
        </p:txBody>
      </p:sp>
      <p:sp>
        <p:nvSpPr>
          <p:cNvPr id="22" name="Text 20"/>
          <p:cNvSpPr/>
          <p:nvPr/>
        </p:nvSpPr>
        <p:spPr>
          <a:xfrm>
            <a:off x="777240" y="27889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A Space configured with style instructions: rephrase anything I paste in to sound like a published Bernstein note.</a:t>
            </a:r>
            <a:endParaRPr lang="en-US" sz="1150" dirty="0"/>
          </a:p>
        </p:txBody>
      </p:sp>
      <p:sp>
        <p:nvSpPr>
          <p:cNvPr id="23" name="Shape 21"/>
          <p:cNvSpPr/>
          <p:nvPr/>
        </p:nvSpPr>
        <p:spPr>
          <a:xfrm>
            <a:off x="548640" y="3703320"/>
            <a:ext cx="4114800" cy="1207008"/>
          </a:xfrm>
          <a:prstGeom prst="rect">
            <a:avLst/>
          </a:prstGeom>
          <a:solidFill>
            <a:srgbClr val="F8FAFC"/>
          </a:solidFill>
          <a:ln w="6350">
            <a:solidFill>
              <a:srgbClr val="E2E8F0"/>
            </a:solidFill>
            <a:prstDash val="solid"/>
          </a:ln>
        </p:spPr>
      </p:sp>
      <p:sp>
        <p:nvSpPr>
          <p:cNvPr id="24" name="Shape 22"/>
          <p:cNvSpPr/>
          <p:nvPr/>
        </p:nvSpPr>
        <p:spPr>
          <a:xfrm>
            <a:off x="548640" y="3703320"/>
            <a:ext cx="54864" cy="1207008"/>
          </a:xfrm>
          <a:prstGeom prst="rect">
            <a:avLst/>
          </a:prstGeom>
          <a:solidFill>
            <a:srgbClr val="0891B2"/>
          </a:solidFill>
          <a:ln/>
        </p:spPr>
      </p:sp>
      <p:sp>
        <p:nvSpPr>
          <p:cNvPr id="25" name="Text 23"/>
          <p:cNvSpPr/>
          <p:nvPr/>
        </p:nvSpPr>
        <p:spPr>
          <a:xfrm>
            <a:off x="777240" y="38679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WHY IT MATTERS</a:t>
            </a:r>
            <a:endParaRPr lang="en-US" sz="900" dirty="0"/>
          </a:p>
        </p:txBody>
      </p:sp>
      <p:sp>
        <p:nvSpPr>
          <p:cNvPr id="26" name="Text 24"/>
          <p:cNvSpPr/>
          <p:nvPr/>
        </p:nvSpPr>
        <p:spPr>
          <a:xfrm>
            <a:off x="777240" y="41605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AI drafts are fast but generic. The tone shows up immediately in published research and undermines credibility.</a:t>
            </a:r>
            <a:endParaRPr lang="en-US" sz="1150" dirty="0"/>
          </a:p>
        </p:txBody>
      </p:sp>
      <p:sp>
        <p:nvSpPr>
          <p:cNvPr id="27" name="Shape 25"/>
          <p:cNvSpPr/>
          <p:nvPr/>
        </p:nvSpPr>
        <p:spPr>
          <a:xfrm>
            <a:off x="548640" y="5074920"/>
            <a:ext cx="4114800" cy="1207008"/>
          </a:xfrm>
          <a:prstGeom prst="rect">
            <a:avLst/>
          </a:prstGeom>
          <a:solidFill>
            <a:srgbClr val="F8FAFC"/>
          </a:solidFill>
          <a:ln w="6350">
            <a:solidFill>
              <a:srgbClr val="E2E8F0"/>
            </a:solidFill>
            <a:prstDash val="solid"/>
          </a:ln>
        </p:spPr>
      </p:sp>
      <p:sp>
        <p:nvSpPr>
          <p:cNvPr id="28" name="Shape 26"/>
          <p:cNvSpPr/>
          <p:nvPr/>
        </p:nvSpPr>
        <p:spPr>
          <a:xfrm>
            <a:off x="548640" y="5074920"/>
            <a:ext cx="54864" cy="1207008"/>
          </a:xfrm>
          <a:prstGeom prst="rect">
            <a:avLst/>
          </a:prstGeom>
          <a:solidFill>
            <a:srgbClr val="0891B2"/>
          </a:solidFill>
          <a:ln/>
        </p:spPr>
      </p:sp>
      <p:sp>
        <p:nvSpPr>
          <p:cNvPr id="29" name="Text 27"/>
          <p:cNvSpPr/>
          <p:nvPr/>
        </p:nvSpPr>
        <p:spPr>
          <a:xfrm>
            <a:off x="777240" y="5239512"/>
            <a:ext cx="37490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WHAT IT SOLVES</a:t>
            </a:r>
            <a:endParaRPr lang="en-US" sz="900" dirty="0"/>
          </a:p>
        </p:txBody>
      </p:sp>
      <p:sp>
        <p:nvSpPr>
          <p:cNvPr id="30" name="Text 28"/>
          <p:cNvSpPr/>
          <p:nvPr/>
        </p:nvSpPr>
        <p:spPr>
          <a:xfrm>
            <a:off x="777240" y="5532120"/>
            <a:ext cx="3749040" cy="612648"/>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Spending 10 minutes rewording every AI draft to make it sound like us. Now I get the speed without the AI tell.</a:t>
            </a:r>
            <a:endParaRPr lang="en-US" sz="1150" dirty="0"/>
          </a:p>
        </p:txBody>
      </p:sp>
      <p:sp>
        <p:nvSpPr>
          <p:cNvPr id="31" name="Text 29"/>
          <p:cNvSpPr/>
          <p:nvPr/>
        </p:nvSpPr>
        <p:spPr>
          <a:xfrm>
            <a:off x="493776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SETUP — REPHRASE SPACE</a:t>
            </a:r>
            <a:endParaRPr lang="en-US" sz="900" dirty="0"/>
          </a:p>
        </p:txBody>
      </p:sp>
      <p:sp>
        <p:nvSpPr>
          <p:cNvPr id="32" name="Text 30"/>
          <p:cNvSpPr/>
          <p:nvPr/>
        </p:nvSpPr>
        <p:spPr>
          <a:xfrm>
            <a:off x="8503920" y="2331720"/>
            <a:ext cx="3291840" cy="27432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OUTPUT — POLISHED PARAGRAPH</a:t>
            </a:r>
            <a:endParaRPr lang="en-US" sz="900" dirty="0"/>
          </a:p>
        </p:txBody>
      </p:sp>
      <p:pic>
        <p:nvPicPr>
          <p:cNvPr id="33" name="Image 0" descr="/home/claude/deck/images_small/img03_rephrase_space.jpg">    </p:cNvPr>
          <p:cNvPicPr>
            <a:picLocks noChangeAspect="1"/>
          </p:cNvPicPr>
          <p:nvPr/>
        </p:nvPicPr>
        <p:blipFill>
          <a:blip r:embed="rId1"/>
          <a:srcRect l="0" r="0" t="0" b="0"/>
          <a:stretch/>
        </p:blipFill>
        <p:spPr>
          <a:xfrm>
            <a:off x="4937760" y="2606040"/>
            <a:ext cx="3291840" cy="2468880"/>
          </a:xfrm>
          <a:prstGeom prst="rect">
            <a:avLst/>
          </a:prstGeom>
        </p:spPr>
      </p:pic>
      <p:sp>
        <p:nvSpPr>
          <p:cNvPr id="34" name="Text 31"/>
          <p:cNvSpPr/>
          <p:nvPr/>
        </p:nvSpPr>
        <p:spPr>
          <a:xfrm>
            <a:off x="493776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Instructions: "Rephrase like a Bernstein sell-side analyst. No jargon. One paragraph. Crisp."</a:t>
            </a:r>
            <a:endParaRPr lang="en-US" sz="1000" dirty="0"/>
          </a:p>
        </p:txBody>
      </p:sp>
      <p:pic>
        <p:nvPicPr>
          <p:cNvPr id="35" name="Image 1" descr="/home/claude/deck/images_small/img01_rephrase_output.jpg">    </p:cNvPr>
          <p:cNvPicPr>
            <a:picLocks noChangeAspect="1"/>
          </p:cNvPicPr>
          <p:nvPr/>
        </p:nvPicPr>
        <p:blipFill>
          <a:blip r:embed="rId2"/>
          <a:srcRect l="0" r="0" t="0" b="0"/>
          <a:stretch/>
        </p:blipFill>
        <p:spPr>
          <a:xfrm>
            <a:off x="8503920" y="2606040"/>
            <a:ext cx="3291840" cy="2468880"/>
          </a:xfrm>
          <a:prstGeom prst="rect">
            <a:avLst/>
          </a:prstGeom>
        </p:spPr>
      </p:pic>
      <p:sp>
        <p:nvSpPr>
          <p:cNvPr id="36" name="Text 32"/>
          <p:cNvSpPr/>
          <p:nvPr/>
        </p:nvSpPr>
        <p:spPr>
          <a:xfrm>
            <a:off x="8503920" y="5120640"/>
            <a:ext cx="3291840" cy="457200"/>
          </a:xfrm>
          <a:prstGeom prst="rect">
            <a:avLst/>
          </a:prstGeom>
          <a:noFill/>
          <a:ln/>
        </p:spPr>
        <p:txBody>
          <a:bodyPr wrap="square" lIns="0" tIns="0" rIns="0" bIns="0" rtlCol="0" anchor="ctr"/>
          <a:lstStyle/>
          <a:p>
            <a:pPr algn="ctr" indent="0" marL="0">
              <a:lnSpc>
                <a:spcPct val="125000"/>
              </a:lnSpc>
              <a:buNone/>
            </a:pPr>
            <a:r>
              <a:rPr lang="en-US" sz="1000" i="1" dirty="0">
                <a:solidFill>
                  <a:srgbClr val="64748B"/>
                </a:solidFill>
                <a:latin typeface="Calibri" pitchFamily="34" charset="0"/>
                <a:ea typeface="Calibri" pitchFamily="34" charset="-122"/>
                <a:cs typeface="Calibri" pitchFamily="34" charset="-120"/>
              </a:rPr>
              <a:t>Raw bullets in. Result-note opening paragraph out. Reusable for every result.</a:t>
            </a:r>
            <a:endParaRPr lang="en-US" sz="1000" dirty="0"/>
          </a:p>
        </p:txBody>
      </p:sp>
      <p:sp>
        <p:nvSpPr>
          <p:cNvPr id="37" name="Text 33"/>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0891B2"/>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LIMITS</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Where NOT to use Perplexity — hard rules</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 / 17</a:t>
            </a:r>
            <a:endParaRPr lang="en-US" sz="1000" dirty="0"/>
          </a:p>
        </p:txBody>
      </p:sp>
      <p:sp>
        <p:nvSpPr>
          <p:cNvPr id="19" name="Text 17"/>
          <p:cNvSpPr/>
          <p:nvPr/>
        </p:nvSpPr>
        <p:spPr>
          <a:xfrm>
            <a:off x="548640" y="18745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Four lines I don't cross. The presentation loses credibility if we pretend they don't exist.</a:t>
            </a:r>
            <a:endParaRPr lang="en-US" sz="1300" dirty="0"/>
          </a:p>
        </p:txBody>
      </p:sp>
      <p:sp>
        <p:nvSpPr>
          <p:cNvPr id="20" name="Shape 18"/>
          <p:cNvSpPr/>
          <p:nvPr/>
        </p:nvSpPr>
        <p:spPr>
          <a:xfrm>
            <a:off x="548640" y="2377440"/>
            <a:ext cx="5532120" cy="1874520"/>
          </a:xfrm>
          <a:prstGeom prst="rect">
            <a:avLst/>
          </a:prstGeom>
          <a:solidFill>
            <a:srgbClr val="FFFFFF"/>
          </a:solidFill>
          <a:ln w="12700">
            <a:solidFill>
              <a:srgbClr val="E2E8F0"/>
            </a:solidFill>
            <a:prstDash val="solid"/>
          </a:ln>
        </p:spPr>
      </p:sp>
      <p:sp>
        <p:nvSpPr>
          <p:cNvPr id="21" name="Shape 19"/>
          <p:cNvSpPr/>
          <p:nvPr/>
        </p:nvSpPr>
        <p:spPr>
          <a:xfrm>
            <a:off x="548640" y="2377440"/>
            <a:ext cx="73152" cy="1874520"/>
          </a:xfrm>
          <a:prstGeom prst="rect">
            <a:avLst/>
          </a:prstGeom>
          <a:solidFill>
            <a:srgbClr val="9B2C2C"/>
          </a:solidFill>
          <a:ln/>
        </p:spPr>
      </p:sp>
      <p:sp>
        <p:nvSpPr>
          <p:cNvPr id="22" name="Text 20"/>
          <p:cNvSpPr/>
          <p:nvPr/>
        </p:nvSpPr>
        <p:spPr>
          <a:xfrm>
            <a:off x="777240" y="2560320"/>
            <a:ext cx="365760" cy="36576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3" name="Text 21"/>
          <p:cNvSpPr/>
          <p:nvPr/>
        </p:nvSpPr>
        <p:spPr>
          <a:xfrm>
            <a:off x="1188720" y="2542032"/>
            <a:ext cx="470916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Quant data &amp; financial statements</a:t>
            </a:r>
            <a:endParaRPr lang="en-US" sz="1500" dirty="0"/>
          </a:p>
        </p:txBody>
      </p:sp>
      <p:sp>
        <p:nvSpPr>
          <p:cNvPr id="24" name="Text 22"/>
          <p:cNvSpPr/>
          <p:nvPr/>
        </p:nvSpPr>
        <p:spPr>
          <a:xfrm>
            <a:off x="1188720" y="3017520"/>
            <a:ext cx="4709160" cy="77724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Numerical precision is unreliable. It will confidently misreport a margin or growth figure.</a:t>
            </a:r>
            <a:endParaRPr lang="en-US" sz="1100" dirty="0"/>
          </a:p>
        </p:txBody>
      </p:sp>
      <p:sp>
        <p:nvSpPr>
          <p:cNvPr id="25" name="Text 23"/>
          <p:cNvSpPr/>
          <p:nvPr/>
        </p:nvSpPr>
        <p:spPr>
          <a:xfrm>
            <a:off x="1188720" y="3794760"/>
            <a:ext cx="4709160" cy="36576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USE INSTEAD  </a:t>
            </a:r>
            <a:pPr indent="0" marL="0">
              <a:buNone/>
            </a:pPr>
            <a:r>
              <a:rPr lang="en-US" sz="1050" i="1" dirty="0">
                <a:solidFill>
                  <a:srgbClr val="64748B"/>
                </a:solidFill>
                <a:latin typeface="Calibri" pitchFamily="34" charset="0"/>
                <a:ea typeface="Calibri" pitchFamily="34" charset="-122"/>
                <a:cs typeface="Calibri" pitchFamily="34" charset="-120"/>
              </a:rPr>
              <a:t>Bloomberg, AlphaSense Financials, the source filing.</a:t>
            </a:r>
            <a:endParaRPr lang="en-US" sz="900" dirty="0"/>
          </a:p>
        </p:txBody>
      </p:sp>
      <p:sp>
        <p:nvSpPr>
          <p:cNvPr id="26" name="Shape 24"/>
          <p:cNvSpPr/>
          <p:nvPr/>
        </p:nvSpPr>
        <p:spPr>
          <a:xfrm>
            <a:off x="6263640" y="2377440"/>
            <a:ext cx="5532120" cy="1874520"/>
          </a:xfrm>
          <a:prstGeom prst="rect">
            <a:avLst/>
          </a:prstGeom>
          <a:solidFill>
            <a:srgbClr val="FFFFFF"/>
          </a:solidFill>
          <a:ln w="12700">
            <a:solidFill>
              <a:srgbClr val="E2E8F0"/>
            </a:solidFill>
            <a:prstDash val="solid"/>
          </a:ln>
        </p:spPr>
      </p:sp>
      <p:sp>
        <p:nvSpPr>
          <p:cNvPr id="27" name="Shape 25"/>
          <p:cNvSpPr/>
          <p:nvPr/>
        </p:nvSpPr>
        <p:spPr>
          <a:xfrm>
            <a:off x="6263640" y="2377440"/>
            <a:ext cx="73152" cy="1874520"/>
          </a:xfrm>
          <a:prstGeom prst="rect">
            <a:avLst/>
          </a:prstGeom>
          <a:solidFill>
            <a:srgbClr val="9B2C2C"/>
          </a:solidFill>
          <a:ln/>
        </p:spPr>
      </p:sp>
      <p:sp>
        <p:nvSpPr>
          <p:cNvPr id="28" name="Text 26"/>
          <p:cNvSpPr/>
          <p:nvPr/>
        </p:nvSpPr>
        <p:spPr>
          <a:xfrm>
            <a:off x="6492240" y="2560320"/>
            <a:ext cx="365760" cy="36576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9" name="Text 27"/>
          <p:cNvSpPr/>
          <p:nvPr/>
        </p:nvSpPr>
        <p:spPr>
          <a:xfrm>
            <a:off x="6903720" y="2542032"/>
            <a:ext cx="470916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Direct quotes in published notes</a:t>
            </a:r>
            <a:endParaRPr lang="en-US" sz="1500" dirty="0"/>
          </a:p>
        </p:txBody>
      </p:sp>
      <p:sp>
        <p:nvSpPr>
          <p:cNvPr id="30" name="Text 28"/>
          <p:cNvSpPr/>
          <p:nvPr/>
        </p:nvSpPr>
        <p:spPr>
          <a:xfrm>
            <a:off x="6903720" y="3017520"/>
            <a:ext cx="4709160" cy="77724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Quoted text occasionally drifts from the source. URLs occasionally hallucinate.</a:t>
            </a:r>
            <a:endParaRPr lang="en-US" sz="1100" dirty="0"/>
          </a:p>
        </p:txBody>
      </p:sp>
      <p:sp>
        <p:nvSpPr>
          <p:cNvPr id="31" name="Text 29"/>
          <p:cNvSpPr/>
          <p:nvPr/>
        </p:nvSpPr>
        <p:spPr>
          <a:xfrm>
            <a:off x="6903720" y="3794760"/>
            <a:ext cx="4709160" cy="36576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USE INSTEAD  </a:t>
            </a:r>
            <a:pPr indent="0" marL="0">
              <a:buNone/>
            </a:pPr>
            <a:r>
              <a:rPr lang="en-US" sz="1050" i="1" dirty="0">
                <a:solidFill>
                  <a:srgbClr val="64748B"/>
                </a:solidFill>
                <a:latin typeface="Calibri" pitchFamily="34" charset="0"/>
                <a:ea typeface="Calibri" pitchFamily="34" charset="-122"/>
                <a:cs typeface="Calibri" pitchFamily="34" charset="-120"/>
              </a:rPr>
              <a:t>Always open the cited URL and copy from there.</a:t>
            </a:r>
            <a:endParaRPr lang="en-US" sz="900" dirty="0"/>
          </a:p>
        </p:txBody>
      </p:sp>
      <p:sp>
        <p:nvSpPr>
          <p:cNvPr id="32" name="Shape 30"/>
          <p:cNvSpPr/>
          <p:nvPr/>
        </p:nvSpPr>
        <p:spPr>
          <a:xfrm>
            <a:off x="548640" y="4389120"/>
            <a:ext cx="5532120" cy="1874520"/>
          </a:xfrm>
          <a:prstGeom prst="rect">
            <a:avLst/>
          </a:prstGeom>
          <a:solidFill>
            <a:srgbClr val="FFFFFF"/>
          </a:solidFill>
          <a:ln w="12700">
            <a:solidFill>
              <a:srgbClr val="E2E8F0"/>
            </a:solidFill>
            <a:prstDash val="solid"/>
          </a:ln>
        </p:spPr>
      </p:sp>
      <p:sp>
        <p:nvSpPr>
          <p:cNvPr id="33" name="Shape 31"/>
          <p:cNvSpPr/>
          <p:nvPr/>
        </p:nvSpPr>
        <p:spPr>
          <a:xfrm>
            <a:off x="548640" y="4389120"/>
            <a:ext cx="73152" cy="1874520"/>
          </a:xfrm>
          <a:prstGeom prst="rect">
            <a:avLst/>
          </a:prstGeom>
          <a:solidFill>
            <a:srgbClr val="9B2C2C"/>
          </a:solidFill>
          <a:ln/>
        </p:spPr>
      </p:sp>
      <p:sp>
        <p:nvSpPr>
          <p:cNvPr id="34" name="Text 32"/>
          <p:cNvSpPr/>
          <p:nvPr/>
        </p:nvSpPr>
        <p:spPr>
          <a:xfrm>
            <a:off x="777240" y="4572000"/>
            <a:ext cx="365760" cy="36576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35" name="Text 33"/>
          <p:cNvSpPr/>
          <p:nvPr/>
        </p:nvSpPr>
        <p:spPr>
          <a:xfrm>
            <a:off x="1188720" y="4553712"/>
            <a:ext cx="470916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Anything MNPI or potentially-MNPI</a:t>
            </a:r>
            <a:endParaRPr lang="en-US" sz="1500" dirty="0"/>
          </a:p>
        </p:txBody>
      </p:sp>
      <p:sp>
        <p:nvSpPr>
          <p:cNvPr id="36" name="Text 34"/>
          <p:cNvSpPr/>
          <p:nvPr/>
        </p:nvSpPr>
        <p:spPr>
          <a:xfrm>
            <a:off x="1188720" y="5029200"/>
            <a:ext cx="4709160" cy="77724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No client names. No draft views. No positioning. No deal chatter.</a:t>
            </a:r>
            <a:endParaRPr lang="en-US" sz="1100" dirty="0"/>
          </a:p>
        </p:txBody>
      </p:sp>
      <p:sp>
        <p:nvSpPr>
          <p:cNvPr id="37" name="Text 35"/>
          <p:cNvSpPr/>
          <p:nvPr/>
        </p:nvSpPr>
        <p:spPr>
          <a:xfrm>
            <a:off x="1188720" y="5806440"/>
            <a:ext cx="4709160" cy="36576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USE INSTEAD  </a:t>
            </a:r>
            <a:pPr indent="0" marL="0">
              <a:buNone/>
            </a:pPr>
            <a:r>
              <a:rPr lang="en-US" sz="1050" i="1" dirty="0">
                <a:solidFill>
                  <a:srgbClr val="64748B"/>
                </a:solidFill>
                <a:latin typeface="Calibri" pitchFamily="34" charset="0"/>
                <a:ea typeface="Calibri" pitchFamily="34" charset="-122"/>
                <a:cs typeface="Calibri" pitchFamily="34" charset="-120"/>
              </a:rPr>
              <a:t>If in doubt, don't prompt it. Ask Compliance.</a:t>
            </a:r>
            <a:endParaRPr lang="en-US" sz="900" dirty="0"/>
          </a:p>
        </p:txBody>
      </p:sp>
      <p:sp>
        <p:nvSpPr>
          <p:cNvPr id="38" name="Shape 36"/>
          <p:cNvSpPr/>
          <p:nvPr/>
        </p:nvSpPr>
        <p:spPr>
          <a:xfrm>
            <a:off x="6263640" y="4389120"/>
            <a:ext cx="5532120" cy="1874520"/>
          </a:xfrm>
          <a:prstGeom prst="rect">
            <a:avLst/>
          </a:prstGeom>
          <a:solidFill>
            <a:srgbClr val="FFFFFF"/>
          </a:solidFill>
          <a:ln w="12700">
            <a:solidFill>
              <a:srgbClr val="E2E8F0"/>
            </a:solidFill>
            <a:prstDash val="solid"/>
          </a:ln>
        </p:spPr>
      </p:sp>
      <p:sp>
        <p:nvSpPr>
          <p:cNvPr id="39" name="Shape 37"/>
          <p:cNvSpPr/>
          <p:nvPr/>
        </p:nvSpPr>
        <p:spPr>
          <a:xfrm>
            <a:off x="6263640" y="4389120"/>
            <a:ext cx="73152" cy="1874520"/>
          </a:xfrm>
          <a:prstGeom prst="rect">
            <a:avLst/>
          </a:prstGeom>
          <a:solidFill>
            <a:srgbClr val="9B2C2C"/>
          </a:solidFill>
          <a:ln/>
        </p:spPr>
      </p:sp>
      <p:sp>
        <p:nvSpPr>
          <p:cNvPr id="40" name="Text 38"/>
          <p:cNvSpPr/>
          <p:nvPr/>
        </p:nvSpPr>
        <p:spPr>
          <a:xfrm>
            <a:off x="6492240" y="4572000"/>
            <a:ext cx="365760" cy="36576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41" name="Text 39"/>
          <p:cNvSpPr/>
          <p:nvPr/>
        </p:nvSpPr>
        <p:spPr>
          <a:xfrm>
            <a:off x="6903720" y="4553712"/>
            <a:ext cx="470916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Niche topics — small geos, micro-caps</a:t>
            </a:r>
            <a:endParaRPr lang="en-US" sz="1500" dirty="0"/>
          </a:p>
        </p:txBody>
      </p:sp>
      <p:sp>
        <p:nvSpPr>
          <p:cNvPr id="42" name="Text 40"/>
          <p:cNvSpPr/>
          <p:nvPr/>
        </p:nvSpPr>
        <p:spPr>
          <a:xfrm>
            <a:off x="6903720" y="5029200"/>
            <a:ext cx="4709160" cy="77724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Hallucination risk peaks where web coverage is thin.</a:t>
            </a:r>
            <a:endParaRPr lang="en-US" sz="1100" dirty="0"/>
          </a:p>
        </p:txBody>
      </p:sp>
      <p:sp>
        <p:nvSpPr>
          <p:cNvPr id="43" name="Text 41"/>
          <p:cNvSpPr/>
          <p:nvPr/>
        </p:nvSpPr>
        <p:spPr>
          <a:xfrm>
            <a:off x="6903720" y="5806440"/>
            <a:ext cx="4709160" cy="365760"/>
          </a:xfrm>
          <a:prstGeom prst="rect">
            <a:avLst/>
          </a:prstGeom>
          <a:noFill/>
          <a:ln/>
        </p:spPr>
        <p:txBody>
          <a:bodyPr wrap="square" lIns="0" tIns="0" rIns="0" bIns="0" rtlCol="0" anchor="ctr"/>
          <a:lstStyle/>
          <a:p>
            <a:pPr indent="0" marL="0">
              <a:buNone/>
            </a:pPr>
            <a:r>
              <a:rPr lang="en-US" sz="900" b="1" spc="300" kern="0" dirty="0">
                <a:solidFill>
                  <a:srgbClr val="0891B2"/>
                </a:solidFill>
                <a:latin typeface="Calibri" pitchFamily="34" charset="0"/>
                <a:ea typeface="Calibri" pitchFamily="34" charset="-122"/>
                <a:cs typeface="Calibri" pitchFamily="34" charset="-120"/>
              </a:rPr>
              <a:t>USE INSTEAD  </a:t>
            </a:r>
            <a:pPr indent="0" marL="0">
              <a:buNone/>
            </a:pPr>
            <a:r>
              <a:rPr lang="en-US" sz="1050" i="1" dirty="0">
                <a:solidFill>
                  <a:srgbClr val="64748B"/>
                </a:solidFill>
                <a:latin typeface="Calibri" pitchFamily="34" charset="0"/>
                <a:ea typeface="Calibri" pitchFamily="34" charset="-122"/>
                <a:cs typeface="Calibri" pitchFamily="34" charset="-120"/>
              </a:rPr>
              <a:t>Verify against a primary source before any external use.</a:t>
            </a:r>
            <a:endParaRPr lang="en-US" sz="900" dirty="0"/>
          </a:p>
        </p:txBody>
      </p:sp>
      <p:sp>
        <p:nvSpPr>
          <p:cNvPr id="44" name="Text 42"/>
          <p:cNvSpPr/>
          <p:nvPr/>
        </p:nvSpPr>
        <p:spPr>
          <a:xfrm>
            <a:off x="548640" y="6400800"/>
            <a:ext cx="11064240" cy="274320"/>
          </a:xfrm>
          <a:prstGeom prst="rect">
            <a:avLst/>
          </a:prstGeom>
          <a:noFill/>
          <a:ln/>
        </p:spPr>
        <p:txBody>
          <a:bodyPr wrap="square" lIns="0" tIns="0" rIns="0" bIns="0" rtlCol="0" anchor="ctr"/>
          <a:lstStyle/>
          <a:p>
            <a:pPr indent="0" marL="0">
              <a:buNone/>
            </a:pPr>
            <a:r>
              <a:rPr lang="en-US" sz="1100" b="1" i="1" dirty="0">
                <a:solidFill>
                  <a:srgbClr val="1E293B"/>
                </a:solidFill>
                <a:latin typeface="Calibri" pitchFamily="34" charset="0"/>
                <a:ea typeface="Calibri" pitchFamily="34" charset="-122"/>
                <a:cs typeface="Calibri" pitchFamily="34" charset="-120"/>
              </a:rPr>
              <a:t>Rule of thumb — if the answer ends up in a published note, the source must be opened and verified.</a:t>
            </a:r>
            <a:endParaRPr lang="en-US" sz="1100" dirty="0"/>
          </a:p>
        </p:txBody>
      </p:sp>
      <p:sp>
        <p:nvSpPr>
          <p:cNvPr id="45" name="Text 43"/>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F1F5F9"/>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F1F5F9"/>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F1F5F9"/>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F1F5F9"/>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F1F5F9"/>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0891B2"/>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F1F5F9"/>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94A3B8"/>
                </a:solidFill>
                <a:latin typeface="Calibri" pitchFamily="34" charset="0"/>
                <a:ea typeface="Calibri" pitchFamily="34" charset="-122"/>
                <a:cs typeface="Calibri" pitchFamily="34" charset="-120"/>
              </a:rPr>
              <a:t>START</a:t>
            </a:r>
            <a:endParaRPr lang="en-US" sz="900" dirty="0"/>
          </a:p>
        </p:txBody>
      </p:sp>
      <p:sp>
        <p:nvSpPr>
          <p:cNvPr id="16" name="Text 14"/>
          <p:cNvSpPr/>
          <p:nvPr/>
        </p:nvSpPr>
        <p:spPr>
          <a:xfrm>
            <a:off x="548640" y="804672"/>
            <a:ext cx="82296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LIMITS</a:t>
            </a:r>
            <a:endParaRPr lang="en-US" sz="1000" dirty="0"/>
          </a:p>
        </p:txBody>
      </p:sp>
      <p:sp>
        <p:nvSpPr>
          <p:cNvPr id="17" name="Text 15"/>
          <p:cNvSpPr/>
          <p:nvPr/>
        </p:nvSpPr>
        <p:spPr>
          <a:xfrm>
            <a:off x="548640" y="1078992"/>
            <a:ext cx="10515600" cy="6858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Use with caution — second-order risks</a:t>
            </a:r>
            <a:endParaRPr lang="en-US" sz="2600" dirty="0"/>
          </a:p>
        </p:txBody>
      </p:sp>
      <p:sp>
        <p:nvSpPr>
          <p:cNvPr id="18" name="Text 16"/>
          <p:cNvSpPr/>
          <p:nvPr/>
        </p:nvSpPr>
        <p:spPr>
          <a:xfrm>
            <a:off x="10789920" y="80467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 / 17</a:t>
            </a:r>
            <a:endParaRPr lang="en-US" sz="1000" dirty="0"/>
          </a:p>
        </p:txBody>
      </p:sp>
      <p:sp>
        <p:nvSpPr>
          <p:cNvPr id="19" name="Text 17"/>
          <p:cNvSpPr/>
          <p:nvPr/>
        </p:nvSpPr>
        <p:spPr>
          <a:xfrm>
            <a:off x="548640" y="1874520"/>
            <a:ext cx="1106424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Not bans. Just things that bite if you forget.</a:t>
            </a:r>
            <a:endParaRPr lang="en-US" sz="1300" dirty="0"/>
          </a:p>
        </p:txBody>
      </p:sp>
      <p:sp>
        <p:nvSpPr>
          <p:cNvPr id="20" name="Shape 18"/>
          <p:cNvSpPr/>
          <p:nvPr/>
        </p:nvSpPr>
        <p:spPr>
          <a:xfrm>
            <a:off x="548640" y="2377440"/>
            <a:ext cx="5532120" cy="1874520"/>
          </a:xfrm>
          <a:prstGeom prst="rect">
            <a:avLst/>
          </a:prstGeom>
          <a:solidFill>
            <a:srgbClr val="FFFBEB"/>
          </a:solidFill>
          <a:ln w="9525">
            <a:solidFill>
              <a:srgbClr val="B45309"/>
            </a:solidFill>
            <a:prstDash val="solid"/>
          </a:ln>
        </p:spPr>
      </p:sp>
      <p:sp>
        <p:nvSpPr>
          <p:cNvPr id="21" name="Shape 19"/>
          <p:cNvSpPr/>
          <p:nvPr/>
        </p:nvSpPr>
        <p:spPr>
          <a:xfrm>
            <a:off x="548640" y="2377440"/>
            <a:ext cx="73152" cy="1874520"/>
          </a:xfrm>
          <a:prstGeom prst="rect">
            <a:avLst/>
          </a:prstGeom>
          <a:solidFill>
            <a:srgbClr val="B45309"/>
          </a:solidFill>
          <a:ln/>
        </p:spPr>
      </p:sp>
      <p:sp>
        <p:nvSpPr>
          <p:cNvPr id="22" name="Text 20"/>
          <p:cNvSpPr/>
          <p:nvPr/>
        </p:nvSpPr>
        <p:spPr>
          <a:xfrm>
            <a:off x="777240" y="2560320"/>
            <a:ext cx="36576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a:t>
            </a:r>
            <a:endParaRPr lang="en-US" sz="1800" dirty="0"/>
          </a:p>
        </p:txBody>
      </p:sp>
      <p:sp>
        <p:nvSpPr>
          <p:cNvPr id="23" name="Text 21"/>
          <p:cNvSpPr/>
          <p:nvPr/>
        </p:nvSpPr>
        <p:spPr>
          <a:xfrm>
            <a:off x="1188720" y="2542032"/>
            <a:ext cx="470916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Citation drift</a:t>
            </a:r>
            <a:endParaRPr lang="en-US" sz="1500" dirty="0"/>
          </a:p>
        </p:txBody>
      </p:sp>
      <p:sp>
        <p:nvSpPr>
          <p:cNvPr id="24" name="Text 22"/>
          <p:cNvSpPr/>
          <p:nvPr/>
        </p:nvSpPr>
        <p:spPr>
          <a:xfrm>
            <a:off x="1188720" y="3063240"/>
            <a:ext cx="4709160" cy="114300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The cited URL is sometimes only loosely related to the quoted line. Open every link you intend to use externally.</a:t>
            </a:r>
            <a:endParaRPr lang="en-US" sz="1100" dirty="0"/>
          </a:p>
        </p:txBody>
      </p:sp>
      <p:sp>
        <p:nvSpPr>
          <p:cNvPr id="25" name="Shape 23"/>
          <p:cNvSpPr/>
          <p:nvPr/>
        </p:nvSpPr>
        <p:spPr>
          <a:xfrm>
            <a:off x="6263640" y="2377440"/>
            <a:ext cx="5532120" cy="1874520"/>
          </a:xfrm>
          <a:prstGeom prst="rect">
            <a:avLst/>
          </a:prstGeom>
          <a:solidFill>
            <a:srgbClr val="FFFBEB"/>
          </a:solidFill>
          <a:ln w="9525">
            <a:solidFill>
              <a:srgbClr val="B45309"/>
            </a:solidFill>
            <a:prstDash val="solid"/>
          </a:ln>
        </p:spPr>
      </p:sp>
      <p:sp>
        <p:nvSpPr>
          <p:cNvPr id="26" name="Shape 24"/>
          <p:cNvSpPr/>
          <p:nvPr/>
        </p:nvSpPr>
        <p:spPr>
          <a:xfrm>
            <a:off x="6263640" y="2377440"/>
            <a:ext cx="73152" cy="1874520"/>
          </a:xfrm>
          <a:prstGeom prst="rect">
            <a:avLst/>
          </a:prstGeom>
          <a:solidFill>
            <a:srgbClr val="B45309"/>
          </a:solidFill>
          <a:ln/>
        </p:spPr>
      </p:sp>
      <p:sp>
        <p:nvSpPr>
          <p:cNvPr id="27" name="Text 25"/>
          <p:cNvSpPr/>
          <p:nvPr/>
        </p:nvSpPr>
        <p:spPr>
          <a:xfrm>
            <a:off x="6492240" y="2560320"/>
            <a:ext cx="36576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a:t>
            </a:r>
            <a:endParaRPr lang="en-US" sz="1800" dirty="0"/>
          </a:p>
        </p:txBody>
      </p:sp>
      <p:sp>
        <p:nvSpPr>
          <p:cNvPr id="28" name="Text 26"/>
          <p:cNvSpPr/>
          <p:nvPr/>
        </p:nvSpPr>
        <p:spPr>
          <a:xfrm>
            <a:off x="6903720" y="2542032"/>
            <a:ext cx="470916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Numerical confidence ≠ correctness</a:t>
            </a:r>
            <a:endParaRPr lang="en-US" sz="1500" dirty="0"/>
          </a:p>
        </p:txBody>
      </p:sp>
      <p:sp>
        <p:nvSpPr>
          <p:cNvPr id="29" name="Text 27"/>
          <p:cNvSpPr/>
          <p:nvPr/>
        </p:nvSpPr>
        <p:spPr>
          <a:xfrm>
            <a:off x="6903720" y="3063240"/>
            <a:ext cx="4709160" cy="114300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A clean-looking number with two decimals is still a guess if it wasn't sourced from a filing. Spot-check against Bloomberg.</a:t>
            </a:r>
            <a:endParaRPr lang="en-US" sz="1100" dirty="0"/>
          </a:p>
        </p:txBody>
      </p:sp>
      <p:sp>
        <p:nvSpPr>
          <p:cNvPr id="30" name="Shape 28"/>
          <p:cNvSpPr/>
          <p:nvPr/>
        </p:nvSpPr>
        <p:spPr>
          <a:xfrm>
            <a:off x="548640" y="4389120"/>
            <a:ext cx="5532120" cy="1874520"/>
          </a:xfrm>
          <a:prstGeom prst="rect">
            <a:avLst/>
          </a:prstGeom>
          <a:solidFill>
            <a:srgbClr val="FFFBEB"/>
          </a:solidFill>
          <a:ln w="9525">
            <a:solidFill>
              <a:srgbClr val="B45309"/>
            </a:solidFill>
            <a:prstDash val="solid"/>
          </a:ln>
        </p:spPr>
      </p:sp>
      <p:sp>
        <p:nvSpPr>
          <p:cNvPr id="31" name="Shape 29"/>
          <p:cNvSpPr/>
          <p:nvPr/>
        </p:nvSpPr>
        <p:spPr>
          <a:xfrm>
            <a:off x="548640" y="4389120"/>
            <a:ext cx="73152" cy="1874520"/>
          </a:xfrm>
          <a:prstGeom prst="rect">
            <a:avLst/>
          </a:prstGeom>
          <a:solidFill>
            <a:srgbClr val="B45309"/>
          </a:solidFill>
          <a:ln/>
        </p:spPr>
      </p:sp>
      <p:sp>
        <p:nvSpPr>
          <p:cNvPr id="32" name="Text 30"/>
          <p:cNvSpPr/>
          <p:nvPr/>
        </p:nvSpPr>
        <p:spPr>
          <a:xfrm>
            <a:off x="777240" y="4572000"/>
            <a:ext cx="36576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a:t>
            </a:r>
            <a:endParaRPr lang="en-US" sz="1800" dirty="0"/>
          </a:p>
        </p:txBody>
      </p:sp>
      <p:sp>
        <p:nvSpPr>
          <p:cNvPr id="33" name="Text 31"/>
          <p:cNvSpPr/>
          <p:nvPr/>
        </p:nvSpPr>
        <p:spPr>
          <a:xfrm>
            <a:off x="1188720" y="4553712"/>
            <a:ext cx="470916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Model mismatch</a:t>
            </a:r>
            <a:endParaRPr lang="en-US" sz="1500" dirty="0"/>
          </a:p>
        </p:txBody>
      </p:sp>
      <p:sp>
        <p:nvSpPr>
          <p:cNvPr id="34" name="Text 32"/>
          <p:cNvSpPr/>
          <p:nvPr/>
        </p:nvSpPr>
        <p:spPr>
          <a:xfrm>
            <a:off x="1188720" y="5074920"/>
            <a:ext cx="4709160" cy="114300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Wrong model for the task = poor output. Multi-doc synthesis on the default model is the most common failure mode.</a:t>
            </a:r>
            <a:endParaRPr lang="en-US" sz="1100" dirty="0"/>
          </a:p>
        </p:txBody>
      </p:sp>
      <p:sp>
        <p:nvSpPr>
          <p:cNvPr id="35" name="Shape 33"/>
          <p:cNvSpPr/>
          <p:nvPr/>
        </p:nvSpPr>
        <p:spPr>
          <a:xfrm>
            <a:off x="6263640" y="4389120"/>
            <a:ext cx="5532120" cy="1874520"/>
          </a:xfrm>
          <a:prstGeom prst="rect">
            <a:avLst/>
          </a:prstGeom>
          <a:solidFill>
            <a:srgbClr val="FFFBEB"/>
          </a:solidFill>
          <a:ln w="9525">
            <a:solidFill>
              <a:srgbClr val="B45309"/>
            </a:solidFill>
            <a:prstDash val="solid"/>
          </a:ln>
        </p:spPr>
      </p:sp>
      <p:sp>
        <p:nvSpPr>
          <p:cNvPr id="36" name="Shape 34"/>
          <p:cNvSpPr/>
          <p:nvPr/>
        </p:nvSpPr>
        <p:spPr>
          <a:xfrm>
            <a:off x="6263640" y="4389120"/>
            <a:ext cx="73152" cy="1874520"/>
          </a:xfrm>
          <a:prstGeom prst="rect">
            <a:avLst/>
          </a:prstGeom>
          <a:solidFill>
            <a:srgbClr val="B45309"/>
          </a:solidFill>
          <a:ln/>
        </p:spPr>
      </p:sp>
      <p:sp>
        <p:nvSpPr>
          <p:cNvPr id="37" name="Text 35"/>
          <p:cNvSpPr/>
          <p:nvPr/>
        </p:nvSpPr>
        <p:spPr>
          <a:xfrm>
            <a:off x="6492240" y="4572000"/>
            <a:ext cx="365760" cy="365760"/>
          </a:xfrm>
          <a:prstGeom prst="rect">
            <a:avLst/>
          </a:prstGeom>
          <a:noFill/>
          <a:ln/>
        </p:spPr>
        <p:txBody>
          <a:bodyPr wrap="square" lIns="0" tIns="0" rIns="0" bIns="0" rtlCol="0" anchor="ctr"/>
          <a:lstStyle/>
          <a:p>
            <a:pPr indent="0" marL="0">
              <a:buNone/>
            </a:pPr>
            <a:r>
              <a:rPr lang="en-US" sz="1800" b="1" dirty="0">
                <a:solidFill>
                  <a:srgbClr val="B45309"/>
                </a:solidFill>
                <a:latin typeface="Georgia" pitchFamily="34" charset="0"/>
                <a:ea typeface="Georgia" pitchFamily="34" charset="-122"/>
                <a:cs typeface="Georgia" pitchFamily="34" charset="-120"/>
              </a:rPr>
              <a:t>⚠</a:t>
            </a:r>
            <a:endParaRPr lang="en-US" sz="1800" dirty="0"/>
          </a:p>
        </p:txBody>
      </p:sp>
      <p:sp>
        <p:nvSpPr>
          <p:cNvPr id="38" name="Text 36"/>
          <p:cNvSpPr/>
          <p:nvPr/>
        </p:nvSpPr>
        <p:spPr>
          <a:xfrm>
            <a:off x="6903720" y="4553712"/>
            <a:ext cx="4709160" cy="457200"/>
          </a:xfrm>
          <a:prstGeom prst="rect">
            <a:avLst/>
          </a:prstGeom>
          <a:noFill/>
          <a:ln/>
        </p:spPr>
        <p:txBody>
          <a:bodyPr wrap="square" lIns="0" tIns="0" rIns="0" bIns="0"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No firm-wide compliance policy yet</a:t>
            </a:r>
            <a:endParaRPr lang="en-US" sz="1500" dirty="0"/>
          </a:p>
        </p:txBody>
      </p:sp>
      <p:sp>
        <p:nvSpPr>
          <p:cNvPr id="39" name="Text 37"/>
          <p:cNvSpPr/>
          <p:nvPr/>
        </p:nvSpPr>
        <p:spPr>
          <a:xfrm>
            <a:off x="6903720" y="5074920"/>
            <a:ext cx="4709160" cy="1143000"/>
          </a:xfrm>
          <a:prstGeom prst="rect">
            <a:avLst/>
          </a:prstGeom>
          <a:noFill/>
          <a:ln/>
        </p:spPr>
        <p:txBody>
          <a:bodyPr wrap="square" lIns="0" tIns="0" rIns="0" bIns="0" rtlCol="0" anchor="ctr"/>
          <a:lstStyle/>
          <a:p>
            <a:pPr indent="0" marL="0">
              <a:lnSpc>
                <a:spcPct val="130000"/>
              </a:lnSpc>
              <a:buNone/>
            </a:pPr>
            <a:r>
              <a:rPr lang="en-US" sz="1100" dirty="0">
                <a:solidFill>
                  <a:srgbClr val="334155"/>
                </a:solidFill>
                <a:latin typeface="Calibri" pitchFamily="34" charset="0"/>
                <a:ea typeface="Calibri" pitchFamily="34" charset="-122"/>
                <a:cs typeface="Calibri" pitchFamily="34" charset="-120"/>
              </a:rPr>
              <a:t>We don't have explicit guardrails on prompts and uploads. Until we do, default to the hard rules on the previous slide.</a:t>
            </a:r>
            <a:endParaRPr lang="en-US" sz="1100" dirty="0"/>
          </a:p>
        </p:txBody>
      </p:sp>
      <p:sp>
        <p:nvSpPr>
          <p:cNvPr id="40" name="Text 38"/>
          <p:cNvSpPr/>
          <p:nvPr/>
        </p:nvSpPr>
        <p:spPr>
          <a:xfrm>
            <a:off x="548640" y="6400800"/>
            <a:ext cx="11064240" cy="274320"/>
          </a:xfrm>
          <a:prstGeom prst="rect">
            <a:avLst/>
          </a:prstGeom>
          <a:noFill/>
          <a:ln/>
        </p:spPr>
        <p:txBody>
          <a:bodyPr wrap="square" lIns="0" tIns="0" rIns="0" bIns="0" rtlCol="0" anchor="ctr"/>
          <a:lstStyle/>
          <a:p>
            <a:pPr indent="0" marL="0">
              <a:buNone/>
            </a:pPr>
            <a:r>
              <a:rPr lang="en-US" sz="1100" b="1" i="1" dirty="0">
                <a:solidFill>
                  <a:srgbClr val="0891B2"/>
                </a:solidFill>
                <a:latin typeface="Calibri" pitchFamily="34" charset="0"/>
                <a:ea typeface="Calibri" pitchFamily="34" charset="-122"/>
                <a:cs typeface="Calibri" pitchFamily="34" charset="-120"/>
              </a:rPr>
              <a:t>→ Treat it as a research accelerator, not as a citation. Your name is on the note.</a:t>
            </a:r>
            <a:endParaRPr lang="en-US" sz="1100" dirty="0"/>
          </a:p>
        </p:txBody>
      </p:sp>
      <p:sp>
        <p:nvSpPr>
          <p:cNvPr id="41" name="Text 39"/>
          <p:cNvSpPr/>
          <p:nvPr/>
        </p:nvSpPr>
        <p:spPr>
          <a:xfrm>
            <a:off x="548640" y="6537960"/>
            <a:ext cx="822960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Perplexity Enterprise · Aman Jain · Internal</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A4D"/>
        </a:solidFill>
      </p:bgPr>
    </p:bg>
    <p:spTree>
      <p:nvGrpSpPr>
        <p:cNvPr id="1" name=""/>
        <p:cNvGrpSpPr/>
        <p:nvPr/>
      </p:nvGrpSpPr>
      <p:grpSpPr>
        <a:xfrm>
          <a:off x="0" y="0"/>
          <a:ext cx="0" cy="0"/>
          <a:chOff x="0" y="0"/>
          <a:chExt cx="0" cy="0"/>
        </a:xfrm>
      </p:grpSpPr>
      <p:sp>
        <p:nvSpPr>
          <p:cNvPr id="2" name="Shape 0"/>
          <p:cNvSpPr/>
          <p:nvPr/>
        </p:nvSpPr>
        <p:spPr>
          <a:xfrm>
            <a:off x="548640" y="347472"/>
            <a:ext cx="1517904" cy="292608"/>
          </a:xfrm>
          <a:prstGeom prst="rect">
            <a:avLst/>
          </a:prstGeom>
          <a:solidFill>
            <a:srgbClr val="0F172A"/>
          </a:solidFill>
          <a:ln/>
        </p:spPr>
      </p:sp>
      <p:sp>
        <p:nvSpPr>
          <p:cNvPr id="3" name="Text 1"/>
          <p:cNvSpPr/>
          <p:nvPr/>
        </p:nvSpPr>
        <p:spPr>
          <a:xfrm>
            <a:off x="54864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5E7196"/>
                </a:solidFill>
                <a:latin typeface="Calibri" pitchFamily="34" charset="0"/>
                <a:ea typeface="Calibri" pitchFamily="34" charset="-122"/>
                <a:cs typeface="Calibri" pitchFamily="34" charset="-120"/>
              </a:rPr>
              <a:t>SETUP</a:t>
            </a:r>
            <a:endParaRPr lang="en-US" sz="900" dirty="0"/>
          </a:p>
        </p:txBody>
      </p:sp>
      <p:sp>
        <p:nvSpPr>
          <p:cNvPr id="4" name="Shape 2"/>
          <p:cNvSpPr/>
          <p:nvPr/>
        </p:nvSpPr>
        <p:spPr>
          <a:xfrm>
            <a:off x="2139696" y="347472"/>
            <a:ext cx="1517904" cy="292608"/>
          </a:xfrm>
          <a:prstGeom prst="rect">
            <a:avLst/>
          </a:prstGeom>
          <a:solidFill>
            <a:srgbClr val="0F172A"/>
          </a:solidFill>
          <a:ln/>
        </p:spPr>
      </p:sp>
      <p:sp>
        <p:nvSpPr>
          <p:cNvPr id="5" name="Text 3"/>
          <p:cNvSpPr/>
          <p:nvPr/>
        </p:nvSpPr>
        <p:spPr>
          <a:xfrm>
            <a:off x="213969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5E7196"/>
                </a:solidFill>
                <a:latin typeface="Calibri" pitchFamily="34" charset="0"/>
                <a:ea typeface="Calibri" pitchFamily="34" charset="-122"/>
                <a:cs typeface="Calibri" pitchFamily="34" charset="-120"/>
              </a:rPr>
              <a:t>PROMPTING</a:t>
            </a:r>
            <a:endParaRPr lang="en-US" sz="900" dirty="0"/>
          </a:p>
        </p:txBody>
      </p:sp>
      <p:sp>
        <p:nvSpPr>
          <p:cNvPr id="6" name="Shape 4"/>
          <p:cNvSpPr/>
          <p:nvPr/>
        </p:nvSpPr>
        <p:spPr>
          <a:xfrm>
            <a:off x="3730752" y="347472"/>
            <a:ext cx="1517904" cy="292608"/>
          </a:xfrm>
          <a:prstGeom prst="rect">
            <a:avLst/>
          </a:prstGeom>
          <a:solidFill>
            <a:srgbClr val="0F172A"/>
          </a:solidFill>
          <a:ln/>
        </p:spPr>
      </p:sp>
      <p:sp>
        <p:nvSpPr>
          <p:cNvPr id="7" name="Text 5"/>
          <p:cNvSpPr/>
          <p:nvPr/>
        </p:nvSpPr>
        <p:spPr>
          <a:xfrm>
            <a:off x="3730752"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5E7196"/>
                </a:solidFill>
                <a:latin typeface="Calibri" pitchFamily="34" charset="0"/>
                <a:ea typeface="Calibri" pitchFamily="34" charset="-122"/>
                <a:cs typeface="Calibri" pitchFamily="34" charset="-120"/>
              </a:rPr>
              <a:t>AUTOMATION</a:t>
            </a:r>
            <a:endParaRPr lang="en-US" sz="900" dirty="0"/>
          </a:p>
        </p:txBody>
      </p:sp>
      <p:sp>
        <p:nvSpPr>
          <p:cNvPr id="8" name="Shape 6"/>
          <p:cNvSpPr/>
          <p:nvPr/>
        </p:nvSpPr>
        <p:spPr>
          <a:xfrm>
            <a:off x="5321808" y="347472"/>
            <a:ext cx="1517904" cy="292608"/>
          </a:xfrm>
          <a:prstGeom prst="rect">
            <a:avLst/>
          </a:prstGeom>
          <a:solidFill>
            <a:srgbClr val="0F172A"/>
          </a:solidFill>
          <a:ln/>
        </p:spPr>
      </p:sp>
      <p:sp>
        <p:nvSpPr>
          <p:cNvPr id="9" name="Text 7"/>
          <p:cNvSpPr/>
          <p:nvPr/>
        </p:nvSpPr>
        <p:spPr>
          <a:xfrm>
            <a:off x="5321808"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5E7196"/>
                </a:solidFill>
                <a:latin typeface="Calibri" pitchFamily="34" charset="0"/>
                <a:ea typeface="Calibri" pitchFamily="34" charset="-122"/>
                <a:cs typeface="Calibri" pitchFamily="34" charset="-120"/>
              </a:rPr>
              <a:t>FINANCE</a:t>
            </a:r>
            <a:endParaRPr lang="en-US" sz="900" dirty="0"/>
          </a:p>
        </p:txBody>
      </p:sp>
      <p:sp>
        <p:nvSpPr>
          <p:cNvPr id="10" name="Shape 8"/>
          <p:cNvSpPr/>
          <p:nvPr/>
        </p:nvSpPr>
        <p:spPr>
          <a:xfrm>
            <a:off x="6912864" y="347472"/>
            <a:ext cx="1517904" cy="292608"/>
          </a:xfrm>
          <a:prstGeom prst="rect">
            <a:avLst/>
          </a:prstGeom>
          <a:solidFill>
            <a:srgbClr val="0F172A"/>
          </a:solidFill>
          <a:ln/>
        </p:spPr>
      </p:sp>
      <p:sp>
        <p:nvSpPr>
          <p:cNvPr id="11" name="Text 9"/>
          <p:cNvSpPr/>
          <p:nvPr/>
        </p:nvSpPr>
        <p:spPr>
          <a:xfrm>
            <a:off x="6912864"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5E7196"/>
                </a:solidFill>
                <a:latin typeface="Calibri" pitchFamily="34" charset="0"/>
                <a:ea typeface="Calibri" pitchFamily="34" charset="-122"/>
                <a:cs typeface="Calibri" pitchFamily="34" charset="-120"/>
              </a:rPr>
              <a:t>SPACES</a:t>
            </a:r>
            <a:endParaRPr lang="en-US" sz="900" dirty="0"/>
          </a:p>
        </p:txBody>
      </p:sp>
      <p:sp>
        <p:nvSpPr>
          <p:cNvPr id="12" name="Shape 10"/>
          <p:cNvSpPr/>
          <p:nvPr/>
        </p:nvSpPr>
        <p:spPr>
          <a:xfrm>
            <a:off x="8503920" y="347472"/>
            <a:ext cx="1517904" cy="292608"/>
          </a:xfrm>
          <a:prstGeom prst="rect">
            <a:avLst/>
          </a:prstGeom>
          <a:solidFill>
            <a:srgbClr val="0F172A"/>
          </a:solidFill>
          <a:ln/>
        </p:spPr>
      </p:sp>
      <p:sp>
        <p:nvSpPr>
          <p:cNvPr id="13" name="Text 11"/>
          <p:cNvSpPr/>
          <p:nvPr/>
        </p:nvSpPr>
        <p:spPr>
          <a:xfrm>
            <a:off x="8503920"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5E7196"/>
                </a:solidFill>
                <a:latin typeface="Calibri" pitchFamily="34" charset="0"/>
                <a:ea typeface="Calibri" pitchFamily="34" charset="-122"/>
                <a:cs typeface="Calibri" pitchFamily="34" charset="-120"/>
              </a:rPr>
              <a:t>LIMITS</a:t>
            </a:r>
            <a:endParaRPr lang="en-US" sz="900" dirty="0"/>
          </a:p>
        </p:txBody>
      </p:sp>
      <p:sp>
        <p:nvSpPr>
          <p:cNvPr id="14" name="Shape 12"/>
          <p:cNvSpPr/>
          <p:nvPr/>
        </p:nvSpPr>
        <p:spPr>
          <a:xfrm>
            <a:off x="10094976" y="347472"/>
            <a:ext cx="1517904" cy="292608"/>
          </a:xfrm>
          <a:prstGeom prst="rect">
            <a:avLst/>
          </a:prstGeom>
          <a:solidFill>
            <a:srgbClr val="0891B2"/>
          </a:solidFill>
          <a:ln/>
        </p:spPr>
      </p:sp>
      <p:sp>
        <p:nvSpPr>
          <p:cNvPr id="15" name="Text 13"/>
          <p:cNvSpPr/>
          <p:nvPr/>
        </p:nvSpPr>
        <p:spPr>
          <a:xfrm>
            <a:off x="10094976" y="347472"/>
            <a:ext cx="1517904" cy="292608"/>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START</a:t>
            </a:r>
            <a:endParaRPr lang="en-US" sz="900" dirty="0"/>
          </a:p>
        </p:txBody>
      </p:sp>
      <p:sp>
        <p:nvSpPr>
          <p:cNvPr id="16" name="Shape 14"/>
          <p:cNvSpPr/>
          <p:nvPr/>
        </p:nvSpPr>
        <p:spPr>
          <a:xfrm>
            <a:off x="731520" y="960120"/>
            <a:ext cx="731520" cy="36576"/>
          </a:xfrm>
          <a:prstGeom prst="rect">
            <a:avLst/>
          </a:prstGeom>
          <a:solidFill>
            <a:srgbClr val="0891B2"/>
          </a:solidFill>
          <a:ln/>
        </p:spPr>
      </p:sp>
      <p:sp>
        <p:nvSpPr>
          <p:cNvPr id="17" name="Text 15"/>
          <p:cNvSpPr/>
          <p:nvPr/>
        </p:nvSpPr>
        <p:spPr>
          <a:xfrm>
            <a:off x="731520" y="1143000"/>
            <a:ext cx="7315200" cy="274320"/>
          </a:xfrm>
          <a:prstGeom prst="rect">
            <a:avLst/>
          </a:prstGeom>
          <a:noFill/>
          <a:ln/>
        </p:spPr>
        <p:txBody>
          <a:bodyPr wrap="square" lIns="0" tIns="0" rIns="0" bIns="0" rtlCol="0" anchor="ctr"/>
          <a:lstStyle/>
          <a:p>
            <a:pPr indent="0" marL="0">
              <a:buNone/>
            </a:pPr>
            <a:r>
              <a:rPr lang="en-US" sz="1100" b="1" spc="500" kern="0" dirty="0">
                <a:solidFill>
                  <a:srgbClr val="0891B2"/>
                </a:solidFill>
                <a:latin typeface="Calibri" pitchFamily="34" charset="0"/>
                <a:ea typeface="Calibri" pitchFamily="34" charset="-122"/>
                <a:cs typeface="Calibri" pitchFamily="34" charset="-120"/>
              </a:rPr>
              <a:t>WEEK ONE</a:t>
            </a:r>
            <a:endParaRPr lang="en-US" sz="1100" dirty="0"/>
          </a:p>
        </p:txBody>
      </p:sp>
      <p:sp>
        <p:nvSpPr>
          <p:cNvPr id="18" name="Text 16"/>
          <p:cNvSpPr/>
          <p:nvPr/>
        </p:nvSpPr>
        <p:spPr>
          <a:xfrm>
            <a:off x="731520" y="150876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Getting started</a:t>
            </a:r>
            <a:endParaRPr lang="en-US" sz="3800" dirty="0"/>
          </a:p>
        </p:txBody>
      </p:sp>
      <p:sp>
        <p:nvSpPr>
          <p:cNvPr id="19" name="Shape 17"/>
          <p:cNvSpPr/>
          <p:nvPr/>
        </p:nvSpPr>
        <p:spPr>
          <a:xfrm>
            <a:off x="731520" y="2514600"/>
            <a:ext cx="10698480" cy="640080"/>
          </a:xfrm>
          <a:prstGeom prst="rect">
            <a:avLst/>
          </a:prstGeom>
          <a:solidFill>
            <a:srgbClr val="0F172A"/>
          </a:solidFill>
          <a:ln w="5080">
            <a:solidFill>
              <a:srgbClr val="0891B2"/>
            </a:solidFill>
            <a:prstDash val="solid"/>
          </a:ln>
        </p:spPr>
      </p:sp>
      <p:sp>
        <p:nvSpPr>
          <p:cNvPr id="20" name="Text 18"/>
          <p:cNvSpPr/>
          <p:nvPr/>
        </p:nvSpPr>
        <p:spPr>
          <a:xfrm>
            <a:off x="868680" y="2606040"/>
            <a:ext cx="640080" cy="45720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01</a:t>
            </a:r>
            <a:endParaRPr lang="en-US" sz="1800" dirty="0"/>
          </a:p>
        </p:txBody>
      </p:sp>
      <p:sp>
        <p:nvSpPr>
          <p:cNvPr id="21" name="Text 19"/>
          <p:cNvSpPr/>
          <p:nvPr/>
        </p:nvSpPr>
        <p:spPr>
          <a:xfrm>
            <a:off x="1554480" y="2560320"/>
            <a:ext cx="3931920" cy="5486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Set personalization defaults</a:t>
            </a:r>
            <a:endParaRPr lang="en-US" sz="1400" dirty="0"/>
          </a:p>
        </p:txBody>
      </p:sp>
      <p:sp>
        <p:nvSpPr>
          <p:cNvPr id="22" name="Text 20"/>
          <p:cNvSpPr/>
          <p:nvPr/>
        </p:nvSpPr>
        <p:spPr>
          <a:xfrm>
            <a:off x="5577840" y="2560320"/>
            <a:ext cx="5760720" cy="548640"/>
          </a:xfrm>
          <a:prstGeom prst="rect">
            <a:avLst/>
          </a:prstGeom>
          <a:noFill/>
          <a:ln/>
        </p:spPr>
        <p:txBody>
          <a:bodyPr wrap="square" lIns="0" tIns="0" rIns="0" bIns="0" rtlCol="0" anchor="ctr"/>
          <a:lstStyle/>
          <a:p>
            <a:pPr indent="0" marL="0">
              <a:lnSpc>
                <a:spcPct val="125000"/>
              </a:lnSpc>
              <a:buNone/>
            </a:pPr>
            <a:r>
              <a:rPr lang="en-US" sz="1100" dirty="0">
                <a:solidFill>
                  <a:srgbClr val="B6D7E5"/>
                </a:solidFill>
                <a:latin typeface="Calibri" pitchFamily="34" charset="0"/>
                <a:ea typeface="Calibri" pitchFamily="34" charset="-122"/>
                <a:cs typeface="Calibri" pitchFamily="34" charset="-120"/>
              </a:rPr>
              <a:t>Today. Five minutes. Saves a sentence in every prompt going forward.</a:t>
            </a:r>
            <a:endParaRPr lang="en-US" sz="1100" dirty="0"/>
          </a:p>
        </p:txBody>
      </p:sp>
      <p:sp>
        <p:nvSpPr>
          <p:cNvPr id="23" name="Shape 21"/>
          <p:cNvSpPr/>
          <p:nvPr/>
        </p:nvSpPr>
        <p:spPr>
          <a:xfrm>
            <a:off x="731520" y="3246120"/>
            <a:ext cx="10698480" cy="640080"/>
          </a:xfrm>
          <a:prstGeom prst="rect">
            <a:avLst/>
          </a:prstGeom>
          <a:solidFill>
            <a:srgbClr val="0F172A"/>
          </a:solidFill>
          <a:ln w="5080">
            <a:solidFill>
              <a:srgbClr val="0891B2"/>
            </a:solidFill>
            <a:prstDash val="solid"/>
          </a:ln>
        </p:spPr>
      </p:sp>
      <p:sp>
        <p:nvSpPr>
          <p:cNvPr id="24" name="Text 22"/>
          <p:cNvSpPr/>
          <p:nvPr/>
        </p:nvSpPr>
        <p:spPr>
          <a:xfrm>
            <a:off x="868680" y="3337560"/>
            <a:ext cx="640080" cy="45720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02</a:t>
            </a:r>
            <a:endParaRPr lang="en-US" sz="1800" dirty="0"/>
          </a:p>
        </p:txBody>
      </p:sp>
      <p:sp>
        <p:nvSpPr>
          <p:cNvPr id="25" name="Text 23"/>
          <p:cNvSpPr/>
          <p:nvPr/>
        </p:nvSpPr>
        <p:spPr>
          <a:xfrm>
            <a:off x="1554480" y="3291840"/>
            <a:ext cx="3931920" cy="5486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Add covered names to your watchlist</a:t>
            </a:r>
            <a:endParaRPr lang="en-US" sz="1400" dirty="0"/>
          </a:p>
        </p:txBody>
      </p:sp>
      <p:sp>
        <p:nvSpPr>
          <p:cNvPr id="26" name="Text 24"/>
          <p:cNvSpPr/>
          <p:nvPr/>
        </p:nvSpPr>
        <p:spPr>
          <a:xfrm>
            <a:off x="5577840" y="3291840"/>
            <a:ext cx="5760720" cy="548640"/>
          </a:xfrm>
          <a:prstGeom prst="rect">
            <a:avLst/>
          </a:prstGeom>
          <a:noFill/>
          <a:ln/>
        </p:spPr>
        <p:txBody>
          <a:bodyPr wrap="square" lIns="0" tIns="0" rIns="0" bIns="0" rtlCol="0" anchor="ctr"/>
          <a:lstStyle/>
          <a:p>
            <a:pPr indent="0" marL="0">
              <a:lnSpc>
                <a:spcPct val="125000"/>
              </a:lnSpc>
              <a:buNone/>
            </a:pPr>
            <a:r>
              <a:rPr lang="en-US" sz="1100" dirty="0">
                <a:solidFill>
                  <a:srgbClr val="B6D7E5"/>
                </a:solidFill>
                <a:latin typeface="Calibri" pitchFamily="34" charset="0"/>
                <a:ea typeface="Calibri" pitchFamily="34" charset="-122"/>
                <a:cs typeface="Calibri" pitchFamily="34" charset="-120"/>
              </a:rPr>
              <a:t>All of them. Drives the daily market commentary and earnings feeds.</a:t>
            </a:r>
            <a:endParaRPr lang="en-US" sz="1100" dirty="0"/>
          </a:p>
        </p:txBody>
      </p:sp>
      <p:sp>
        <p:nvSpPr>
          <p:cNvPr id="27" name="Shape 25"/>
          <p:cNvSpPr/>
          <p:nvPr/>
        </p:nvSpPr>
        <p:spPr>
          <a:xfrm>
            <a:off x="731520" y="3977640"/>
            <a:ext cx="10698480" cy="640080"/>
          </a:xfrm>
          <a:prstGeom prst="rect">
            <a:avLst/>
          </a:prstGeom>
          <a:solidFill>
            <a:srgbClr val="0F172A"/>
          </a:solidFill>
          <a:ln w="5080">
            <a:solidFill>
              <a:srgbClr val="0891B2"/>
            </a:solidFill>
            <a:prstDash val="solid"/>
          </a:ln>
        </p:spPr>
      </p:sp>
      <p:sp>
        <p:nvSpPr>
          <p:cNvPr id="28" name="Text 26"/>
          <p:cNvSpPr/>
          <p:nvPr/>
        </p:nvSpPr>
        <p:spPr>
          <a:xfrm>
            <a:off x="868680" y="4069080"/>
            <a:ext cx="640080" cy="45720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03</a:t>
            </a:r>
            <a:endParaRPr lang="en-US" sz="1800" dirty="0"/>
          </a:p>
        </p:txBody>
      </p:sp>
      <p:sp>
        <p:nvSpPr>
          <p:cNvPr id="29" name="Text 27"/>
          <p:cNvSpPr/>
          <p:nvPr/>
        </p:nvSpPr>
        <p:spPr>
          <a:xfrm>
            <a:off x="1554480" y="4023360"/>
            <a:ext cx="3931920" cy="5486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Build one scheduled search</a:t>
            </a:r>
            <a:endParaRPr lang="en-US" sz="1400" dirty="0"/>
          </a:p>
        </p:txBody>
      </p:sp>
      <p:sp>
        <p:nvSpPr>
          <p:cNvPr id="30" name="Text 28"/>
          <p:cNvSpPr/>
          <p:nvPr/>
        </p:nvSpPr>
        <p:spPr>
          <a:xfrm>
            <a:off x="5577840" y="4023360"/>
            <a:ext cx="5760720" cy="548640"/>
          </a:xfrm>
          <a:prstGeom prst="rect">
            <a:avLst/>
          </a:prstGeom>
          <a:noFill/>
          <a:ln/>
        </p:spPr>
        <p:txBody>
          <a:bodyPr wrap="square" lIns="0" tIns="0" rIns="0" bIns="0" rtlCol="0" anchor="ctr"/>
          <a:lstStyle/>
          <a:p>
            <a:pPr indent="0" marL="0">
              <a:lnSpc>
                <a:spcPct val="125000"/>
              </a:lnSpc>
              <a:buNone/>
            </a:pPr>
            <a:r>
              <a:rPr lang="en-US" sz="1100" dirty="0">
                <a:solidFill>
                  <a:srgbClr val="B6D7E5"/>
                </a:solidFill>
                <a:latin typeface="Calibri" pitchFamily="34" charset="0"/>
                <a:ea typeface="Calibri" pitchFamily="34" charset="-122"/>
                <a:cs typeface="Calibri" pitchFamily="34" charset="-120"/>
              </a:rPr>
              <a:t>Daily digest on your sectors. Set the time, set the prompt, walk away.</a:t>
            </a:r>
            <a:endParaRPr lang="en-US" sz="1100" dirty="0"/>
          </a:p>
        </p:txBody>
      </p:sp>
      <p:sp>
        <p:nvSpPr>
          <p:cNvPr id="31" name="Shape 29"/>
          <p:cNvSpPr/>
          <p:nvPr/>
        </p:nvSpPr>
        <p:spPr>
          <a:xfrm>
            <a:off x="731520" y="4709160"/>
            <a:ext cx="10698480" cy="640080"/>
          </a:xfrm>
          <a:prstGeom prst="rect">
            <a:avLst/>
          </a:prstGeom>
          <a:solidFill>
            <a:srgbClr val="0F172A"/>
          </a:solidFill>
          <a:ln w="5080">
            <a:solidFill>
              <a:srgbClr val="0891B2"/>
            </a:solidFill>
            <a:prstDash val="solid"/>
          </a:ln>
        </p:spPr>
      </p:sp>
      <p:sp>
        <p:nvSpPr>
          <p:cNvPr id="32" name="Text 30"/>
          <p:cNvSpPr/>
          <p:nvPr/>
        </p:nvSpPr>
        <p:spPr>
          <a:xfrm>
            <a:off x="868680" y="4800600"/>
            <a:ext cx="640080" cy="45720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04</a:t>
            </a:r>
            <a:endParaRPr lang="en-US" sz="1800" dirty="0"/>
          </a:p>
        </p:txBody>
      </p:sp>
      <p:sp>
        <p:nvSpPr>
          <p:cNvPr id="33" name="Text 31"/>
          <p:cNvSpPr/>
          <p:nvPr/>
        </p:nvSpPr>
        <p:spPr>
          <a:xfrm>
            <a:off x="1554480" y="4754880"/>
            <a:ext cx="3931920" cy="5486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Run one PICOE prompt on a real task</a:t>
            </a:r>
            <a:endParaRPr lang="en-US" sz="1400" dirty="0"/>
          </a:p>
        </p:txBody>
      </p:sp>
      <p:sp>
        <p:nvSpPr>
          <p:cNvPr id="34" name="Text 32"/>
          <p:cNvSpPr/>
          <p:nvPr/>
        </p:nvSpPr>
        <p:spPr>
          <a:xfrm>
            <a:off x="5577840" y="4754880"/>
            <a:ext cx="5760720" cy="548640"/>
          </a:xfrm>
          <a:prstGeom prst="rect">
            <a:avLst/>
          </a:prstGeom>
          <a:noFill/>
          <a:ln/>
        </p:spPr>
        <p:txBody>
          <a:bodyPr wrap="square" lIns="0" tIns="0" rIns="0" bIns="0" rtlCol="0" anchor="ctr"/>
          <a:lstStyle/>
          <a:p>
            <a:pPr indent="0" marL="0">
              <a:lnSpc>
                <a:spcPct val="125000"/>
              </a:lnSpc>
              <a:buNone/>
            </a:pPr>
            <a:r>
              <a:rPr lang="en-US" sz="1100" dirty="0">
                <a:solidFill>
                  <a:srgbClr val="B6D7E5"/>
                </a:solidFill>
                <a:latin typeface="Calibri" pitchFamily="34" charset="0"/>
                <a:ea typeface="Calibri" pitchFamily="34" charset="-122"/>
                <a:cs typeface="Calibri" pitchFamily="34" charset="-120"/>
              </a:rPr>
              <a:t>A result note opening or a draft summary. Compare against what you would have written.</a:t>
            </a:r>
            <a:endParaRPr lang="en-US" sz="1100" dirty="0"/>
          </a:p>
        </p:txBody>
      </p:sp>
      <p:sp>
        <p:nvSpPr>
          <p:cNvPr id="35" name="Shape 33"/>
          <p:cNvSpPr/>
          <p:nvPr/>
        </p:nvSpPr>
        <p:spPr>
          <a:xfrm>
            <a:off x="731520" y="5440680"/>
            <a:ext cx="10698480" cy="640080"/>
          </a:xfrm>
          <a:prstGeom prst="rect">
            <a:avLst/>
          </a:prstGeom>
          <a:solidFill>
            <a:srgbClr val="0F172A"/>
          </a:solidFill>
          <a:ln w="5080">
            <a:solidFill>
              <a:srgbClr val="0891B2"/>
            </a:solidFill>
            <a:prstDash val="solid"/>
          </a:ln>
        </p:spPr>
      </p:sp>
      <p:sp>
        <p:nvSpPr>
          <p:cNvPr id="36" name="Text 34"/>
          <p:cNvSpPr/>
          <p:nvPr/>
        </p:nvSpPr>
        <p:spPr>
          <a:xfrm>
            <a:off x="868680" y="5532120"/>
            <a:ext cx="640080" cy="45720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05</a:t>
            </a:r>
            <a:endParaRPr lang="en-US" sz="1800" dirty="0"/>
          </a:p>
        </p:txBody>
      </p:sp>
      <p:sp>
        <p:nvSpPr>
          <p:cNvPr id="37" name="Text 35"/>
          <p:cNvSpPr/>
          <p:nvPr/>
        </p:nvSpPr>
        <p:spPr>
          <a:xfrm>
            <a:off x="1554480" y="5486400"/>
            <a:ext cx="3931920" cy="5486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Spin up your first Space</a:t>
            </a:r>
            <a:endParaRPr lang="en-US" sz="1400" dirty="0"/>
          </a:p>
        </p:txBody>
      </p:sp>
      <p:sp>
        <p:nvSpPr>
          <p:cNvPr id="38" name="Text 36"/>
          <p:cNvSpPr/>
          <p:nvPr/>
        </p:nvSpPr>
        <p:spPr>
          <a:xfrm>
            <a:off x="5577840" y="5486400"/>
            <a:ext cx="5760720" cy="548640"/>
          </a:xfrm>
          <a:prstGeom prst="rect">
            <a:avLst/>
          </a:prstGeom>
          <a:noFill/>
          <a:ln/>
        </p:spPr>
        <p:txBody>
          <a:bodyPr wrap="square" lIns="0" tIns="0" rIns="0" bIns="0" rtlCol="0" anchor="ctr"/>
          <a:lstStyle/>
          <a:p>
            <a:pPr indent="0" marL="0">
              <a:lnSpc>
                <a:spcPct val="125000"/>
              </a:lnSpc>
              <a:buNone/>
            </a:pPr>
            <a:r>
              <a:rPr lang="en-US" sz="1100" dirty="0">
                <a:solidFill>
                  <a:srgbClr val="B6D7E5"/>
                </a:solidFill>
                <a:latin typeface="Calibri" pitchFamily="34" charset="0"/>
                <a:ea typeface="Calibri" pitchFamily="34" charset="-122"/>
                <a:cs typeface="Calibri" pitchFamily="34" charset="-120"/>
              </a:rPr>
              <a:t>Either a data-pull Space (filings + question), or a rephrase Space (paste 2–3 of your own paragraphs).</a:t>
            </a:r>
            <a:endParaRPr lang="en-US" sz="1100" dirty="0"/>
          </a:p>
        </p:txBody>
      </p:sp>
      <p:sp>
        <p:nvSpPr>
          <p:cNvPr id="39" name="Text 37"/>
          <p:cNvSpPr/>
          <p:nvPr/>
        </p:nvSpPr>
        <p:spPr>
          <a:xfrm>
            <a:off x="731520" y="6400800"/>
            <a:ext cx="10698480" cy="320040"/>
          </a:xfrm>
          <a:prstGeom prst="rect">
            <a:avLst/>
          </a:prstGeom>
          <a:noFill/>
          <a:ln/>
        </p:spPr>
        <p:txBody>
          <a:bodyPr wrap="square" lIns="0" tIns="0" rIns="0" bIns="0" rtlCol="0" anchor="ctr"/>
          <a:lstStyle/>
          <a:p>
            <a:pPr algn="ctr" indent="0" marL="0">
              <a:buNone/>
            </a:pPr>
            <a:r>
              <a:rPr lang="en-US" sz="1300" i="1" dirty="0">
                <a:solidFill>
                  <a:srgbClr val="0891B2"/>
                </a:solidFill>
                <a:latin typeface="Georgia" pitchFamily="34" charset="0"/>
                <a:ea typeface="Georgia" pitchFamily="34" charset="-122"/>
                <a:cs typeface="Georgia" pitchFamily="34" charset="-120"/>
              </a:rPr>
              <a:t>Questions, pushback, prompt swaps — let's start a thread.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Perplexity Enterprise — Use cases</dc:title>
  <dc:subject>PptxGenJS Presentation</dc:subject>
  <dc:creator>Aman Jain</dc:creator>
  <cp:lastModifiedBy>Aman Jain</cp:lastModifiedBy>
  <cp:revision>1</cp:revision>
  <dcterms:created xsi:type="dcterms:W3CDTF">2026-05-11T06:16:29Z</dcterms:created>
  <dcterms:modified xsi:type="dcterms:W3CDTF">2026-05-11T06:16:29Z</dcterms:modified>
</cp:coreProperties>
</file>