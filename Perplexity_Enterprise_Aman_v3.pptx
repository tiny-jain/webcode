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D"/>
        </a:solidFill>
      </p:bgPr>
    </p:bg>
    <p:spTree>
      <p:nvGrpSpPr>
        <p:cNvPr id="1" name=""/>
        <p:cNvGrpSpPr/>
        <p:nvPr/>
      </p:nvGrpSpPr>
      <p:grpSpPr>
        <a:xfrm>
          <a:off x="0" y="0"/>
          <a:ext cx="0" cy="0"/>
          <a:chOff x="0" y="0"/>
          <a:chExt cx="0" cy="0"/>
        </a:xfrm>
      </p:grpSpPr>
      <p:sp>
        <p:nvSpPr>
          <p:cNvPr id="2" name="Shape 0"/>
          <p:cNvSpPr/>
          <p:nvPr/>
        </p:nvSpPr>
        <p:spPr>
          <a:xfrm>
            <a:off x="731520" y="2194560"/>
            <a:ext cx="731520" cy="45720"/>
          </a:xfrm>
          <a:prstGeom prst="rect">
            <a:avLst/>
          </a:prstGeom>
          <a:solidFill>
            <a:srgbClr val="0891B2"/>
          </a:solidFill>
          <a:ln/>
        </p:spPr>
      </p:sp>
      <p:sp>
        <p:nvSpPr>
          <p:cNvPr id="3" name="Text 1"/>
          <p:cNvSpPr/>
          <p:nvPr/>
        </p:nvSpPr>
        <p:spPr>
          <a:xfrm>
            <a:off x="731520" y="1783080"/>
            <a:ext cx="7315200" cy="365760"/>
          </a:xfrm>
          <a:prstGeom prst="rect">
            <a:avLst/>
          </a:prstGeom>
          <a:noFill/>
          <a:ln/>
        </p:spPr>
        <p:txBody>
          <a:bodyPr wrap="square" lIns="0" tIns="0" rIns="0" bIns="0" rtlCol="0" anchor="ctr"/>
          <a:lstStyle/>
          <a:p>
            <a:pPr indent="0" marL="0">
              <a:buNone/>
            </a:pPr>
            <a:r>
              <a:rPr lang="en-US" sz="1300" b="1" spc="500" kern="0" dirty="0">
                <a:solidFill>
                  <a:srgbClr val="0891B2"/>
                </a:solidFill>
                <a:latin typeface="Calibri" pitchFamily="34" charset="0"/>
                <a:ea typeface="Calibri" pitchFamily="34" charset="-122"/>
                <a:cs typeface="Calibri" pitchFamily="34" charset="-120"/>
              </a:rPr>
              <a:t>INTERNAL · EQUITY RESEARCH</a:t>
            </a:r>
            <a:endParaRPr lang="en-US" sz="1300" dirty="0"/>
          </a:p>
        </p:txBody>
      </p:sp>
      <p:sp>
        <p:nvSpPr>
          <p:cNvPr id="4" name="Text 2"/>
          <p:cNvSpPr/>
          <p:nvPr/>
        </p:nvSpPr>
        <p:spPr>
          <a:xfrm>
            <a:off x="731520" y="2468880"/>
            <a:ext cx="10515600" cy="118872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Perplexity Enterprise</a:t>
            </a:r>
            <a:endParaRPr lang="en-US" sz="6400" dirty="0"/>
          </a:p>
        </p:txBody>
      </p:sp>
      <p:sp>
        <p:nvSpPr>
          <p:cNvPr id="5" name="Text 3"/>
          <p:cNvSpPr/>
          <p:nvPr/>
        </p:nvSpPr>
        <p:spPr>
          <a:xfrm>
            <a:off x="731520" y="3749040"/>
            <a:ext cx="10515600" cy="548640"/>
          </a:xfrm>
          <a:prstGeom prst="rect">
            <a:avLst/>
          </a:prstGeom>
          <a:noFill/>
          <a:ln/>
        </p:spPr>
        <p:txBody>
          <a:bodyPr wrap="square" lIns="0" tIns="0" rIns="0" bIns="0" rtlCol="0" anchor="ctr"/>
          <a:lstStyle/>
          <a:p>
            <a:pPr indent="0" marL="0">
              <a:buNone/>
            </a:pPr>
            <a:r>
              <a:rPr lang="en-US" sz="2400" i="1" dirty="0">
                <a:solidFill>
                  <a:srgbClr val="B6D7E5"/>
                </a:solidFill>
                <a:latin typeface="Georgia" pitchFamily="34" charset="0"/>
                <a:ea typeface="Georgia" pitchFamily="34" charset="-122"/>
                <a:cs typeface="Georgia" pitchFamily="34" charset="-120"/>
              </a:rPr>
              <a:t>What's possible in our workflow — features, prompts, real examples</a:t>
            </a:r>
            <a:endParaRPr lang="en-US" sz="2400" dirty="0"/>
          </a:p>
        </p:txBody>
      </p:sp>
      <p:sp>
        <p:nvSpPr>
          <p:cNvPr id="6" name="Shape 4"/>
          <p:cNvSpPr/>
          <p:nvPr/>
        </p:nvSpPr>
        <p:spPr>
          <a:xfrm>
            <a:off x="731520" y="4709160"/>
            <a:ext cx="10698480" cy="18288"/>
          </a:xfrm>
          <a:prstGeom prst="rect">
            <a:avLst/>
          </a:prstGeom>
          <a:solidFill>
            <a:srgbClr val="0891B2">
              <a:alpha val="40000"/>
            </a:srgbClr>
          </a:solidFill>
          <a:ln/>
        </p:spPr>
      </p:sp>
      <p:sp>
        <p:nvSpPr>
          <p:cNvPr id="7" name="Text 5"/>
          <p:cNvSpPr/>
          <p:nvPr/>
        </p:nvSpPr>
        <p:spPr>
          <a:xfrm>
            <a:off x="731520" y="4983480"/>
            <a:ext cx="5486400" cy="32004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PRESENTED BY  </a:t>
            </a:r>
            <a:pPr indent="0" marL="0">
              <a:buNone/>
            </a:pPr>
            <a:r>
              <a:rPr lang="en-US" sz="1400" dirty="0">
                <a:solidFill>
                  <a:srgbClr val="FFFFFF"/>
                </a:solidFill>
                <a:latin typeface="Calibri" pitchFamily="34" charset="0"/>
                <a:ea typeface="Calibri" pitchFamily="34" charset="-122"/>
                <a:cs typeface="Calibri" pitchFamily="34" charset="-120"/>
              </a:rPr>
              <a:t>Aman Jain</a:t>
            </a:r>
            <a:endParaRPr lang="en-US" sz="1200" dirty="0"/>
          </a:p>
        </p:txBody>
      </p:sp>
      <p:sp>
        <p:nvSpPr>
          <p:cNvPr id="8" name="Text 6"/>
          <p:cNvSpPr/>
          <p:nvPr/>
        </p:nvSpPr>
        <p:spPr>
          <a:xfrm>
            <a:off x="731520" y="5349240"/>
            <a:ext cx="10058400" cy="32004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FOR  </a:t>
            </a:r>
            <a:pPr indent="0" marL="0">
              <a:buNone/>
            </a:pPr>
            <a:r>
              <a:rPr lang="en-US" sz="1400" dirty="0">
                <a:solidFill>
                  <a:srgbClr val="FFFFFF"/>
                </a:solidFill>
                <a:latin typeface="Calibri" pitchFamily="34" charset="0"/>
                <a:ea typeface="Calibri" pitchFamily="34" charset="-122"/>
                <a:cs typeface="Calibri" pitchFamily="34" charset="-120"/>
              </a:rPr>
              <a:t>Equity Research — analysts &amp; associates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0891B2"/>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AGENDA</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What we'll cover — six buckets of capability</a:t>
            </a:r>
            <a:endParaRPr lang="en-US" sz="2700" dirty="0"/>
          </a:p>
        </p:txBody>
      </p:sp>
      <p:sp>
        <p:nvSpPr>
          <p:cNvPr id="16" name="Text 14"/>
          <p:cNvSpPr/>
          <p:nvPr/>
        </p:nvSpPr>
        <p:spPr>
          <a:xfrm>
            <a:off x="548640" y="2011680"/>
            <a:ext cx="11064240" cy="548640"/>
          </a:xfrm>
          <a:prstGeom prst="rect">
            <a:avLst/>
          </a:prstGeom>
          <a:noFill/>
          <a:ln/>
        </p:spPr>
        <p:txBody>
          <a:bodyPr wrap="square" lIns="0" tIns="0" rIns="0" bIns="0" rtlCol="0" anchor="ctr"/>
          <a:lstStyle/>
          <a:p>
            <a:pPr indent="0" marL="0">
              <a:lnSpc>
                <a:spcPct val="130000"/>
              </a:lnSpc>
              <a:buNone/>
            </a:pPr>
            <a:r>
              <a:rPr lang="en-US" sz="1700" i="1" dirty="0">
                <a:solidFill>
                  <a:srgbClr val="64748B"/>
                </a:solidFill>
                <a:latin typeface="Georgia" pitchFamily="34" charset="0"/>
                <a:ea typeface="Georgia" pitchFamily="34" charset="-122"/>
                <a:cs typeface="Georgia" pitchFamily="34" charset="-120"/>
              </a:rPr>
              <a:t>Each bucket is something I'm doing today. The rest of the deck shows how, with screenshots and the actual prompts.</a:t>
            </a:r>
            <a:endParaRPr lang="en-US" sz="1700" dirty="0"/>
          </a:p>
        </p:txBody>
      </p:sp>
      <p:sp>
        <p:nvSpPr>
          <p:cNvPr id="17" name="Shape 15"/>
          <p:cNvSpPr/>
          <p:nvPr/>
        </p:nvSpPr>
        <p:spPr>
          <a:xfrm>
            <a:off x="548640" y="2880360"/>
            <a:ext cx="3657600" cy="1783080"/>
          </a:xfrm>
          <a:prstGeom prst="rect">
            <a:avLst/>
          </a:prstGeom>
          <a:solidFill>
            <a:srgbClr val="F8FAFC"/>
          </a:solidFill>
          <a:ln w="6350">
            <a:solidFill>
              <a:srgbClr val="E2E8F0"/>
            </a:solidFill>
            <a:prstDash val="solid"/>
          </a:ln>
        </p:spPr>
      </p:sp>
      <p:sp>
        <p:nvSpPr>
          <p:cNvPr id="18" name="Shape 16"/>
          <p:cNvSpPr/>
          <p:nvPr/>
        </p:nvSpPr>
        <p:spPr>
          <a:xfrm>
            <a:off x="548640" y="2880360"/>
            <a:ext cx="64008" cy="1783080"/>
          </a:xfrm>
          <a:prstGeom prst="rect">
            <a:avLst/>
          </a:prstGeom>
          <a:solidFill>
            <a:srgbClr val="0891B2"/>
          </a:solidFill>
          <a:ln/>
        </p:spPr>
      </p:sp>
      <p:sp>
        <p:nvSpPr>
          <p:cNvPr id="19" name="Text 17"/>
          <p:cNvSpPr/>
          <p:nvPr/>
        </p:nvSpPr>
        <p:spPr>
          <a:xfrm>
            <a:off x="822960" y="3063240"/>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01</a:t>
            </a:r>
            <a:endParaRPr lang="en-US" sz="1500" dirty="0"/>
          </a:p>
        </p:txBody>
      </p:sp>
      <p:sp>
        <p:nvSpPr>
          <p:cNvPr id="20" name="Text 18"/>
          <p:cNvSpPr/>
          <p:nvPr/>
        </p:nvSpPr>
        <p:spPr>
          <a:xfrm>
            <a:off x="822960" y="3383280"/>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Setup</a:t>
            </a:r>
            <a:endParaRPr lang="en-US" sz="2200" dirty="0"/>
          </a:p>
        </p:txBody>
      </p:sp>
      <p:sp>
        <p:nvSpPr>
          <p:cNvPr id="21" name="Text 19"/>
          <p:cNvSpPr/>
          <p:nvPr/>
        </p:nvSpPr>
        <p:spPr>
          <a:xfrm>
            <a:off x="822960" y="3840480"/>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Two switches to know — search mode, model choice. Affects every prompt.</a:t>
            </a:r>
            <a:endParaRPr lang="en-US" sz="1250" dirty="0"/>
          </a:p>
        </p:txBody>
      </p:sp>
      <p:sp>
        <p:nvSpPr>
          <p:cNvPr id="22" name="Shape 20"/>
          <p:cNvSpPr/>
          <p:nvPr/>
        </p:nvSpPr>
        <p:spPr>
          <a:xfrm>
            <a:off x="4389120" y="2880360"/>
            <a:ext cx="3657600" cy="1783080"/>
          </a:xfrm>
          <a:prstGeom prst="rect">
            <a:avLst/>
          </a:prstGeom>
          <a:solidFill>
            <a:srgbClr val="F8FAFC"/>
          </a:solidFill>
          <a:ln w="6350">
            <a:solidFill>
              <a:srgbClr val="E2E8F0"/>
            </a:solidFill>
            <a:prstDash val="solid"/>
          </a:ln>
        </p:spPr>
      </p:sp>
      <p:sp>
        <p:nvSpPr>
          <p:cNvPr id="23" name="Shape 21"/>
          <p:cNvSpPr/>
          <p:nvPr/>
        </p:nvSpPr>
        <p:spPr>
          <a:xfrm>
            <a:off x="4389120" y="2880360"/>
            <a:ext cx="64008" cy="1783080"/>
          </a:xfrm>
          <a:prstGeom prst="rect">
            <a:avLst/>
          </a:prstGeom>
          <a:solidFill>
            <a:srgbClr val="0891B2"/>
          </a:solidFill>
          <a:ln/>
        </p:spPr>
      </p:sp>
      <p:sp>
        <p:nvSpPr>
          <p:cNvPr id="24" name="Text 22"/>
          <p:cNvSpPr/>
          <p:nvPr/>
        </p:nvSpPr>
        <p:spPr>
          <a:xfrm>
            <a:off x="4663440" y="3063240"/>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02</a:t>
            </a:r>
            <a:endParaRPr lang="en-US" sz="1500" dirty="0"/>
          </a:p>
        </p:txBody>
      </p:sp>
      <p:sp>
        <p:nvSpPr>
          <p:cNvPr id="25" name="Text 23"/>
          <p:cNvSpPr/>
          <p:nvPr/>
        </p:nvSpPr>
        <p:spPr>
          <a:xfrm>
            <a:off x="4663440" y="3383280"/>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Prompting</a:t>
            </a:r>
            <a:endParaRPr lang="en-US" sz="2200" dirty="0"/>
          </a:p>
        </p:txBody>
      </p:sp>
      <p:sp>
        <p:nvSpPr>
          <p:cNvPr id="26" name="Text 24"/>
          <p:cNvSpPr/>
          <p:nvPr/>
        </p:nvSpPr>
        <p:spPr>
          <a:xfrm>
            <a:off x="4663440" y="3840480"/>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How to write a prompt that returns research-grade output. Three worked examples.</a:t>
            </a:r>
            <a:endParaRPr lang="en-US" sz="1250" dirty="0"/>
          </a:p>
        </p:txBody>
      </p:sp>
      <p:sp>
        <p:nvSpPr>
          <p:cNvPr id="27" name="Shape 25"/>
          <p:cNvSpPr/>
          <p:nvPr/>
        </p:nvSpPr>
        <p:spPr>
          <a:xfrm>
            <a:off x="8229600" y="2880360"/>
            <a:ext cx="3657600" cy="1783080"/>
          </a:xfrm>
          <a:prstGeom prst="rect">
            <a:avLst/>
          </a:prstGeom>
          <a:solidFill>
            <a:srgbClr val="F8FAFC"/>
          </a:solidFill>
          <a:ln w="6350">
            <a:solidFill>
              <a:srgbClr val="E2E8F0"/>
            </a:solidFill>
            <a:prstDash val="solid"/>
          </a:ln>
        </p:spPr>
      </p:sp>
      <p:sp>
        <p:nvSpPr>
          <p:cNvPr id="28" name="Shape 26"/>
          <p:cNvSpPr/>
          <p:nvPr/>
        </p:nvSpPr>
        <p:spPr>
          <a:xfrm>
            <a:off x="8229600" y="2880360"/>
            <a:ext cx="64008" cy="1783080"/>
          </a:xfrm>
          <a:prstGeom prst="rect">
            <a:avLst/>
          </a:prstGeom>
          <a:solidFill>
            <a:srgbClr val="0891B2"/>
          </a:solidFill>
          <a:ln/>
        </p:spPr>
      </p:sp>
      <p:sp>
        <p:nvSpPr>
          <p:cNvPr id="29" name="Text 27"/>
          <p:cNvSpPr/>
          <p:nvPr/>
        </p:nvSpPr>
        <p:spPr>
          <a:xfrm>
            <a:off x="8503920" y="3063240"/>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03</a:t>
            </a:r>
            <a:endParaRPr lang="en-US" sz="1500" dirty="0"/>
          </a:p>
        </p:txBody>
      </p:sp>
      <p:sp>
        <p:nvSpPr>
          <p:cNvPr id="30" name="Text 28"/>
          <p:cNvSpPr/>
          <p:nvPr/>
        </p:nvSpPr>
        <p:spPr>
          <a:xfrm>
            <a:off x="8503920" y="3383280"/>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Automation</a:t>
            </a:r>
            <a:endParaRPr lang="en-US" sz="2200" dirty="0"/>
          </a:p>
        </p:txBody>
      </p:sp>
      <p:sp>
        <p:nvSpPr>
          <p:cNvPr id="31" name="Text 29"/>
          <p:cNvSpPr/>
          <p:nvPr/>
        </p:nvSpPr>
        <p:spPr>
          <a:xfrm>
            <a:off x="8503920" y="3840480"/>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Scheduled searches, personalization, price alerts with custom analyst queries.</a:t>
            </a:r>
            <a:endParaRPr lang="en-US" sz="1250" dirty="0"/>
          </a:p>
        </p:txBody>
      </p:sp>
      <p:sp>
        <p:nvSpPr>
          <p:cNvPr id="32" name="Shape 30"/>
          <p:cNvSpPr/>
          <p:nvPr/>
        </p:nvSpPr>
        <p:spPr>
          <a:xfrm>
            <a:off x="548640" y="4828032"/>
            <a:ext cx="3657600" cy="1783080"/>
          </a:xfrm>
          <a:prstGeom prst="rect">
            <a:avLst/>
          </a:prstGeom>
          <a:solidFill>
            <a:srgbClr val="F8FAFC"/>
          </a:solidFill>
          <a:ln w="6350">
            <a:solidFill>
              <a:srgbClr val="E2E8F0"/>
            </a:solidFill>
            <a:prstDash val="solid"/>
          </a:ln>
        </p:spPr>
      </p:sp>
      <p:sp>
        <p:nvSpPr>
          <p:cNvPr id="33" name="Shape 31"/>
          <p:cNvSpPr/>
          <p:nvPr/>
        </p:nvSpPr>
        <p:spPr>
          <a:xfrm>
            <a:off x="548640" y="4828032"/>
            <a:ext cx="64008" cy="1783080"/>
          </a:xfrm>
          <a:prstGeom prst="rect">
            <a:avLst/>
          </a:prstGeom>
          <a:solidFill>
            <a:srgbClr val="0891B2"/>
          </a:solidFill>
          <a:ln/>
        </p:spPr>
      </p:sp>
      <p:sp>
        <p:nvSpPr>
          <p:cNvPr id="34" name="Text 32"/>
          <p:cNvSpPr/>
          <p:nvPr/>
        </p:nvSpPr>
        <p:spPr>
          <a:xfrm>
            <a:off x="822960" y="5010912"/>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04</a:t>
            </a:r>
            <a:endParaRPr lang="en-US" sz="1500" dirty="0"/>
          </a:p>
        </p:txBody>
      </p:sp>
      <p:sp>
        <p:nvSpPr>
          <p:cNvPr id="35" name="Text 33"/>
          <p:cNvSpPr/>
          <p:nvPr/>
        </p:nvSpPr>
        <p:spPr>
          <a:xfrm>
            <a:off x="822960" y="5330952"/>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Finance</a:t>
            </a:r>
            <a:endParaRPr lang="en-US" sz="2200" dirty="0"/>
          </a:p>
        </p:txBody>
      </p:sp>
      <p:sp>
        <p:nvSpPr>
          <p:cNvPr id="36" name="Text 34"/>
          <p:cNvSpPr/>
          <p:nvPr/>
        </p:nvSpPr>
        <p:spPr>
          <a:xfrm>
            <a:off x="822960" y="5788152"/>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Watchlist + daily market view. Earnings tab with transcript, highlights, documents.</a:t>
            </a:r>
            <a:endParaRPr lang="en-US" sz="1250" dirty="0"/>
          </a:p>
        </p:txBody>
      </p:sp>
      <p:sp>
        <p:nvSpPr>
          <p:cNvPr id="37" name="Shape 35"/>
          <p:cNvSpPr/>
          <p:nvPr/>
        </p:nvSpPr>
        <p:spPr>
          <a:xfrm>
            <a:off x="4389120" y="4828032"/>
            <a:ext cx="3657600" cy="1783080"/>
          </a:xfrm>
          <a:prstGeom prst="rect">
            <a:avLst/>
          </a:prstGeom>
          <a:solidFill>
            <a:srgbClr val="F8FAFC"/>
          </a:solidFill>
          <a:ln w="6350">
            <a:solidFill>
              <a:srgbClr val="E2E8F0"/>
            </a:solidFill>
            <a:prstDash val="solid"/>
          </a:ln>
        </p:spPr>
      </p:sp>
      <p:sp>
        <p:nvSpPr>
          <p:cNvPr id="38" name="Shape 36"/>
          <p:cNvSpPr/>
          <p:nvPr/>
        </p:nvSpPr>
        <p:spPr>
          <a:xfrm>
            <a:off x="4389120" y="4828032"/>
            <a:ext cx="64008" cy="1783080"/>
          </a:xfrm>
          <a:prstGeom prst="rect">
            <a:avLst/>
          </a:prstGeom>
          <a:solidFill>
            <a:srgbClr val="0891B2"/>
          </a:solidFill>
          <a:ln/>
        </p:spPr>
      </p:sp>
      <p:sp>
        <p:nvSpPr>
          <p:cNvPr id="39" name="Text 37"/>
          <p:cNvSpPr/>
          <p:nvPr/>
        </p:nvSpPr>
        <p:spPr>
          <a:xfrm>
            <a:off x="4663440" y="5010912"/>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05</a:t>
            </a:r>
            <a:endParaRPr lang="en-US" sz="1500" dirty="0"/>
          </a:p>
        </p:txBody>
      </p:sp>
      <p:sp>
        <p:nvSpPr>
          <p:cNvPr id="40" name="Text 38"/>
          <p:cNvSpPr/>
          <p:nvPr/>
        </p:nvSpPr>
        <p:spPr>
          <a:xfrm>
            <a:off x="4663440" y="5330952"/>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Spaces</a:t>
            </a:r>
            <a:endParaRPr lang="en-US" sz="2200" dirty="0"/>
          </a:p>
        </p:txBody>
      </p:sp>
      <p:sp>
        <p:nvSpPr>
          <p:cNvPr id="41" name="Text 39"/>
          <p:cNvSpPr/>
          <p:nvPr/>
        </p:nvSpPr>
        <p:spPr>
          <a:xfrm>
            <a:off x="4663440" y="5788152"/>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Purpose-built rooms with uploaded filings and custom rephrasing in our voice.</a:t>
            </a:r>
            <a:endParaRPr lang="en-US" sz="1250" dirty="0"/>
          </a:p>
        </p:txBody>
      </p:sp>
      <p:sp>
        <p:nvSpPr>
          <p:cNvPr id="42" name="Shape 40"/>
          <p:cNvSpPr/>
          <p:nvPr/>
        </p:nvSpPr>
        <p:spPr>
          <a:xfrm>
            <a:off x="8229600" y="4828032"/>
            <a:ext cx="3657600" cy="1783080"/>
          </a:xfrm>
          <a:prstGeom prst="rect">
            <a:avLst/>
          </a:prstGeom>
          <a:solidFill>
            <a:srgbClr val="F8FAFC"/>
          </a:solidFill>
          <a:ln w="6350">
            <a:solidFill>
              <a:srgbClr val="E2E8F0"/>
            </a:solidFill>
            <a:prstDash val="solid"/>
          </a:ln>
        </p:spPr>
      </p:sp>
      <p:sp>
        <p:nvSpPr>
          <p:cNvPr id="43" name="Shape 41"/>
          <p:cNvSpPr/>
          <p:nvPr/>
        </p:nvSpPr>
        <p:spPr>
          <a:xfrm>
            <a:off x="8229600" y="4828032"/>
            <a:ext cx="64008" cy="1783080"/>
          </a:xfrm>
          <a:prstGeom prst="rect">
            <a:avLst/>
          </a:prstGeom>
          <a:solidFill>
            <a:srgbClr val="0891B2"/>
          </a:solidFill>
          <a:ln/>
        </p:spPr>
      </p:sp>
      <p:sp>
        <p:nvSpPr>
          <p:cNvPr id="44" name="Text 42"/>
          <p:cNvSpPr/>
          <p:nvPr/>
        </p:nvSpPr>
        <p:spPr>
          <a:xfrm>
            <a:off x="8503920" y="5010912"/>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06</a:t>
            </a:r>
            <a:endParaRPr lang="en-US" sz="1500" dirty="0"/>
          </a:p>
        </p:txBody>
      </p:sp>
      <p:sp>
        <p:nvSpPr>
          <p:cNvPr id="45" name="Text 43"/>
          <p:cNvSpPr/>
          <p:nvPr/>
        </p:nvSpPr>
        <p:spPr>
          <a:xfrm>
            <a:off x="8503920" y="5330952"/>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Limits</a:t>
            </a:r>
            <a:endParaRPr lang="en-US" sz="2200" dirty="0"/>
          </a:p>
        </p:txBody>
      </p:sp>
      <p:sp>
        <p:nvSpPr>
          <p:cNvPr id="46" name="Text 44"/>
          <p:cNvSpPr/>
          <p:nvPr/>
        </p:nvSpPr>
        <p:spPr>
          <a:xfrm>
            <a:off x="8503920" y="5788152"/>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Where Perplexity falls short and AlphaSense is the better tool. Use with caution.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0891B2"/>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SETUP</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Two switches to know before you start</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Behaviour of every prompt depends on these two settings. Set them deliberately.</a:t>
            </a:r>
            <a:endParaRPr lang="en-US" sz="1600" dirty="0"/>
          </a:p>
        </p:txBody>
      </p:sp>
      <p:sp>
        <p:nvSpPr>
          <p:cNvPr id="17" name="Shape 15"/>
          <p:cNvSpPr/>
          <p:nvPr/>
        </p:nvSpPr>
        <p:spPr>
          <a:xfrm>
            <a:off x="548640" y="2697480"/>
            <a:ext cx="5532120" cy="3840480"/>
          </a:xfrm>
          <a:prstGeom prst="rect">
            <a:avLst/>
          </a:prstGeom>
          <a:solidFill>
            <a:srgbClr val="E8EEF7"/>
          </a:solidFill>
          <a:ln/>
        </p:spPr>
      </p:sp>
      <p:sp>
        <p:nvSpPr>
          <p:cNvPr id="18" name="Shape 16"/>
          <p:cNvSpPr/>
          <p:nvPr/>
        </p:nvSpPr>
        <p:spPr>
          <a:xfrm>
            <a:off x="548640" y="2697480"/>
            <a:ext cx="5532120" cy="868680"/>
          </a:xfrm>
          <a:prstGeom prst="rect">
            <a:avLst/>
          </a:prstGeom>
          <a:solidFill>
            <a:srgbClr val="1E2A4D"/>
          </a:solidFill>
          <a:ln/>
        </p:spPr>
      </p:sp>
      <p:sp>
        <p:nvSpPr>
          <p:cNvPr id="19" name="Text 17"/>
          <p:cNvSpPr/>
          <p:nvPr/>
        </p:nvSpPr>
        <p:spPr>
          <a:xfrm>
            <a:off x="868680" y="2834640"/>
            <a:ext cx="2743200" cy="27432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SWITCH 1</a:t>
            </a:r>
            <a:endParaRPr lang="en-US" sz="1100" dirty="0"/>
          </a:p>
        </p:txBody>
      </p:sp>
      <p:sp>
        <p:nvSpPr>
          <p:cNvPr id="20" name="Text 18"/>
          <p:cNvSpPr/>
          <p:nvPr/>
        </p:nvSpPr>
        <p:spPr>
          <a:xfrm>
            <a:off x="868680" y="3108960"/>
            <a:ext cx="49834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Search vs Deep Research</a:t>
            </a:r>
            <a:endParaRPr lang="en-US" sz="1900" dirty="0"/>
          </a:p>
        </p:txBody>
      </p:sp>
      <p:pic>
        <p:nvPicPr>
          <p:cNvPr id="21" name="Image 0" descr="/home/claude/deck/images_small/img11_search_modes.jpg">    </p:cNvPr>
          <p:cNvPicPr>
            <a:picLocks noChangeAspect="1"/>
          </p:cNvPicPr>
          <p:nvPr/>
        </p:nvPicPr>
        <p:blipFill>
          <a:blip r:embed="rId1"/>
          <a:srcRect l="0" r="0" t="0" b="0"/>
          <a:stretch/>
        </p:blipFill>
        <p:spPr>
          <a:xfrm>
            <a:off x="868680" y="3703320"/>
            <a:ext cx="4892040" cy="1874520"/>
          </a:xfrm>
          <a:prstGeom prst="rect">
            <a:avLst/>
          </a:prstGeom>
        </p:spPr>
      </p:pic>
      <p:sp>
        <p:nvSpPr>
          <p:cNvPr id="22" name="Text 19"/>
          <p:cNvSpPr/>
          <p:nvPr/>
        </p:nvSpPr>
        <p:spPr>
          <a:xfrm>
            <a:off x="868680" y="5669280"/>
            <a:ext cx="4892040" cy="8229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Default to Search for daily work. Switch to Deep Research when you need a multi-source brief and can wait 5–10 minutes.</a:t>
            </a:r>
            <a:endParaRPr lang="en-US" sz="1350" dirty="0"/>
          </a:p>
        </p:txBody>
      </p:sp>
      <p:sp>
        <p:nvSpPr>
          <p:cNvPr id="23" name="Shape 20"/>
          <p:cNvSpPr/>
          <p:nvPr/>
        </p:nvSpPr>
        <p:spPr>
          <a:xfrm>
            <a:off x="6263640" y="2697480"/>
            <a:ext cx="5532120" cy="3840480"/>
          </a:xfrm>
          <a:prstGeom prst="rect">
            <a:avLst/>
          </a:prstGeom>
          <a:solidFill>
            <a:srgbClr val="ECFEFF"/>
          </a:solidFill>
          <a:ln/>
        </p:spPr>
      </p:sp>
      <p:sp>
        <p:nvSpPr>
          <p:cNvPr id="24" name="Shape 21"/>
          <p:cNvSpPr/>
          <p:nvPr/>
        </p:nvSpPr>
        <p:spPr>
          <a:xfrm>
            <a:off x="6263640" y="2697480"/>
            <a:ext cx="5532120" cy="868680"/>
          </a:xfrm>
          <a:prstGeom prst="rect">
            <a:avLst/>
          </a:prstGeom>
          <a:solidFill>
            <a:srgbClr val="0891B2"/>
          </a:solidFill>
          <a:ln/>
        </p:spPr>
      </p:sp>
      <p:sp>
        <p:nvSpPr>
          <p:cNvPr id="25" name="Text 22"/>
          <p:cNvSpPr/>
          <p:nvPr/>
        </p:nvSpPr>
        <p:spPr>
          <a:xfrm>
            <a:off x="6583680" y="2834640"/>
            <a:ext cx="274320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SWITCH 2</a:t>
            </a:r>
            <a:endParaRPr lang="en-US" sz="1100" dirty="0"/>
          </a:p>
        </p:txBody>
      </p:sp>
      <p:sp>
        <p:nvSpPr>
          <p:cNvPr id="26" name="Text 23"/>
          <p:cNvSpPr/>
          <p:nvPr/>
        </p:nvSpPr>
        <p:spPr>
          <a:xfrm>
            <a:off x="6583680" y="3108960"/>
            <a:ext cx="49834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Pick the right model for the job</a:t>
            </a:r>
            <a:endParaRPr lang="en-US" sz="1900" dirty="0"/>
          </a:p>
        </p:txBody>
      </p:sp>
      <p:pic>
        <p:nvPicPr>
          <p:cNvPr id="27" name="Image 1" descr="/home/claude/deck/images_small/img10_model_picker.jpg">    </p:cNvPr>
          <p:cNvPicPr>
            <a:picLocks noChangeAspect="1"/>
          </p:cNvPicPr>
          <p:nvPr/>
        </p:nvPicPr>
        <p:blipFill>
          <a:blip r:embed="rId2"/>
          <a:srcRect l="0" r="0" t="0" b="0"/>
          <a:stretch/>
        </p:blipFill>
        <p:spPr>
          <a:xfrm>
            <a:off x="6583680" y="3703320"/>
            <a:ext cx="4892040" cy="1874520"/>
          </a:xfrm>
          <a:prstGeom prst="rect">
            <a:avLst/>
          </a:prstGeom>
        </p:spPr>
      </p:pic>
      <p:sp>
        <p:nvSpPr>
          <p:cNvPr id="28" name="Text 24"/>
          <p:cNvSpPr/>
          <p:nvPr/>
        </p:nvSpPr>
        <p:spPr>
          <a:xfrm>
            <a:off x="6583680" y="5669280"/>
            <a:ext cx="4892040" cy="8229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GPT-5.4 default for general work. Claude Sonnet 4.6 for synthesis and writing. Thinking / GPT-5.5 Max for multi-step reasoning over long documents.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How to write a prompt — the PICOE framework</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800" i="1" dirty="0">
                <a:solidFill>
                  <a:srgbClr val="64748B"/>
                </a:solidFill>
                <a:latin typeface="Georgia" pitchFamily="34" charset="0"/>
                <a:ea typeface="Georgia" pitchFamily="34" charset="-122"/>
                <a:cs typeface="Georgia" pitchFamily="34" charset="-120"/>
              </a:rPr>
              <a:t>Most people type questions. Power users write prompts. The difference is structure.</a:t>
            </a:r>
            <a:endParaRPr lang="en-US" sz="1800" dirty="0"/>
          </a:p>
        </p:txBody>
      </p:sp>
      <p:sp>
        <p:nvSpPr>
          <p:cNvPr id="17" name="Shape 15"/>
          <p:cNvSpPr/>
          <p:nvPr/>
        </p:nvSpPr>
        <p:spPr>
          <a:xfrm>
            <a:off x="548640" y="2697480"/>
            <a:ext cx="658368" cy="658368"/>
          </a:xfrm>
          <a:prstGeom prst="ellipse">
            <a:avLst/>
          </a:prstGeom>
          <a:solidFill>
            <a:srgbClr val="1E2A4D"/>
          </a:solidFill>
          <a:ln/>
        </p:spPr>
      </p:sp>
      <p:sp>
        <p:nvSpPr>
          <p:cNvPr id="18" name="Text 16"/>
          <p:cNvSpPr/>
          <p:nvPr/>
        </p:nvSpPr>
        <p:spPr>
          <a:xfrm>
            <a:off x="548640" y="269748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P</a:t>
            </a:r>
            <a:endParaRPr lang="en-US" sz="3000" dirty="0"/>
          </a:p>
        </p:txBody>
      </p:sp>
      <p:sp>
        <p:nvSpPr>
          <p:cNvPr id="19" name="Text 17"/>
          <p:cNvSpPr/>
          <p:nvPr/>
        </p:nvSpPr>
        <p:spPr>
          <a:xfrm>
            <a:off x="1417320" y="274320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Persona</a:t>
            </a:r>
            <a:endParaRPr lang="en-US" sz="1800" dirty="0"/>
          </a:p>
        </p:txBody>
      </p:sp>
      <p:sp>
        <p:nvSpPr>
          <p:cNvPr id="20" name="Text 18"/>
          <p:cNvSpPr/>
          <p:nvPr/>
        </p:nvSpPr>
        <p:spPr>
          <a:xfrm>
            <a:off x="4389120" y="274320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Who you are. "I work in sell-side equity research at Bernstein, covering Indian financials."</a:t>
            </a:r>
            <a:endParaRPr lang="en-US" sz="1300" dirty="0"/>
          </a:p>
        </p:txBody>
      </p:sp>
      <p:sp>
        <p:nvSpPr>
          <p:cNvPr id="21" name="Shape 19"/>
          <p:cNvSpPr/>
          <p:nvPr/>
        </p:nvSpPr>
        <p:spPr>
          <a:xfrm>
            <a:off x="548640" y="3429000"/>
            <a:ext cx="658368" cy="658368"/>
          </a:xfrm>
          <a:prstGeom prst="ellipse">
            <a:avLst/>
          </a:prstGeom>
          <a:solidFill>
            <a:srgbClr val="1E2A4D"/>
          </a:solidFill>
          <a:ln/>
        </p:spPr>
      </p:sp>
      <p:sp>
        <p:nvSpPr>
          <p:cNvPr id="22" name="Text 20"/>
          <p:cNvSpPr/>
          <p:nvPr/>
        </p:nvSpPr>
        <p:spPr>
          <a:xfrm>
            <a:off x="548640" y="342900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I</a:t>
            </a:r>
            <a:endParaRPr lang="en-US" sz="3000" dirty="0"/>
          </a:p>
        </p:txBody>
      </p:sp>
      <p:sp>
        <p:nvSpPr>
          <p:cNvPr id="23" name="Text 21"/>
          <p:cNvSpPr/>
          <p:nvPr/>
        </p:nvSpPr>
        <p:spPr>
          <a:xfrm>
            <a:off x="1417320" y="347472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Instructions</a:t>
            </a:r>
            <a:endParaRPr lang="en-US" sz="1800" dirty="0"/>
          </a:p>
        </p:txBody>
      </p:sp>
      <p:sp>
        <p:nvSpPr>
          <p:cNvPr id="24" name="Text 22"/>
          <p:cNvSpPr/>
          <p:nvPr/>
        </p:nvSpPr>
        <p:spPr>
          <a:xfrm>
            <a:off x="4389120" y="347472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What you want done. Be specific about the topic, the angle, and the inputs to use.</a:t>
            </a:r>
            <a:endParaRPr lang="en-US" sz="1300" dirty="0"/>
          </a:p>
        </p:txBody>
      </p:sp>
      <p:sp>
        <p:nvSpPr>
          <p:cNvPr id="25" name="Shape 23"/>
          <p:cNvSpPr/>
          <p:nvPr/>
        </p:nvSpPr>
        <p:spPr>
          <a:xfrm>
            <a:off x="548640" y="4160520"/>
            <a:ext cx="658368" cy="658368"/>
          </a:xfrm>
          <a:prstGeom prst="ellipse">
            <a:avLst/>
          </a:prstGeom>
          <a:solidFill>
            <a:srgbClr val="1E2A4D"/>
          </a:solidFill>
          <a:ln/>
        </p:spPr>
      </p:sp>
      <p:sp>
        <p:nvSpPr>
          <p:cNvPr id="26" name="Text 24"/>
          <p:cNvSpPr/>
          <p:nvPr/>
        </p:nvSpPr>
        <p:spPr>
          <a:xfrm>
            <a:off x="548640" y="416052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C</a:t>
            </a:r>
            <a:endParaRPr lang="en-US" sz="3000" dirty="0"/>
          </a:p>
        </p:txBody>
      </p:sp>
      <p:sp>
        <p:nvSpPr>
          <p:cNvPr id="27" name="Text 25"/>
          <p:cNvSpPr/>
          <p:nvPr/>
        </p:nvSpPr>
        <p:spPr>
          <a:xfrm>
            <a:off x="1417320" y="420624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Constraint</a:t>
            </a:r>
            <a:endParaRPr lang="en-US" sz="1800" dirty="0"/>
          </a:p>
        </p:txBody>
      </p:sp>
      <p:sp>
        <p:nvSpPr>
          <p:cNvPr id="28" name="Text 26"/>
          <p:cNvSpPr/>
          <p:nvPr/>
        </p:nvSpPr>
        <p:spPr>
          <a:xfrm>
            <a:off x="4389120" y="420624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What to avoid. Style, length, jargon level, tone — anything that's a hard no.</a:t>
            </a:r>
            <a:endParaRPr lang="en-US" sz="1300" dirty="0"/>
          </a:p>
        </p:txBody>
      </p:sp>
      <p:sp>
        <p:nvSpPr>
          <p:cNvPr id="29" name="Shape 27"/>
          <p:cNvSpPr/>
          <p:nvPr/>
        </p:nvSpPr>
        <p:spPr>
          <a:xfrm>
            <a:off x="548640" y="4892040"/>
            <a:ext cx="658368" cy="658368"/>
          </a:xfrm>
          <a:prstGeom prst="ellipse">
            <a:avLst/>
          </a:prstGeom>
          <a:solidFill>
            <a:srgbClr val="1E2A4D"/>
          </a:solidFill>
          <a:ln/>
        </p:spPr>
      </p:sp>
      <p:sp>
        <p:nvSpPr>
          <p:cNvPr id="30" name="Text 28"/>
          <p:cNvSpPr/>
          <p:nvPr/>
        </p:nvSpPr>
        <p:spPr>
          <a:xfrm>
            <a:off x="548640" y="489204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O</a:t>
            </a:r>
            <a:endParaRPr lang="en-US" sz="3000" dirty="0"/>
          </a:p>
        </p:txBody>
      </p:sp>
      <p:sp>
        <p:nvSpPr>
          <p:cNvPr id="31" name="Text 29"/>
          <p:cNvSpPr/>
          <p:nvPr/>
        </p:nvSpPr>
        <p:spPr>
          <a:xfrm>
            <a:off x="1417320" y="493776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Output format</a:t>
            </a:r>
            <a:endParaRPr lang="en-US" sz="1800" dirty="0"/>
          </a:p>
        </p:txBody>
      </p:sp>
      <p:sp>
        <p:nvSpPr>
          <p:cNvPr id="32" name="Text 30"/>
          <p:cNvSpPr/>
          <p:nvPr/>
        </p:nvSpPr>
        <p:spPr>
          <a:xfrm>
            <a:off x="4389120" y="493776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Shape of the answer. One paragraph / table / bullets / 1-page brief.</a:t>
            </a:r>
            <a:endParaRPr lang="en-US" sz="1300" dirty="0"/>
          </a:p>
        </p:txBody>
      </p:sp>
      <p:sp>
        <p:nvSpPr>
          <p:cNvPr id="33" name="Shape 31"/>
          <p:cNvSpPr/>
          <p:nvPr/>
        </p:nvSpPr>
        <p:spPr>
          <a:xfrm>
            <a:off x="548640" y="5623560"/>
            <a:ext cx="658368" cy="658368"/>
          </a:xfrm>
          <a:prstGeom prst="ellipse">
            <a:avLst/>
          </a:prstGeom>
          <a:solidFill>
            <a:srgbClr val="1E2A4D"/>
          </a:solidFill>
          <a:ln/>
        </p:spPr>
      </p:sp>
      <p:sp>
        <p:nvSpPr>
          <p:cNvPr id="34" name="Text 32"/>
          <p:cNvSpPr/>
          <p:nvPr/>
        </p:nvSpPr>
        <p:spPr>
          <a:xfrm>
            <a:off x="548640" y="562356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E</a:t>
            </a:r>
            <a:endParaRPr lang="en-US" sz="3000" dirty="0"/>
          </a:p>
        </p:txBody>
      </p:sp>
      <p:sp>
        <p:nvSpPr>
          <p:cNvPr id="35" name="Text 33"/>
          <p:cNvSpPr/>
          <p:nvPr/>
        </p:nvSpPr>
        <p:spPr>
          <a:xfrm>
            <a:off x="1417320" y="566928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Examples</a:t>
            </a:r>
            <a:endParaRPr lang="en-US" sz="1800" dirty="0"/>
          </a:p>
        </p:txBody>
      </p:sp>
      <p:sp>
        <p:nvSpPr>
          <p:cNvPr id="36" name="Text 34"/>
          <p:cNvSpPr/>
          <p:nvPr/>
        </p:nvSpPr>
        <p:spPr>
          <a:xfrm>
            <a:off x="4389120" y="566928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What good looks like. Paste 2–3 examples of past notes, paragraphs, or output styles.</a:t>
            </a:r>
            <a:endParaRPr lang="en-US" sz="1300" dirty="0"/>
          </a:p>
        </p:txBody>
      </p:sp>
      <p:sp>
        <p:nvSpPr>
          <p:cNvPr id="37" name="Text 35"/>
          <p:cNvSpPr/>
          <p:nvPr/>
        </p:nvSpPr>
        <p:spPr>
          <a:xfrm>
            <a:off x="548640" y="6537960"/>
            <a:ext cx="11064240" cy="274320"/>
          </a:xfrm>
          <a:prstGeom prst="rect">
            <a:avLst/>
          </a:prstGeom>
          <a:noFill/>
          <a:ln/>
        </p:spPr>
        <p:txBody>
          <a:bodyPr wrap="square" lIns="0" tIns="0" rIns="0" bIns="0" rtlCol="0" anchor="ctr"/>
          <a:lstStyle/>
          <a:p>
            <a:pPr indent="0" marL="0">
              <a:buNone/>
            </a:pPr>
            <a:r>
              <a:rPr lang="en-US" sz="1200" b="1" i="1" dirty="0">
                <a:solidFill>
                  <a:srgbClr val="0891B2"/>
                </a:solidFill>
                <a:latin typeface="Calibri" pitchFamily="34" charset="0"/>
                <a:ea typeface="Calibri" pitchFamily="34" charset="-122"/>
                <a:cs typeface="Calibri" pitchFamily="34" charset="-120"/>
              </a:rPr>
              <a:t>The more constrained the prompt, the better the output.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Three worked examples coming up</a:t>
            </a:r>
            <a:endParaRPr lang="en-US" sz="2700" dirty="0"/>
          </a:p>
        </p:txBody>
      </p:sp>
      <p:sp>
        <p:nvSpPr>
          <p:cNvPr id="16" name="Text 14"/>
          <p:cNvSpPr/>
          <p:nvPr/>
        </p:nvSpPr>
        <p:spPr>
          <a:xfrm>
            <a:off x="548640" y="2011680"/>
            <a:ext cx="11064240" cy="548640"/>
          </a:xfrm>
          <a:prstGeom prst="rect">
            <a:avLst/>
          </a:prstGeom>
          <a:noFill/>
          <a:ln/>
        </p:spPr>
        <p:txBody>
          <a:bodyPr wrap="square" lIns="0" tIns="0" rIns="0" bIns="0" rtlCol="0" anchor="ctr"/>
          <a:lstStyle/>
          <a:p>
            <a:pPr indent="0" marL="0">
              <a:lnSpc>
                <a:spcPct val="130000"/>
              </a:lnSpc>
              <a:buNone/>
            </a:pPr>
            <a:r>
              <a:rPr lang="en-US" sz="1700" i="1" dirty="0">
                <a:solidFill>
                  <a:srgbClr val="64748B"/>
                </a:solidFill>
                <a:latin typeface="Georgia" pitchFamily="34" charset="0"/>
                <a:ea typeface="Georgia" pitchFamily="34" charset="-122"/>
                <a:cs typeface="Georgia" pitchFamily="34" charset="-120"/>
              </a:rPr>
              <a:t>To show what PICOE actually delivers, three real prompts I've run — each a different shape of problem.</a:t>
            </a:r>
            <a:endParaRPr lang="en-US" sz="1700" dirty="0"/>
          </a:p>
        </p:txBody>
      </p:sp>
      <p:sp>
        <p:nvSpPr>
          <p:cNvPr id="17" name="Shape 15"/>
          <p:cNvSpPr/>
          <p:nvPr/>
        </p:nvSpPr>
        <p:spPr>
          <a:xfrm>
            <a:off x="548640" y="2880360"/>
            <a:ext cx="3657600" cy="3291840"/>
          </a:xfrm>
          <a:prstGeom prst="rect">
            <a:avLst/>
          </a:prstGeom>
          <a:solidFill>
            <a:srgbClr val="F8FAFC"/>
          </a:solidFill>
          <a:ln w="6350">
            <a:solidFill>
              <a:srgbClr val="E2E8F0"/>
            </a:solidFill>
            <a:prstDash val="solid"/>
          </a:ln>
        </p:spPr>
      </p:sp>
      <p:sp>
        <p:nvSpPr>
          <p:cNvPr id="18" name="Shape 16"/>
          <p:cNvSpPr/>
          <p:nvPr/>
        </p:nvSpPr>
        <p:spPr>
          <a:xfrm>
            <a:off x="548640" y="2880360"/>
            <a:ext cx="3657600" cy="548640"/>
          </a:xfrm>
          <a:prstGeom prst="rect">
            <a:avLst/>
          </a:prstGeom>
          <a:solidFill>
            <a:srgbClr val="1E2A4D"/>
          </a:solidFill>
          <a:ln/>
        </p:spPr>
      </p:sp>
      <p:sp>
        <p:nvSpPr>
          <p:cNvPr id="19" name="Text 17"/>
          <p:cNvSpPr/>
          <p:nvPr/>
        </p:nvSpPr>
        <p:spPr>
          <a:xfrm>
            <a:off x="777240" y="2999232"/>
            <a:ext cx="3291840" cy="32004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EXAMPLE 01</a:t>
            </a:r>
            <a:endParaRPr lang="en-US" sz="1200" dirty="0"/>
          </a:p>
        </p:txBody>
      </p:sp>
      <p:sp>
        <p:nvSpPr>
          <p:cNvPr id="20" name="Text 18"/>
          <p:cNvSpPr/>
          <p:nvPr/>
        </p:nvSpPr>
        <p:spPr>
          <a:xfrm>
            <a:off x="777240" y="3657600"/>
            <a:ext cx="3291840" cy="914400"/>
          </a:xfrm>
          <a:prstGeom prst="rect">
            <a:avLst/>
          </a:prstGeom>
          <a:noFill/>
          <a:ln/>
        </p:spPr>
        <p:txBody>
          <a:bodyPr wrap="square" lIns="0" tIns="0" rIns="0" bIns="0" rtlCol="0" anchor="ctr"/>
          <a:lstStyle/>
          <a:p>
            <a:pPr indent="0" marL="0">
              <a:lnSpc>
                <a:spcPct val="110000"/>
              </a:lnSpc>
              <a:buNone/>
            </a:pPr>
            <a:r>
              <a:rPr lang="en-US" sz="2000" b="1" dirty="0">
                <a:solidFill>
                  <a:srgbClr val="1E293B"/>
                </a:solidFill>
                <a:latin typeface="Georgia" pitchFamily="34" charset="0"/>
                <a:ea typeface="Georgia" pitchFamily="34" charset="-122"/>
                <a:cs typeface="Georgia" pitchFamily="34" charset="-120"/>
              </a:rPr>
              <a:t>Result note opening paragraph</a:t>
            </a:r>
            <a:endParaRPr lang="en-US" sz="2000" dirty="0"/>
          </a:p>
        </p:txBody>
      </p:sp>
      <p:sp>
        <p:nvSpPr>
          <p:cNvPr id="21" name="Text 19"/>
          <p:cNvSpPr/>
          <p:nvPr/>
        </p:nvSpPr>
        <p:spPr>
          <a:xfrm>
            <a:off x="777240" y="4663440"/>
            <a:ext cx="32918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CORE ANALYST WORKFLOW</a:t>
            </a:r>
            <a:endParaRPr lang="en-US" sz="1000" dirty="0"/>
          </a:p>
        </p:txBody>
      </p:sp>
      <p:sp>
        <p:nvSpPr>
          <p:cNvPr id="22" name="Text 20"/>
          <p:cNvSpPr/>
          <p:nvPr/>
        </p:nvSpPr>
        <p:spPr>
          <a:xfrm>
            <a:off x="777240" y="4983480"/>
            <a:ext cx="329184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L&amp;T Q4 — give it the brief, three prior paragraphs as style examples, and ask for one impactful opening paragraph in our voice.</a:t>
            </a:r>
            <a:endParaRPr lang="en-US" sz="1300" dirty="0"/>
          </a:p>
        </p:txBody>
      </p:sp>
      <p:sp>
        <p:nvSpPr>
          <p:cNvPr id="23" name="Shape 21"/>
          <p:cNvSpPr/>
          <p:nvPr/>
        </p:nvSpPr>
        <p:spPr>
          <a:xfrm>
            <a:off x="4370832" y="2880360"/>
            <a:ext cx="3657600" cy="3291840"/>
          </a:xfrm>
          <a:prstGeom prst="rect">
            <a:avLst/>
          </a:prstGeom>
          <a:solidFill>
            <a:srgbClr val="F8FAFC"/>
          </a:solidFill>
          <a:ln w="6350">
            <a:solidFill>
              <a:srgbClr val="E2E8F0"/>
            </a:solidFill>
            <a:prstDash val="solid"/>
          </a:ln>
        </p:spPr>
      </p:sp>
      <p:sp>
        <p:nvSpPr>
          <p:cNvPr id="24" name="Shape 22"/>
          <p:cNvSpPr/>
          <p:nvPr/>
        </p:nvSpPr>
        <p:spPr>
          <a:xfrm>
            <a:off x="4370832" y="2880360"/>
            <a:ext cx="3657600" cy="548640"/>
          </a:xfrm>
          <a:prstGeom prst="rect">
            <a:avLst/>
          </a:prstGeom>
          <a:solidFill>
            <a:srgbClr val="1E2A4D"/>
          </a:solidFill>
          <a:ln/>
        </p:spPr>
      </p:sp>
      <p:sp>
        <p:nvSpPr>
          <p:cNvPr id="25" name="Text 23"/>
          <p:cNvSpPr/>
          <p:nvPr/>
        </p:nvSpPr>
        <p:spPr>
          <a:xfrm>
            <a:off x="4599432" y="2999232"/>
            <a:ext cx="3291840" cy="32004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EXAMPLE 02</a:t>
            </a:r>
            <a:endParaRPr lang="en-US" sz="1200" dirty="0"/>
          </a:p>
        </p:txBody>
      </p:sp>
      <p:sp>
        <p:nvSpPr>
          <p:cNvPr id="26" name="Text 24"/>
          <p:cNvSpPr/>
          <p:nvPr/>
        </p:nvSpPr>
        <p:spPr>
          <a:xfrm>
            <a:off x="4599432" y="3657600"/>
            <a:ext cx="3291840" cy="914400"/>
          </a:xfrm>
          <a:prstGeom prst="rect">
            <a:avLst/>
          </a:prstGeom>
          <a:noFill/>
          <a:ln/>
        </p:spPr>
        <p:txBody>
          <a:bodyPr wrap="square" lIns="0" tIns="0" rIns="0" bIns="0" rtlCol="0" anchor="ctr"/>
          <a:lstStyle/>
          <a:p>
            <a:pPr indent="0" marL="0">
              <a:lnSpc>
                <a:spcPct val="110000"/>
              </a:lnSpc>
              <a:buNone/>
            </a:pPr>
            <a:r>
              <a:rPr lang="en-US" sz="2000" b="1" dirty="0">
                <a:solidFill>
                  <a:srgbClr val="1E293B"/>
                </a:solidFill>
                <a:latin typeface="Georgia" pitchFamily="34" charset="0"/>
                <a:ea typeface="Georgia" pitchFamily="34" charset="-122"/>
                <a:cs typeface="Georgia" pitchFamily="34" charset="-120"/>
              </a:rPr>
              <a:t>Tricky internal email</a:t>
            </a:r>
            <a:endParaRPr lang="en-US" sz="2000" dirty="0"/>
          </a:p>
        </p:txBody>
      </p:sp>
      <p:sp>
        <p:nvSpPr>
          <p:cNvPr id="27" name="Text 25"/>
          <p:cNvSpPr/>
          <p:nvPr/>
        </p:nvSpPr>
        <p:spPr>
          <a:xfrm>
            <a:off x="4599432" y="4663440"/>
            <a:ext cx="32918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QUICK PERSONAL WIN</a:t>
            </a:r>
            <a:endParaRPr lang="en-US" sz="1000" dirty="0"/>
          </a:p>
        </p:txBody>
      </p:sp>
      <p:sp>
        <p:nvSpPr>
          <p:cNvPr id="28" name="Text 26"/>
          <p:cNvSpPr/>
          <p:nvPr/>
        </p:nvSpPr>
        <p:spPr>
          <a:xfrm>
            <a:off x="4599432" y="4983480"/>
            <a:ext cx="329184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Asking for leave during earnings season, to a boss 15 years senior. Short, effective, gets the tone right.</a:t>
            </a:r>
            <a:endParaRPr lang="en-US" sz="1300" dirty="0"/>
          </a:p>
        </p:txBody>
      </p:sp>
      <p:sp>
        <p:nvSpPr>
          <p:cNvPr id="29" name="Shape 27"/>
          <p:cNvSpPr/>
          <p:nvPr/>
        </p:nvSpPr>
        <p:spPr>
          <a:xfrm>
            <a:off x="8193024" y="2880360"/>
            <a:ext cx="3657600" cy="3291840"/>
          </a:xfrm>
          <a:prstGeom prst="rect">
            <a:avLst/>
          </a:prstGeom>
          <a:solidFill>
            <a:srgbClr val="F8FAFC"/>
          </a:solidFill>
          <a:ln w="6350">
            <a:solidFill>
              <a:srgbClr val="E2E8F0"/>
            </a:solidFill>
            <a:prstDash val="solid"/>
          </a:ln>
        </p:spPr>
      </p:sp>
      <p:sp>
        <p:nvSpPr>
          <p:cNvPr id="30" name="Shape 28"/>
          <p:cNvSpPr/>
          <p:nvPr/>
        </p:nvSpPr>
        <p:spPr>
          <a:xfrm>
            <a:off x="8193024" y="2880360"/>
            <a:ext cx="3657600" cy="548640"/>
          </a:xfrm>
          <a:prstGeom prst="rect">
            <a:avLst/>
          </a:prstGeom>
          <a:solidFill>
            <a:srgbClr val="1E2A4D"/>
          </a:solidFill>
          <a:ln/>
        </p:spPr>
      </p:sp>
      <p:sp>
        <p:nvSpPr>
          <p:cNvPr id="31" name="Text 29"/>
          <p:cNvSpPr/>
          <p:nvPr/>
        </p:nvSpPr>
        <p:spPr>
          <a:xfrm>
            <a:off x="8421624" y="2999232"/>
            <a:ext cx="3291840" cy="32004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EXAMPLE 03</a:t>
            </a:r>
            <a:endParaRPr lang="en-US" sz="1200" dirty="0"/>
          </a:p>
        </p:txBody>
      </p:sp>
      <p:sp>
        <p:nvSpPr>
          <p:cNvPr id="32" name="Text 30"/>
          <p:cNvSpPr/>
          <p:nvPr/>
        </p:nvSpPr>
        <p:spPr>
          <a:xfrm>
            <a:off x="8421624" y="3657600"/>
            <a:ext cx="3291840" cy="914400"/>
          </a:xfrm>
          <a:prstGeom prst="rect">
            <a:avLst/>
          </a:prstGeom>
          <a:noFill/>
          <a:ln/>
        </p:spPr>
        <p:txBody>
          <a:bodyPr wrap="square" lIns="0" tIns="0" rIns="0" bIns="0" rtlCol="0" anchor="ctr"/>
          <a:lstStyle/>
          <a:p>
            <a:pPr indent="0" marL="0">
              <a:lnSpc>
                <a:spcPct val="110000"/>
              </a:lnSpc>
              <a:buNone/>
            </a:pPr>
            <a:r>
              <a:rPr lang="en-US" sz="2000" b="1" dirty="0">
                <a:solidFill>
                  <a:srgbClr val="1E293B"/>
                </a:solidFill>
                <a:latin typeface="Georgia" pitchFamily="34" charset="0"/>
                <a:ea typeface="Georgia" pitchFamily="34" charset="-122"/>
                <a:cs typeface="Georgia" pitchFamily="34" charset="-120"/>
              </a:rPr>
              <a:t>Use AI to write prompts for AI</a:t>
            </a:r>
            <a:endParaRPr lang="en-US" sz="2000" dirty="0"/>
          </a:p>
        </p:txBody>
      </p:sp>
      <p:sp>
        <p:nvSpPr>
          <p:cNvPr id="33" name="Text 31"/>
          <p:cNvSpPr/>
          <p:nvPr/>
        </p:nvSpPr>
        <p:spPr>
          <a:xfrm>
            <a:off x="8421624" y="4663440"/>
            <a:ext cx="32918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THE MULTIPLIER</a:t>
            </a:r>
            <a:endParaRPr lang="en-US" sz="1000" dirty="0"/>
          </a:p>
        </p:txBody>
      </p:sp>
      <p:sp>
        <p:nvSpPr>
          <p:cNvPr id="34" name="Text 32"/>
          <p:cNvSpPr/>
          <p:nvPr/>
        </p:nvSpPr>
        <p:spPr>
          <a:xfrm>
            <a:off x="8421624" y="4983480"/>
            <a:ext cx="329184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Ask Perplexity to generate a high-quality prompt for any other AI tool — reusable across companies and analysts.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1</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L&amp;T result note — the brief I gave Perplexity</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01</a:t>
            </a:r>
            <a:endParaRPr lang="en-US" sz="1200" dirty="0"/>
          </a:p>
        </p:txBody>
      </p:sp>
      <p:sp>
        <p:nvSpPr>
          <p:cNvPr id="18" name="Shape 16"/>
          <p:cNvSpPr/>
          <p:nvPr/>
        </p:nvSpPr>
        <p:spPr>
          <a:xfrm>
            <a:off x="548640" y="2697480"/>
            <a:ext cx="3657600" cy="1691640"/>
          </a:xfrm>
          <a:prstGeom prst="rect">
            <a:avLst/>
          </a:prstGeom>
          <a:solidFill>
            <a:srgbClr val="F8FAFC"/>
          </a:solidFill>
          <a:ln w="6350">
            <a:solidFill>
              <a:srgbClr val="E2E8F0"/>
            </a:solidFill>
            <a:prstDash val="solid"/>
          </a:ln>
        </p:spPr>
      </p:sp>
      <p:sp>
        <p:nvSpPr>
          <p:cNvPr id="19" name="Shape 17"/>
          <p:cNvSpPr/>
          <p:nvPr/>
        </p:nvSpPr>
        <p:spPr>
          <a:xfrm>
            <a:off x="548640" y="2697480"/>
            <a:ext cx="54864" cy="1691640"/>
          </a:xfrm>
          <a:prstGeom prst="rect">
            <a:avLst/>
          </a:prstGeom>
          <a:solidFill>
            <a:srgbClr val="0891B2"/>
          </a:solidFill>
          <a:ln/>
        </p:spPr>
      </p:sp>
      <p:sp>
        <p:nvSpPr>
          <p:cNvPr id="20" name="Text 18"/>
          <p:cNvSpPr/>
          <p:nvPr/>
        </p:nvSpPr>
        <p:spPr>
          <a:xfrm>
            <a:off x="731520" y="2852928"/>
            <a:ext cx="329184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P</a:t>
            </a:r>
            <a:pPr indent="0" marL="0">
              <a:buNone/>
            </a:pPr>
            <a:r>
              <a:rPr lang="en-US" sz="1100" b="1" spc="300" kern="0" dirty="0">
                <a:solidFill>
                  <a:srgbClr val="64748B"/>
                </a:solidFill>
              </a:rPr>
              <a:t>   PERSONA</a:t>
            </a:r>
            <a:endParaRPr lang="en-US" sz="1800" dirty="0"/>
          </a:p>
        </p:txBody>
      </p:sp>
      <p:sp>
        <p:nvSpPr>
          <p:cNvPr id="21" name="Text 19"/>
          <p:cNvSpPr/>
          <p:nvPr/>
        </p:nvSpPr>
        <p:spPr>
          <a:xfrm>
            <a:off x="731520" y="3246120"/>
            <a:ext cx="3291840" cy="105156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Sell-side equity research. Covering L&amp;T. Writing result note.</a:t>
            </a:r>
            <a:endParaRPr lang="en-US" sz="1300" dirty="0"/>
          </a:p>
        </p:txBody>
      </p:sp>
      <p:sp>
        <p:nvSpPr>
          <p:cNvPr id="22" name="Shape 20"/>
          <p:cNvSpPr/>
          <p:nvPr/>
        </p:nvSpPr>
        <p:spPr>
          <a:xfrm>
            <a:off x="4297680" y="2697480"/>
            <a:ext cx="3657600" cy="1691640"/>
          </a:xfrm>
          <a:prstGeom prst="rect">
            <a:avLst/>
          </a:prstGeom>
          <a:solidFill>
            <a:srgbClr val="F8FAFC"/>
          </a:solidFill>
          <a:ln w="6350">
            <a:solidFill>
              <a:srgbClr val="E2E8F0"/>
            </a:solidFill>
            <a:prstDash val="solid"/>
          </a:ln>
        </p:spPr>
      </p:sp>
      <p:sp>
        <p:nvSpPr>
          <p:cNvPr id="23" name="Shape 21"/>
          <p:cNvSpPr/>
          <p:nvPr/>
        </p:nvSpPr>
        <p:spPr>
          <a:xfrm>
            <a:off x="4297680" y="2697480"/>
            <a:ext cx="54864" cy="1691640"/>
          </a:xfrm>
          <a:prstGeom prst="rect">
            <a:avLst/>
          </a:prstGeom>
          <a:solidFill>
            <a:srgbClr val="0891B2"/>
          </a:solidFill>
          <a:ln/>
        </p:spPr>
      </p:sp>
      <p:sp>
        <p:nvSpPr>
          <p:cNvPr id="24" name="Text 22"/>
          <p:cNvSpPr/>
          <p:nvPr/>
        </p:nvSpPr>
        <p:spPr>
          <a:xfrm>
            <a:off x="4480560" y="2852928"/>
            <a:ext cx="329184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I</a:t>
            </a:r>
            <a:pPr indent="0" marL="0">
              <a:buNone/>
            </a:pPr>
            <a:r>
              <a:rPr lang="en-US" sz="1100" b="1" spc="300" kern="0" dirty="0">
                <a:solidFill>
                  <a:srgbClr val="64748B"/>
                </a:solidFill>
              </a:rPr>
              <a:t>   INSTRUCTIONS</a:t>
            </a:r>
            <a:endParaRPr lang="en-US" sz="1800" dirty="0"/>
          </a:p>
        </p:txBody>
      </p:sp>
      <p:sp>
        <p:nvSpPr>
          <p:cNvPr id="25" name="Text 23"/>
          <p:cNvSpPr/>
          <p:nvPr/>
        </p:nvSpPr>
        <p:spPr>
          <a:xfrm>
            <a:off x="4480560" y="3246120"/>
            <a:ext cx="3291840" cy="105156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Opening paragraph. Order inflow beat (Middle East). Revenue &amp; earnings miss (~₹50bn Q4). Near-term risks. Guidance: 10–12% inflow vs consensus ~17%. New 5-yr plan. Maintain Outperform.</a:t>
            </a:r>
            <a:endParaRPr lang="en-US" sz="1300" dirty="0"/>
          </a:p>
        </p:txBody>
      </p:sp>
      <p:sp>
        <p:nvSpPr>
          <p:cNvPr id="26" name="Shape 24"/>
          <p:cNvSpPr/>
          <p:nvPr/>
        </p:nvSpPr>
        <p:spPr>
          <a:xfrm>
            <a:off x="8046720" y="2697480"/>
            <a:ext cx="3657600" cy="1691640"/>
          </a:xfrm>
          <a:prstGeom prst="rect">
            <a:avLst/>
          </a:prstGeom>
          <a:solidFill>
            <a:srgbClr val="F8FAFC"/>
          </a:solidFill>
          <a:ln w="6350">
            <a:solidFill>
              <a:srgbClr val="E2E8F0"/>
            </a:solidFill>
            <a:prstDash val="solid"/>
          </a:ln>
        </p:spPr>
      </p:sp>
      <p:sp>
        <p:nvSpPr>
          <p:cNvPr id="27" name="Shape 25"/>
          <p:cNvSpPr/>
          <p:nvPr/>
        </p:nvSpPr>
        <p:spPr>
          <a:xfrm>
            <a:off x="8046720" y="2697480"/>
            <a:ext cx="54864" cy="1691640"/>
          </a:xfrm>
          <a:prstGeom prst="rect">
            <a:avLst/>
          </a:prstGeom>
          <a:solidFill>
            <a:srgbClr val="0891B2"/>
          </a:solidFill>
          <a:ln/>
        </p:spPr>
      </p:sp>
      <p:sp>
        <p:nvSpPr>
          <p:cNvPr id="28" name="Text 26"/>
          <p:cNvSpPr/>
          <p:nvPr/>
        </p:nvSpPr>
        <p:spPr>
          <a:xfrm>
            <a:off x="8229600" y="2852928"/>
            <a:ext cx="329184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C</a:t>
            </a:r>
            <a:pPr indent="0" marL="0">
              <a:buNone/>
            </a:pPr>
            <a:r>
              <a:rPr lang="en-US" sz="1100" b="1" spc="300" kern="0" dirty="0">
                <a:solidFill>
                  <a:srgbClr val="64748B"/>
                </a:solidFill>
              </a:rPr>
              <a:t>   CONSTRAINT</a:t>
            </a:r>
            <a:endParaRPr lang="en-US" sz="1800" dirty="0"/>
          </a:p>
        </p:txBody>
      </p:sp>
      <p:sp>
        <p:nvSpPr>
          <p:cNvPr id="29" name="Text 27"/>
          <p:cNvSpPr/>
          <p:nvPr/>
        </p:nvSpPr>
        <p:spPr>
          <a:xfrm>
            <a:off x="8229600" y="3246120"/>
            <a:ext cx="3291840" cy="105156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Impactful, no beating around the bush. Match the example style. Simple precise language, minimal jargon.</a:t>
            </a:r>
            <a:endParaRPr lang="en-US" sz="1300" dirty="0"/>
          </a:p>
        </p:txBody>
      </p:sp>
      <p:sp>
        <p:nvSpPr>
          <p:cNvPr id="30" name="Shape 28"/>
          <p:cNvSpPr/>
          <p:nvPr/>
        </p:nvSpPr>
        <p:spPr>
          <a:xfrm>
            <a:off x="548640" y="4526280"/>
            <a:ext cx="5532120" cy="1188720"/>
          </a:xfrm>
          <a:prstGeom prst="rect">
            <a:avLst/>
          </a:prstGeom>
          <a:solidFill>
            <a:srgbClr val="F8FAFC"/>
          </a:solidFill>
          <a:ln w="6350">
            <a:solidFill>
              <a:srgbClr val="E2E8F0"/>
            </a:solidFill>
            <a:prstDash val="solid"/>
          </a:ln>
        </p:spPr>
      </p:sp>
      <p:sp>
        <p:nvSpPr>
          <p:cNvPr id="31" name="Shape 29"/>
          <p:cNvSpPr/>
          <p:nvPr/>
        </p:nvSpPr>
        <p:spPr>
          <a:xfrm>
            <a:off x="548640" y="4526280"/>
            <a:ext cx="54864" cy="1188720"/>
          </a:xfrm>
          <a:prstGeom prst="rect">
            <a:avLst/>
          </a:prstGeom>
          <a:solidFill>
            <a:srgbClr val="0891B2"/>
          </a:solidFill>
          <a:ln/>
        </p:spPr>
      </p:sp>
      <p:sp>
        <p:nvSpPr>
          <p:cNvPr id="32" name="Text 30"/>
          <p:cNvSpPr/>
          <p:nvPr/>
        </p:nvSpPr>
        <p:spPr>
          <a:xfrm>
            <a:off x="731520" y="4681728"/>
            <a:ext cx="516636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O</a:t>
            </a:r>
            <a:pPr indent="0" marL="0">
              <a:buNone/>
            </a:pPr>
            <a:r>
              <a:rPr lang="en-US" sz="1100" b="1" spc="300" kern="0" dirty="0">
                <a:solidFill>
                  <a:srgbClr val="64748B"/>
                </a:solidFill>
              </a:rPr>
              <a:t>   OUTPUT FORMAT</a:t>
            </a:r>
            <a:endParaRPr lang="en-US" sz="1800" dirty="0"/>
          </a:p>
        </p:txBody>
      </p:sp>
      <p:sp>
        <p:nvSpPr>
          <p:cNvPr id="33" name="Text 31"/>
          <p:cNvSpPr/>
          <p:nvPr/>
        </p:nvSpPr>
        <p:spPr>
          <a:xfrm>
            <a:off x="731520" y="5074920"/>
            <a:ext cx="5166360" cy="54864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One paragraph.</a:t>
            </a:r>
            <a:endParaRPr lang="en-US" sz="1300" dirty="0"/>
          </a:p>
        </p:txBody>
      </p:sp>
      <p:sp>
        <p:nvSpPr>
          <p:cNvPr id="34" name="Shape 32"/>
          <p:cNvSpPr/>
          <p:nvPr/>
        </p:nvSpPr>
        <p:spPr>
          <a:xfrm>
            <a:off x="6172200" y="4526280"/>
            <a:ext cx="5532120" cy="1188720"/>
          </a:xfrm>
          <a:prstGeom prst="rect">
            <a:avLst/>
          </a:prstGeom>
          <a:solidFill>
            <a:srgbClr val="F8FAFC"/>
          </a:solidFill>
          <a:ln w="6350">
            <a:solidFill>
              <a:srgbClr val="E2E8F0"/>
            </a:solidFill>
            <a:prstDash val="solid"/>
          </a:ln>
        </p:spPr>
      </p:sp>
      <p:sp>
        <p:nvSpPr>
          <p:cNvPr id="35" name="Shape 33"/>
          <p:cNvSpPr/>
          <p:nvPr/>
        </p:nvSpPr>
        <p:spPr>
          <a:xfrm>
            <a:off x="6172200" y="4526280"/>
            <a:ext cx="54864" cy="1188720"/>
          </a:xfrm>
          <a:prstGeom prst="rect">
            <a:avLst/>
          </a:prstGeom>
          <a:solidFill>
            <a:srgbClr val="0891B2"/>
          </a:solidFill>
          <a:ln/>
        </p:spPr>
      </p:sp>
      <p:sp>
        <p:nvSpPr>
          <p:cNvPr id="36" name="Text 34"/>
          <p:cNvSpPr/>
          <p:nvPr/>
        </p:nvSpPr>
        <p:spPr>
          <a:xfrm>
            <a:off x="6355080" y="4681728"/>
            <a:ext cx="516636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E</a:t>
            </a:r>
            <a:pPr indent="0" marL="0">
              <a:buNone/>
            </a:pPr>
            <a:r>
              <a:rPr lang="en-US" sz="1100" b="1" spc="300" kern="0" dirty="0">
                <a:solidFill>
                  <a:srgbClr val="64748B"/>
                </a:solidFill>
              </a:rPr>
              <a:t>   EXAMPLES</a:t>
            </a:r>
            <a:endParaRPr lang="en-US" sz="1800" dirty="0"/>
          </a:p>
        </p:txBody>
      </p:sp>
      <p:sp>
        <p:nvSpPr>
          <p:cNvPr id="37" name="Text 35"/>
          <p:cNvSpPr/>
          <p:nvPr/>
        </p:nvSpPr>
        <p:spPr>
          <a:xfrm>
            <a:off x="6355080" y="5074920"/>
            <a:ext cx="5166360" cy="54864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Three prior L&amp;T opening paragraphs from past notes, pasted in full.</a:t>
            </a:r>
            <a:endParaRPr lang="en-US" sz="1300" dirty="0"/>
          </a:p>
        </p:txBody>
      </p:sp>
      <p:sp>
        <p:nvSpPr>
          <p:cNvPr id="38" name="Text 36"/>
          <p:cNvSpPr/>
          <p:nvPr/>
        </p:nvSpPr>
        <p:spPr>
          <a:xfrm>
            <a:off x="548640" y="5943600"/>
            <a:ext cx="11064240" cy="457200"/>
          </a:xfrm>
          <a:prstGeom prst="rect">
            <a:avLst/>
          </a:prstGeom>
          <a:noFill/>
          <a:ln/>
        </p:spPr>
        <p:txBody>
          <a:bodyPr wrap="square" lIns="0" tIns="0" rIns="0" bIns="0" rtlCol="0" anchor="ctr"/>
          <a:lstStyle/>
          <a:p>
            <a:pPr algn="ctr" indent="0" marL="0">
              <a:buNone/>
            </a:pPr>
            <a:r>
              <a:rPr lang="en-US" sz="1800" i="1" dirty="0">
                <a:solidFill>
                  <a:srgbClr val="0891B2"/>
                </a:solidFill>
                <a:latin typeface="Georgia" pitchFamily="34" charset="0"/>
                <a:ea typeface="Georgia" pitchFamily="34" charset="-122"/>
                <a:cs typeface="Georgia" pitchFamily="34" charset="-120"/>
              </a:rPr>
              <a:t>→ Output on the next slide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1</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L&amp;T result note — the output Perplexity returned</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01</a:t>
            </a:r>
            <a:endParaRPr lang="en-US" sz="1200" dirty="0"/>
          </a:p>
        </p:txBody>
      </p:sp>
      <p:sp>
        <p:nvSpPr>
          <p:cNvPr id="18" name="Shape 16"/>
          <p:cNvSpPr/>
          <p:nvPr/>
        </p:nvSpPr>
        <p:spPr>
          <a:xfrm>
            <a:off x="548640" y="2697480"/>
            <a:ext cx="11064240" cy="3520440"/>
          </a:xfrm>
          <a:prstGeom prst="rect">
            <a:avLst/>
          </a:prstGeom>
          <a:solidFill>
            <a:srgbClr val="1E2A4D"/>
          </a:solidFill>
          <a:ln/>
        </p:spPr>
      </p:sp>
      <p:sp>
        <p:nvSpPr>
          <p:cNvPr id="19" name="Shape 17"/>
          <p:cNvSpPr/>
          <p:nvPr/>
        </p:nvSpPr>
        <p:spPr>
          <a:xfrm>
            <a:off x="548640" y="2697480"/>
            <a:ext cx="73152" cy="3520440"/>
          </a:xfrm>
          <a:prstGeom prst="rect">
            <a:avLst/>
          </a:prstGeom>
          <a:solidFill>
            <a:srgbClr val="0891B2"/>
          </a:solidFill>
          <a:ln/>
        </p:spPr>
      </p:sp>
      <p:sp>
        <p:nvSpPr>
          <p:cNvPr id="20" name="Text 18"/>
          <p:cNvSpPr/>
          <p:nvPr/>
        </p:nvSpPr>
        <p:spPr>
          <a:xfrm>
            <a:off x="914400" y="2743200"/>
            <a:ext cx="548640" cy="640080"/>
          </a:xfrm>
          <a:prstGeom prst="rect">
            <a:avLst/>
          </a:prstGeom>
          <a:noFill/>
          <a:ln/>
        </p:spPr>
        <p:txBody>
          <a:bodyPr wrap="square" lIns="0" tIns="0" rIns="0" bIns="0" rtlCol="0" anchor="ctr"/>
          <a:lstStyle/>
          <a:p>
            <a:pPr indent="0" marL="0">
              <a:buNone/>
            </a:pPr>
            <a:r>
              <a:rPr lang="en-US" sz="5600" b="1" dirty="0">
                <a:solidFill>
                  <a:srgbClr val="0891B2"/>
                </a:solidFill>
                <a:latin typeface="Georgia" pitchFamily="34" charset="0"/>
                <a:ea typeface="Georgia" pitchFamily="34" charset="-122"/>
                <a:cs typeface="Georgia" pitchFamily="34" charset="-120"/>
              </a:rPr>
              <a:t>“</a:t>
            </a:r>
            <a:endParaRPr lang="en-US" sz="5600" dirty="0"/>
          </a:p>
        </p:txBody>
      </p:sp>
      <p:sp>
        <p:nvSpPr>
          <p:cNvPr id="21" name="Text 19"/>
          <p:cNvSpPr/>
          <p:nvPr/>
        </p:nvSpPr>
        <p:spPr>
          <a:xfrm>
            <a:off x="1508760" y="2926080"/>
            <a:ext cx="9692640" cy="3154680"/>
          </a:xfrm>
          <a:prstGeom prst="rect">
            <a:avLst/>
          </a:prstGeom>
          <a:noFill/>
          <a:ln/>
        </p:spPr>
        <p:txBody>
          <a:bodyPr wrap="square" lIns="0" tIns="0" rIns="0" bIns="0" rtlCol="0" anchor="ctr"/>
          <a:lstStyle/>
          <a:p>
            <a:pPr indent="0" marL="0">
              <a:lnSpc>
                <a:spcPct val="140000"/>
              </a:lnSpc>
              <a:buNone/>
            </a:pPr>
            <a:r>
              <a:rPr lang="en-US" sz="1350" i="1" dirty="0">
                <a:solidFill>
                  <a:srgbClr val="FFFFFF"/>
                </a:solidFill>
                <a:latin typeface="Georgia" pitchFamily="34" charset="0"/>
                <a:ea typeface="Georgia" pitchFamily="34" charset="-122"/>
                <a:cs typeface="Georgia" pitchFamily="34" charset="-120"/>
              </a:rPr>
              <a:t>L&amp;T reported a quarter with a meaningful miss on revenue and earnings — ₹50bn of headwinds from Middle East project disruptions and India water sector delays weighed on execution — but the order inflow story more than held up, with inflows beating expectations on the back of strong international demand. The near-term read-through is mixed: execution delays, supply chain disruptions, and higher insurance costs remain live risks, and consensus will need to reset revenue growth expectations from ~17% closer to the company's own guidance of 10–12%. What keeps us constructive is the demand backdrop — Middle East capex pipeline remains robust, and management's new 5-year plan articulates a credible expansion into industrial electronics, nuclear, data centers, and green hydrogen, with targets of 10–12% order inflow CAGR, 12–15% revenue growth, and 16–17% ROE. Near-term execution headwinds are real, but the long-term structural story remains firmly intact — we maintain Outperform.</a:t>
            </a:r>
            <a:endParaRPr lang="en-US" sz="1350" dirty="0"/>
          </a:p>
        </p:txBody>
      </p:sp>
      <p:sp>
        <p:nvSpPr>
          <p:cNvPr id="22" name="Shape 20"/>
          <p:cNvSpPr/>
          <p:nvPr/>
        </p:nvSpPr>
        <p:spPr>
          <a:xfrm>
            <a:off x="548640" y="6355080"/>
            <a:ext cx="11064240" cy="502920"/>
          </a:xfrm>
          <a:prstGeom prst="rect">
            <a:avLst/>
          </a:prstGeom>
          <a:solidFill>
            <a:srgbClr val="ECFEFF"/>
          </a:solidFill>
          <a:ln w="6350">
            <a:solidFill>
              <a:srgbClr val="0891B2"/>
            </a:solidFill>
            <a:prstDash val="solid"/>
          </a:ln>
        </p:spPr>
      </p:sp>
      <p:sp>
        <p:nvSpPr>
          <p:cNvPr id="23" name="Text 21"/>
          <p:cNvSpPr/>
          <p:nvPr/>
        </p:nvSpPr>
        <p:spPr>
          <a:xfrm>
            <a:off x="777240" y="6355080"/>
            <a:ext cx="10607040" cy="5029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THE POINT  </a:t>
            </a:r>
            <a:pPr indent="0" marL="0">
              <a:buNone/>
            </a:pPr>
            <a:r>
              <a:rPr lang="en-US" sz="1400" i="1" dirty="0">
                <a:solidFill>
                  <a:srgbClr val="1E293B"/>
                </a:solidFill>
                <a:latin typeface="Calibri" pitchFamily="34" charset="0"/>
                <a:ea typeface="Calibri" pitchFamily="34" charset="-122"/>
                <a:cs typeface="Calibri" pitchFamily="34" charset="-120"/>
              </a:rPr>
              <a:t>Same length, same hedging, same Bernstein voice. The structure does the work.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2</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A tricky internal email</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02</a:t>
            </a:r>
            <a:endParaRPr lang="en-US" sz="1200" dirty="0"/>
          </a:p>
        </p:txBody>
      </p:sp>
      <p:sp>
        <p:nvSpPr>
          <p:cNvPr id="18" name="Shape 16"/>
          <p:cNvSpPr/>
          <p:nvPr/>
        </p:nvSpPr>
        <p:spPr>
          <a:xfrm>
            <a:off x="548640" y="2697480"/>
            <a:ext cx="5532120" cy="4023360"/>
          </a:xfrm>
          <a:prstGeom prst="rect">
            <a:avLst/>
          </a:prstGeom>
          <a:solidFill>
            <a:srgbClr val="F8FAFC"/>
          </a:solidFill>
          <a:ln w="6350">
            <a:solidFill>
              <a:srgbClr val="E2E8F0"/>
            </a:solidFill>
            <a:prstDash val="solid"/>
          </a:ln>
        </p:spPr>
      </p:sp>
      <p:sp>
        <p:nvSpPr>
          <p:cNvPr id="19" name="Shape 17"/>
          <p:cNvSpPr/>
          <p:nvPr/>
        </p:nvSpPr>
        <p:spPr>
          <a:xfrm>
            <a:off x="548640" y="2697480"/>
            <a:ext cx="64008" cy="4023360"/>
          </a:xfrm>
          <a:prstGeom prst="rect">
            <a:avLst/>
          </a:prstGeom>
          <a:solidFill>
            <a:srgbClr val="0891B2"/>
          </a:solidFill>
          <a:ln/>
        </p:spPr>
      </p:sp>
      <p:sp>
        <p:nvSpPr>
          <p:cNvPr id="20" name="Text 18"/>
          <p:cNvSpPr/>
          <p:nvPr/>
        </p:nvSpPr>
        <p:spPr>
          <a:xfrm>
            <a:off x="822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THE SITUATION</a:t>
            </a:r>
            <a:endParaRPr lang="en-US" sz="1100" dirty="0"/>
          </a:p>
        </p:txBody>
      </p:sp>
      <p:sp>
        <p:nvSpPr>
          <p:cNvPr id="21" name="Text 19"/>
          <p:cNvSpPr/>
          <p:nvPr/>
        </p:nvSpPr>
        <p:spPr>
          <a:xfrm>
            <a:off x="822960" y="3246120"/>
            <a:ext cx="5074920" cy="502920"/>
          </a:xfrm>
          <a:prstGeom prst="rect">
            <a:avLst/>
          </a:prstGeom>
          <a:noFill/>
          <a:ln/>
        </p:spPr>
        <p:txBody>
          <a:bodyPr wrap="square" lIns="0" tIns="0" rIns="0" bIns="0" rtlCol="0" anchor="ctr"/>
          <a:lstStyle/>
          <a:p>
            <a:pPr indent="0" marL="0">
              <a:buNone/>
            </a:pPr>
            <a:r>
              <a:rPr lang="en-US" sz="1900" b="1" dirty="0">
                <a:solidFill>
                  <a:srgbClr val="1E293B"/>
                </a:solidFill>
                <a:latin typeface="Georgia" pitchFamily="34" charset="0"/>
                <a:ea typeface="Georgia" pitchFamily="34" charset="-122"/>
                <a:cs typeface="Georgia" pitchFamily="34" charset="-120"/>
              </a:rPr>
              <a:t>Leave request during earnings season</a:t>
            </a:r>
            <a:endParaRPr lang="en-US" sz="1900" dirty="0"/>
          </a:p>
        </p:txBody>
      </p:sp>
      <p:sp>
        <p:nvSpPr>
          <p:cNvPr id="22" name="Text 20"/>
          <p:cNvSpPr/>
          <p:nvPr/>
        </p:nvSpPr>
        <p:spPr>
          <a:xfrm>
            <a:off x="822960" y="3931920"/>
            <a:ext cx="5074920" cy="146304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To a boss 15 years senior. PICOE handles the diplomacy: persona (junior analyst), constraint (busy season, may not approve), output (short, effective email).</a:t>
            </a:r>
            <a:endParaRPr lang="en-US" sz="1400" dirty="0"/>
          </a:p>
        </p:txBody>
      </p:sp>
      <p:sp>
        <p:nvSpPr>
          <p:cNvPr id="23" name="Text 21"/>
          <p:cNvSpPr/>
          <p:nvPr/>
        </p:nvSpPr>
        <p:spPr>
          <a:xfrm>
            <a:off x="822960" y="5943600"/>
            <a:ext cx="5074920" cy="640080"/>
          </a:xfrm>
          <a:prstGeom prst="rect">
            <a:avLst/>
          </a:prstGeom>
          <a:noFill/>
          <a:ln/>
        </p:spPr>
        <p:txBody>
          <a:bodyPr wrap="square" lIns="0" tIns="0" rIns="0" bIns="0" rtlCol="0" anchor="ctr"/>
          <a:lstStyle/>
          <a:p>
            <a:pPr indent="0" marL="0">
              <a:lnSpc>
                <a:spcPct val="130000"/>
              </a:lnSpc>
              <a:buNone/>
            </a:pPr>
            <a:r>
              <a:rPr lang="en-US" sz="1300" i="1" dirty="0">
                <a:solidFill>
                  <a:srgbClr val="0891B2"/>
                </a:solidFill>
                <a:latin typeface="Calibri" pitchFamily="34" charset="0"/>
                <a:ea typeface="Calibri" pitchFamily="34" charset="-122"/>
                <a:cs typeface="Calibri" pitchFamily="34" charset="-120"/>
              </a:rPr>
              <a:t>→ Same logic for difficult client emails, pushback to a PM, escalations.</a:t>
            </a:r>
            <a:endParaRPr lang="en-US" sz="1300" dirty="0"/>
          </a:p>
        </p:txBody>
      </p:sp>
      <p:sp>
        <p:nvSpPr>
          <p:cNvPr id="24" name="Shape 22"/>
          <p:cNvSpPr/>
          <p:nvPr/>
        </p:nvSpPr>
        <p:spPr>
          <a:xfrm>
            <a:off x="6263640" y="2697480"/>
            <a:ext cx="5532120" cy="4023360"/>
          </a:xfrm>
          <a:prstGeom prst="rect">
            <a:avLst/>
          </a:prstGeom>
          <a:solidFill>
            <a:srgbClr val="1E2A4D"/>
          </a:solidFill>
          <a:ln/>
        </p:spPr>
      </p:sp>
      <p:sp>
        <p:nvSpPr>
          <p:cNvPr id="25" name="Shape 23"/>
          <p:cNvSpPr/>
          <p:nvPr/>
        </p:nvSpPr>
        <p:spPr>
          <a:xfrm>
            <a:off x="6263640" y="2697480"/>
            <a:ext cx="64008" cy="4023360"/>
          </a:xfrm>
          <a:prstGeom prst="rect">
            <a:avLst/>
          </a:prstGeom>
          <a:solidFill>
            <a:srgbClr val="0891B2"/>
          </a:solidFill>
          <a:ln/>
        </p:spPr>
      </p:sp>
      <p:sp>
        <p:nvSpPr>
          <p:cNvPr id="26" name="Text 24"/>
          <p:cNvSpPr/>
          <p:nvPr/>
        </p:nvSpPr>
        <p:spPr>
          <a:xfrm>
            <a:off x="6537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CAME BACK</a:t>
            </a:r>
            <a:endParaRPr lang="en-US" sz="1100" dirty="0"/>
          </a:p>
        </p:txBody>
      </p:sp>
      <p:sp>
        <p:nvSpPr>
          <p:cNvPr id="27" name="Text 25"/>
          <p:cNvSpPr/>
          <p:nvPr/>
        </p:nvSpPr>
        <p:spPr>
          <a:xfrm>
            <a:off x="6537960" y="3337560"/>
            <a:ext cx="5074920" cy="3200400"/>
          </a:xfrm>
          <a:prstGeom prst="rect">
            <a:avLst/>
          </a:prstGeom>
          <a:noFill/>
          <a:ln/>
        </p:spPr>
        <p:txBody>
          <a:bodyPr wrap="square" lIns="0" tIns="0" rIns="0" bIns="0" rtlCol="0" anchor="ctr"/>
          <a:lstStyle/>
          <a:p>
            <a:pPr indent="0" marL="0">
              <a:lnSpc>
                <a:spcPct val="140000"/>
              </a:lnSpc>
              <a:buNone/>
            </a:pPr>
            <a:r>
              <a:rPr lang="en-US" sz="1400" i="1" dirty="0">
                <a:solidFill>
                  <a:srgbClr val="FFFFFF"/>
                </a:solidFill>
                <a:latin typeface="Georgia" pitchFamily="34" charset="0"/>
                <a:ea typeface="Georgia" pitchFamily="34" charset="-122"/>
                <a:cs typeface="Georgia" pitchFamily="34" charset="-120"/>
              </a:rPr>
              <a:t>"…I'm aware this falls during earnings season, so I'll ensure all my key deliverables are covered in advance and remain available on call for any critical items if needed. Please let me know if this works, or if you'd prefer any adjustments…"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3</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Use AI to write prompts for AI — the multiplier</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03</a:t>
            </a:r>
            <a:endParaRPr lang="en-US" sz="1200" dirty="0"/>
          </a:p>
        </p:txBody>
      </p:sp>
      <p:sp>
        <p:nvSpPr>
          <p:cNvPr id="18" name="Shape 16"/>
          <p:cNvSpPr/>
          <p:nvPr/>
        </p:nvSpPr>
        <p:spPr>
          <a:xfrm>
            <a:off x="548640" y="2697480"/>
            <a:ext cx="5532120" cy="4023360"/>
          </a:xfrm>
          <a:prstGeom prst="rect">
            <a:avLst/>
          </a:prstGeom>
          <a:solidFill>
            <a:srgbClr val="F8FAFC"/>
          </a:solidFill>
          <a:ln w="6350">
            <a:solidFill>
              <a:srgbClr val="E2E8F0"/>
            </a:solidFill>
            <a:prstDash val="solid"/>
          </a:ln>
        </p:spPr>
      </p:sp>
      <p:sp>
        <p:nvSpPr>
          <p:cNvPr id="19" name="Shape 17"/>
          <p:cNvSpPr/>
          <p:nvPr/>
        </p:nvSpPr>
        <p:spPr>
          <a:xfrm>
            <a:off x="548640" y="2697480"/>
            <a:ext cx="64008" cy="4023360"/>
          </a:xfrm>
          <a:prstGeom prst="rect">
            <a:avLst/>
          </a:prstGeom>
          <a:solidFill>
            <a:srgbClr val="0891B2"/>
          </a:solidFill>
          <a:ln/>
        </p:spPr>
      </p:sp>
      <p:sp>
        <p:nvSpPr>
          <p:cNvPr id="20" name="Text 18"/>
          <p:cNvSpPr/>
          <p:nvPr/>
        </p:nvSpPr>
        <p:spPr>
          <a:xfrm>
            <a:off x="822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 ASKED</a:t>
            </a:r>
            <a:endParaRPr lang="en-US" sz="1100" dirty="0"/>
          </a:p>
        </p:txBody>
      </p:sp>
      <p:sp>
        <p:nvSpPr>
          <p:cNvPr id="21" name="Text 19"/>
          <p:cNvSpPr/>
          <p:nvPr/>
        </p:nvSpPr>
        <p:spPr>
          <a:xfrm>
            <a:off x="822960" y="3291840"/>
            <a:ext cx="5074920" cy="914400"/>
          </a:xfrm>
          <a:prstGeom prst="rect">
            <a:avLst/>
          </a:prstGeom>
          <a:noFill/>
          <a:ln/>
        </p:spPr>
        <p:txBody>
          <a:bodyPr wrap="square" lIns="0" tIns="0" rIns="0" bIns="0" rtlCol="0" anchor="ctr"/>
          <a:lstStyle/>
          <a:p>
            <a:pPr indent="0" marL="0">
              <a:lnSpc>
                <a:spcPct val="135000"/>
              </a:lnSpc>
              <a:buNone/>
            </a:pPr>
            <a:r>
              <a:rPr lang="en-US" sz="1500" i="1" dirty="0">
                <a:solidFill>
                  <a:srgbClr val="1E293B"/>
                </a:solidFill>
                <a:latin typeface="Georgia" pitchFamily="34" charset="0"/>
                <a:ea typeface="Georgia" pitchFamily="34" charset="-122"/>
                <a:cs typeface="Georgia" pitchFamily="34" charset="-120"/>
              </a:rPr>
              <a:t>"I need research on HDFC Bank. Give me a strong prompt I can use in other AI platforms."</a:t>
            </a:r>
            <a:endParaRPr lang="en-US" sz="1500" dirty="0"/>
          </a:p>
        </p:txBody>
      </p:sp>
      <p:sp>
        <p:nvSpPr>
          <p:cNvPr id="22" name="Text 20"/>
          <p:cNvSpPr/>
          <p:nvPr/>
        </p:nvSpPr>
        <p:spPr>
          <a:xfrm>
            <a:off x="822960" y="45262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IT'S A MULTIPLIER</a:t>
            </a:r>
            <a:endParaRPr lang="en-US" sz="1100" dirty="0"/>
          </a:p>
        </p:txBody>
      </p:sp>
      <p:sp>
        <p:nvSpPr>
          <p:cNvPr id="23" name="Text 21"/>
          <p:cNvSpPr/>
          <p:nvPr/>
        </p:nvSpPr>
        <p:spPr>
          <a:xfrm>
            <a:off x="822960" y="4892040"/>
            <a:ext cx="5074920" cy="16459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Reusable across every name. Reusable across any AI tool — ChatGPT, Claude, Gemini. Build the prompt once, use it everywhere.</a:t>
            </a:r>
            <a:endParaRPr lang="en-US" sz="1400" dirty="0"/>
          </a:p>
        </p:txBody>
      </p:sp>
      <p:sp>
        <p:nvSpPr>
          <p:cNvPr id="24" name="Shape 22"/>
          <p:cNvSpPr/>
          <p:nvPr/>
        </p:nvSpPr>
        <p:spPr>
          <a:xfrm>
            <a:off x="6263640" y="2697480"/>
            <a:ext cx="5532120" cy="4023360"/>
          </a:xfrm>
          <a:prstGeom prst="rect">
            <a:avLst/>
          </a:prstGeom>
          <a:solidFill>
            <a:srgbClr val="1E2A4D"/>
          </a:solidFill>
          <a:ln/>
        </p:spPr>
      </p:sp>
      <p:sp>
        <p:nvSpPr>
          <p:cNvPr id="25" name="Shape 23"/>
          <p:cNvSpPr/>
          <p:nvPr/>
        </p:nvSpPr>
        <p:spPr>
          <a:xfrm>
            <a:off x="6263640" y="2697480"/>
            <a:ext cx="64008" cy="4023360"/>
          </a:xfrm>
          <a:prstGeom prst="rect">
            <a:avLst/>
          </a:prstGeom>
          <a:solidFill>
            <a:srgbClr val="0891B2"/>
          </a:solidFill>
          <a:ln/>
        </p:spPr>
      </p:sp>
      <p:sp>
        <p:nvSpPr>
          <p:cNvPr id="26" name="Text 24"/>
          <p:cNvSpPr/>
          <p:nvPr/>
        </p:nvSpPr>
        <p:spPr>
          <a:xfrm>
            <a:off x="6537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CAME BACK</a:t>
            </a:r>
            <a:endParaRPr lang="en-US" sz="1100" dirty="0"/>
          </a:p>
        </p:txBody>
      </p:sp>
      <p:sp>
        <p:nvSpPr>
          <p:cNvPr id="27" name="Text 25"/>
          <p:cNvSpPr/>
          <p:nvPr/>
        </p:nvSpPr>
        <p:spPr>
          <a:xfrm>
            <a:off x="6537960" y="3246120"/>
            <a:ext cx="5074920" cy="457200"/>
          </a:xfrm>
          <a:prstGeom prst="rect">
            <a:avLst/>
          </a:prstGeom>
          <a:noFill/>
          <a:ln/>
        </p:spPr>
        <p:txBody>
          <a:bodyPr wrap="square" lIns="0" tIns="0" rIns="0" bIns="0" rtlCol="0" anchor="ctr"/>
          <a:lstStyle/>
          <a:p>
            <a:pPr indent="0" marL="0">
              <a:buNone/>
            </a:pPr>
            <a:r>
              <a:rPr lang="en-US" sz="1300" dirty="0">
                <a:solidFill>
                  <a:srgbClr val="B6D7E5"/>
                </a:solidFill>
                <a:latin typeface="Calibri" pitchFamily="34" charset="0"/>
                <a:ea typeface="Calibri" pitchFamily="34" charset="-122"/>
                <a:cs typeface="Calibri" pitchFamily="34" charset="-120"/>
              </a:rPr>
              <a:t>A 1,500-word structured analyst prompt with 8 scope sections:</a:t>
            </a:r>
            <a:endParaRPr lang="en-US" sz="1300" dirty="0"/>
          </a:p>
        </p:txBody>
      </p:sp>
      <p:sp>
        <p:nvSpPr>
          <p:cNvPr id="28" name="Text 26"/>
          <p:cNvSpPr/>
          <p:nvPr/>
        </p:nvSpPr>
        <p:spPr>
          <a:xfrm>
            <a:off x="6537960" y="3794760"/>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01  Investment snapshot</a:t>
            </a:r>
            <a:endParaRPr lang="en-US" sz="1300" dirty="0"/>
          </a:p>
        </p:txBody>
      </p:sp>
      <p:sp>
        <p:nvSpPr>
          <p:cNvPr id="29" name="Text 27"/>
          <p:cNvSpPr/>
          <p:nvPr/>
        </p:nvSpPr>
        <p:spPr>
          <a:xfrm>
            <a:off x="6537960" y="4123944"/>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02  Business model &amp; franchise quality</a:t>
            </a:r>
            <a:endParaRPr lang="en-US" sz="1300" dirty="0"/>
          </a:p>
        </p:txBody>
      </p:sp>
      <p:sp>
        <p:nvSpPr>
          <p:cNvPr id="30" name="Text 28"/>
          <p:cNvSpPr/>
          <p:nvPr/>
        </p:nvSpPr>
        <p:spPr>
          <a:xfrm>
            <a:off x="6537960" y="4453128"/>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03  Financial performance</a:t>
            </a:r>
            <a:endParaRPr lang="en-US" sz="1300" dirty="0"/>
          </a:p>
        </p:txBody>
      </p:sp>
      <p:sp>
        <p:nvSpPr>
          <p:cNvPr id="31" name="Text 29"/>
          <p:cNvSpPr/>
          <p:nvPr/>
        </p:nvSpPr>
        <p:spPr>
          <a:xfrm>
            <a:off x="6537960" y="4782312"/>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04  Strategy &amp; medium-term guidance</a:t>
            </a:r>
            <a:endParaRPr lang="en-US" sz="1300" dirty="0"/>
          </a:p>
        </p:txBody>
      </p:sp>
      <p:sp>
        <p:nvSpPr>
          <p:cNvPr id="32" name="Text 30"/>
          <p:cNvSpPr/>
          <p:nvPr/>
        </p:nvSpPr>
        <p:spPr>
          <a:xfrm>
            <a:off x="6537960" y="5111496"/>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05  Competitive positioning</a:t>
            </a:r>
            <a:endParaRPr lang="en-US" sz="1300" dirty="0"/>
          </a:p>
        </p:txBody>
      </p:sp>
      <p:sp>
        <p:nvSpPr>
          <p:cNvPr id="33" name="Text 31"/>
          <p:cNvSpPr/>
          <p:nvPr/>
        </p:nvSpPr>
        <p:spPr>
          <a:xfrm>
            <a:off x="6537960" y="5440680"/>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06  Valuation &amp; market expectations</a:t>
            </a:r>
            <a:endParaRPr lang="en-US" sz="1300" dirty="0"/>
          </a:p>
        </p:txBody>
      </p:sp>
      <p:sp>
        <p:nvSpPr>
          <p:cNvPr id="34" name="Text 32"/>
          <p:cNvSpPr/>
          <p:nvPr/>
        </p:nvSpPr>
        <p:spPr>
          <a:xfrm>
            <a:off x="6537960" y="5769864"/>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07  Key risks &amp; monitoring framework</a:t>
            </a:r>
            <a:endParaRPr lang="en-US" sz="1300" dirty="0"/>
          </a:p>
        </p:txBody>
      </p:sp>
      <p:sp>
        <p:nvSpPr>
          <p:cNvPr id="35" name="Text 33"/>
          <p:cNvSpPr/>
          <p:nvPr/>
        </p:nvSpPr>
        <p:spPr>
          <a:xfrm>
            <a:off x="6537960" y="6099048"/>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08  Actionable takeaways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0891B2"/>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AUTOMATION</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Scheduled searches — daily intelligence on autopilot</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Set a recurring search at a fixed time on covered names and sectors. Output arrives by email, app, and in-product.</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News flow on 10+ names is impossible to track manually each morning. Important moves slip through.</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"what did I miss overnight?" tax at the start of every working day. Replaces 30 minutes of triage with a 2-minute scan.</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MY SCHEDULED SEARCH</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DAILY DIGEST</a:t>
            </a:r>
            <a:endParaRPr lang="en-US" sz="1100" dirty="0"/>
          </a:p>
        </p:txBody>
      </p:sp>
      <p:pic>
        <p:nvPicPr>
          <p:cNvPr id="30" name="Image 0" descr="/home/claude/deck/images_small/img13_scheduled_search.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Daily at 11:21 PM — L&amp;T, Adani Ports, Power Grid, UltraTech, Ambuja, Waaree, Premier Energies + MNRE / CTU / CEA.</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Daily digest screenshot</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The actual digest that lands in my inbox each morning.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0891B2"/>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AUTOMATION</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Personalization — tell Perplexity who you are, once</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Fill in occupation, firm, and custom instructions (preferred jargon level, tone, sectors covered) in settings.</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Without it, every prompt is doing two jobs: re-establishing who you are AND asking the actual question.</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Generic, retail-tone outputs from a tool that should be writing for analysts. Saves a sentence of context per prompt.</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SETTINGS</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A PROMPT WITH IT ON</a:t>
            </a:r>
            <a:endParaRPr lang="en-US" sz="1100" dirty="0"/>
          </a:p>
        </p:txBody>
      </p:sp>
      <p:pic>
        <p:nvPicPr>
          <p:cNvPr id="30" name="Image 0" descr="/home/claude/deck/images_small/img08_personalization.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One-time setup. Persists across every search going forward.</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Before / after example</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A simple prompt run with personalization on vs off.</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0891B2"/>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AUTOMATION</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Price alerts with a custom analyst query</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Set a target price on a covered name. Attach a default analyst query that auto-runs when the target is hit.</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When a stock moves, clients want a fast take — and I'm usually mid-something-else. Reactive scrambling is the norm.</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10–15 minutes of writing a 2–3 line client note on the fly when a name moves. Arrives client-ready in my inbox.</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ALERT SETUP</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THE ALERT IT SENDS</a:t>
            </a:r>
            <a:endParaRPr lang="en-US" sz="1100" dirty="0"/>
          </a:p>
        </p:txBody>
      </p:sp>
      <p:pic>
        <p:nvPicPr>
          <p:cNvPr id="30" name="Image 0" descr="/home/claude/deck/images_small/img09_price_alert.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L&amp;T set to ₹4,637 with a custom 2–3 pointer query attached.</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Alert email screenshot</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The alert + auto-generated client-ready insight when target hits.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0891B2"/>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FINANCE TAB</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Daily market view + watchlist of covered names</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Add covered names to a Finance-tab watchlist. Get a daily market summary written for analyst-level context.</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Mainstream financial news is written for retail investors. My morning briefing needs to assume domain knowledge.</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first 30 minutes spent triaging which sector moves matter and why. The synthesis is done for me.</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WATCHLIST</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DAILY COMMENTARY</a:t>
            </a:r>
            <a:endParaRPr lang="en-US" sz="1100" dirty="0"/>
          </a:p>
        </p:txBody>
      </p:sp>
      <p:pic>
        <p:nvPicPr>
          <p:cNvPr id="30" name="Image 0" descr="/home/claude/deck/images_small/img07_watchlist.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PFC, NTPC Green, JSW Energy, Power Grid, Ambuja — the names I care about.</a:t>
            </a:r>
            <a:endParaRPr lang="en-US" sz="1200" dirty="0"/>
          </a:p>
        </p:txBody>
      </p:sp>
      <p:pic>
        <p:nvPicPr>
          <p:cNvPr id="32" name="Image 1" descr="/home/claude/deck/images_small/img06_market_view.jpg">    </p:cNvPr>
          <p:cNvPicPr>
            <a:picLocks noChangeAspect="1"/>
          </p:cNvPicPr>
          <p:nvPr/>
        </p:nvPicPr>
        <p:blipFill>
          <a:blip r:embed="rId2"/>
          <a:srcRect l="0" r="0" t="0" b="0"/>
          <a:stretch/>
        </p:blipFill>
        <p:spPr>
          <a:xfrm>
            <a:off x="8458200" y="2560320"/>
            <a:ext cx="3337560" cy="2743200"/>
          </a:xfrm>
          <a:prstGeom prst="rect">
            <a:avLst/>
          </a:prstGeom>
        </p:spPr>
      </p:pic>
      <p:sp>
        <p:nvSpPr>
          <p:cNvPr id="33" name="Text 29"/>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Sector-level synthesis with peer moves, sell-side calls, and macro context.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0891B2"/>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FINANCE TAB</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Earnings tab — three things in one place</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Live transcript, AI-summarized highlights, and source documents for any covered name, in a single view.</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Earnings days are a sprint — multiple calls back-to-back, every minute counts. Tab-switching is a tax.</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Switching between Bloomberg, the IR webcast, the deck, and our note system mid-call. All in one tab.</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EARNINGS TAB — HDFC BANK</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HIGHLIGHTS VIEW</a:t>
            </a:r>
            <a:endParaRPr lang="en-US" sz="1100" dirty="0"/>
          </a:p>
        </p:txBody>
      </p:sp>
      <p:pic>
        <p:nvPicPr>
          <p:cNvPr id="30" name="Image 0" descr="/home/claude/deck/images_small/img05_hdfc_earnings.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Revenue / EPS estimates vs actual, with three sub-tabs shown.</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Highlights view screenshot</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Click into Highlights for the AI-summarized commentary by theme.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0891B2"/>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SPACES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Spaces — purpose-built rooms for repeated data pulls</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Create a Space, upload relevant filings, give it custom instructions. Ask precise questions across them.</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same data pulls (volumes, segment breakouts, capex) come up every quarter on the same names.</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Re-opening 5 PDFs and Ctrl-F'ing every time I need a number. Output cites only the docs I uploaded.</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SETUP — ADANI PORTS</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A CLEAN TABLE</a:t>
            </a:r>
            <a:endParaRPr lang="en-US" sz="1100" dirty="0"/>
          </a:p>
        </p:txBody>
      </p:sp>
      <p:pic>
        <p:nvPicPr>
          <p:cNvPr id="30" name="Image 0" descr="/home/claude/deck/images_small/img04_adani_space.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Custom instructions + uploaded filings define a guarded scope.</a:t>
            </a:r>
            <a:endParaRPr lang="en-US" sz="1200" dirty="0"/>
          </a:p>
        </p:txBody>
      </p:sp>
      <p:pic>
        <p:nvPicPr>
          <p:cNvPr id="32" name="Image 1" descr="/home/claude/deck/images_small/img02_adani_table.jpg">    </p:cNvPr>
          <p:cNvPicPr>
            <a:picLocks noChangeAspect="1"/>
          </p:cNvPicPr>
          <p:nvPr/>
        </p:nvPicPr>
        <p:blipFill>
          <a:blip r:embed="rId2"/>
          <a:srcRect l="0" r="0" t="0" b="0"/>
          <a:stretch/>
        </p:blipFill>
        <p:spPr>
          <a:xfrm>
            <a:off x="8458200" y="2560320"/>
            <a:ext cx="3337560" cy="2743200"/>
          </a:xfrm>
          <a:prstGeom prst="rect">
            <a:avLst/>
          </a:prstGeom>
        </p:spPr>
      </p:pic>
      <p:sp>
        <p:nvSpPr>
          <p:cNvPr id="33" name="Text 29"/>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Quarter-wise international cargo volume, sourced from my uploaded filings.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0891B2"/>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SPACES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Spaces — capture our house voice for rephrasing</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 Space configured with style instructions: rephrase anything I paste in to sound like a published Bernstein note.</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AI drafts are fast but generic. The tone shows up immediately in published research and undermines credibility.</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Spending 10 minutes rewording every AI draft to make it sound like us. The speed without the AI tell.</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SETUP — REPHRASE SPACE</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POLISHED PARAGRAPH</a:t>
            </a:r>
            <a:endParaRPr lang="en-US" sz="1100" dirty="0"/>
          </a:p>
        </p:txBody>
      </p:sp>
      <p:pic>
        <p:nvPicPr>
          <p:cNvPr id="30" name="Image 0" descr="/home/claude/deck/images_small/img03_rephrase_space.jpg">    </p:cNvPr>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Instructions: "Rephrase like a Bernstein sell-side analyst. No jargon. One paragraph. Crisp."</a:t>
            </a:r>
            <a:endParaRPr lang="en-US" sz="1200" dirty="0"/>
          </a:p>
        </p:txBody>
      </p:sp>
      <p:pic>
        <p:nvPicPr>
          <p:cNvPr id="32" name="Image 1" descr="/home/claude/deck/images_small/img01_rephrase_output.jpg">    </p:cNvPr>
          <p:cNvPicPr>
            <a:picLocks noChangeAspect="1"/>
          </p:cNvPicPr>
          <p:nvPr/>
        </p:nvPicPr>
        <p:blipFill>
          <a:blip r:embed="rId2"/>
          <a:srcRect l="0" r="0" t="0" b="0"/>
          <a:stretch/>
        </p:blipFill>
        <p:spPr>
          <a:xfrm>
            <a:off x="8458200" y="2560320"/>
            <a:ext cx="3337560" cy="2743200"/>
          </a:xfrm>
          <a:prstGeom prst="rect">
            <a:avLst/>
          </a:prstGeom>
        </p:spPr>
      </p:pic>
      <p:sp>
        <p:nvSpPr>
          <p:cNvPr id="33" name="Text 29"/>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Raw bullets in. Result-note opening paragraph out. Reusable for every result.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0891B2"/>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LIMITS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Where Perplexity falls short — use AlphaSense instead</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Perplexity earns its keep on the open web. For curated finance content, AlphaSense remains the better tool.</a:t>
            </a:r>
            <a:endParaRPr lang="en-US" sz="1600" dirty="0"/>
          </a:p>
        </p:txBody>
      </p:sp>
      <p:sp>
        <p:nvSpPr>
          <p:cNvPr id="17" name="Shape 15"/>
          <p:cNvSpPr/>
          <p:nvPr/>
        </p:nvSpPr>
        <p:spPr>
          <a:xfrm>
            <a:off x="548640" y="2651760"/>
            <a:ext cx="5532120" cy="3657600"/>
          </a:xfrm>
          <a:prstGeom prst="rect">
            <a:avLst/>
          </a:prstGeom>
          <a:solidFill>
            <a:srgbClr val="FEF2F2"/>
          </a:solidFill>
          <a:ln/>
        </p:spPr>
      </p:sp>
      <p:sp>
        <p:nvSpPr>
          <p:cNvPr id="18" name="Shape 16"/>
          <p:cNvSpPr/>
          <p:nvPr/>
        </p:nvSpPr>
        <p:spPr>
          <a:xfrm>
            <a:off x="548640" y="2651760"/>
            <a:ext cx="5532120" cy="640080"/>
          </a:xfrm>
          <a:prstGeom prst="rect">
            <a:avLst/>
          </a:prstGeom>
          <a:solidFill>
            <a:srgbClr val="9B2C2C"/>
          </a:solidFill>
          <a:ln/>
        </p:spPr>
      </p:sp>
      <p:sp>
        <p:nvSpPr>
          <p:cNvPr id="19" name="Text 17"/>
          <p:cNvSpPr/>
          <p:nvPr/>
        </p:nvSpPr>
        <p:spPr>
          <a:xfrm>
            <a:off x="822960" y="2834640"/>
            <a:ext cx="5074920" cy="365760"/>
          </a:xfrm>
          <a:prstGeom prst="rect">
            <a:avLst/>
          </a:prstGeom>
          <a:noFill/>
          <a:ln/>
        </p:spPr>
        <p:txBody>
          <a:bodyPr wrap="square" lIns="0" tIns="0" rIns="0" bIns="0" rtlCol="0" anchor="ctr"/>
          <a:lstStyle/>
          <a:p>
            <a:pPr indent="0" marL="0">
              <a:buNone/>
            </a:pPr>
            <a:r>
              <a:rPr lang="en-US" sz="1300" b="1" spc="400" kern="0" dirty="0">
                <a:solidFill>
                  <a:srgbClr val="FFFFFF"/>
                </a:solidFill>
                <a:latin typeface="Calibri" pitchFamily="34" charset="0"/>
                <a:ea typeface="Calibri" pitchFamily="34" charset="-122"/>
                <a:cs typeface="Calibri" pitchFamily="34" charset="-120"/>
              </a:rPr>
              <a:t>DON'T USE PERPLEXITY FOR</a:t>
            </a:r>
            <a:endParaRPr lang="en-US" sz="1300" dirty="0"/>
          </a:p>
        </p:txBody>
      </p:sp>
      <p:sp>
        <p:nvSpPr>
          <p:cNvPr id="20" name="Text 18"/>
          <p:cNvSpPr/>
          <p:nvPr/>
        </p:nvSpPr>
        <p:spPr>
          <a:xfrm>
            <a:off x="822960" y="352044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1" name="Text 19"/>
          <p:cNvSpPr/>
          <p:nvPr/>
        </p:nvSpPr>
        <p:spPr>
          <a:xfrm>
            <a:off x="1234440" y="353872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Quant data — margins, growth rates, financial statements</a:t>
            </a:r>
            <a:endParaRPr lang="en-US" sz="1300" dirty="0"/>
          </a:p>
        </p:txBody>
      </p:sp>
      <p:sp>
        <p:nvSpPr>
          <p:cNvPr id="22" name="Text 20"/>
          <p:cNvSpPr/>
          <p:nvPr/>
        </p:nvSpPr>
        <p:spPr>
          <a:xfrm>
            <a:off x="822960" y="416052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234440" y="417880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Direct quotes in published notes — citation drift is real</a:t>
            </a:r>
            <a:endParaRPr lang="en-US" sz="1300" dirty="0"/>
          </a:p>
        </p:txBody>
      </p:sp>
      <p:sp>
        <p:nvSpPr>
          <p:cNvPr id="24" name="Text 22"/>
          <p:cNvSpPr/>
          <p:nvPr/>
        </p:nvSpPr>
        <p:spPr>
          <a:xfrm>
            <a:off x="822960" y="480060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5" name="Text 23"/>
          <p:cNvSpPr/>
          <p:nvPr/>
        </p:nvSpPr>
        <p:spPr>
          <a:xfrm>
            <a:off x="1234440" y="481888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Niche topics — small geos, micro-caps, thin web coverage</a:t>
            </a:r>
            <a:endParaRPr lang="en-US" sz="1300" dirty="0"/>
          </a:p>
        </p:txBody>
      </p:sp>
      <p:sp>
        <p:nvSpPr>
          <p:cNvPr id="26" name="Text 24"/>
          <p:cNvSpPr/>
          <p:nvPr/>
        </p:nvSpPr>
        <p:spPr>
          <a:xfrm>
            <a:off x="822960" y="544068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7" name="Text 25"/>
          <p:cNvSpPr/>
          <p:nvPr/>
        </p:nvSpPr>
        <p:spPr>
          <a:xfrm>
            <a:off x="1234440" y="545896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Anything MNPI or potentially-MNPI</a:t>
            </a:r>
            <a:endParaRPr lang="en-US" sz="1300" dirty="0"/>
          </a:p>
        </p:txBody>
      </p:sp>
      <p:sp>
        <p:nvSpPr>
          <p:cNvPr id="28" name="Shape 26"/>
          <p:cNvSpPr/>
          <p:nvPr/>
        </p:nvSpPr>
        <p:spPr>
          <a:xfrm>
            <a:off x="6263640" y="2651760"/>
            <a:ext cx="5532120" cy="3657600"/>
          </a:xfrm>
          <a:prstGeom prst="rect">
            <a:avLst/>
          </a:prstGeom>
          <a:solidFill>
            <a:srgbClr val="ECFDF5"/>
          </a:solidFill>
          <a:ln/>
        </p:spPr>
      </p:sp>
      <p:sp>
        <p:nvSpPr>
          <p:cNvPr id="29" name="Shape 27"/>
          <p:cNvSpPr/>
          <p:nvPr/>
        </p:nvSpPr>
        <p:spPr>
          <a:xfrm>
            <a:off x="6263640" y="2651760"/>
            <a:ext cx="5532120" cy="640080"/>
          </a:xfrm>
          <a:prstGeom prst="rect">
            <a:avLst/>
          </a:prstGeom>
          <a:solidFill>
            <a:srgbClr val="065F46"/>
          </a:solidFill>
          <a:ln/>
        </p:spPr>
      </p:sp>
      <p:sp>
        <p:nvSpPr>
          <p:cNvPr id="30" name="Text 28"/>
          <p:cNvSpPr/>
          <p:nvPr/>
        </p:nvSpPr>
        <p:spPr>
          <a:xfrm>
            <a:off x="6537960" y="2834640"/>
            <a:ext cx="5074920" cy="365760"/>
          </a:xfrm>
          <a:prstGeom prst="rect">
            <a:avLst/>
          </a:prstGeom>
          <a:noFill/>
          <a:ln/>
        </p:spPr>
        <p:txBody>
          <a:bodyPr wrap="square" lIns="0" tIns="0" rIns="0" bIns="0" rtlCol="0" anchor="ctr"/>
          <a:lstStyle/>
          <a:p>
            <a:pPr indent="0" marL="0">
              <a:buNone/>
            </a:pPr>
            <a:r>
              <a:rPr lang="en-US" sz="1300" b="1" spc="400" kern="0" dirty="0">
                <a:solidFill>
                  <a:srgbClr val="FFFFFF"/>
                </a:solidFill>
                <a:latin typeface="Calibri" pitchFamily="34" charset="0"/>
                <a:ea typeface="Calibri" pitchFamily="34" charset="-122"/>
                <a:cs typeface="Calibri" pitchFamily="34" charset="-120"/>
              </a:rPr>
              <a:t>USE ALPHASENSE INSTEAD FOR</a:t>
            </a:r>
            <a:endParaRPr lang="en-US" sz="1300" dirty="0"/>
          </a:p>
        </p:txBody>
      </p:sp>
      <p:sp>
        <p:nvSpPr>
          <p:cNvPr id="31" name="Text 29"/>
          <p:cNvSpPr/>
          <p:nvPr/>
        </p:nvSpPr>
        <p:spPr>
          <a:xfrm>
            <a:off x="6537960" y="352044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2" name="Text 30"/>
          <p:cNvSpPr/>
          <p:nvPr/>
        </p:nvSpPr>
        <p:spPr>
          <a:xfrm>
            <a:off x="6949440" y="353872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Filing-level keyword search across years and peers</a:t>
            </a:r>
            <a:endParaRPr lang="en-US" sz="1300" dirty="0"/>
          </a:p>
        </p:txBody>
      </p:sp>
      <p:sp>
        <p:nvSpPr>
          <p:cNvPr id="33" name="Text 31"/>
          <p:cNvSpPr/>
          <p:nvPr/>
        </p:nvSpPr>
        <p:spPr>
          <a:xfrm>
            <a:off x="6537960" y="416052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4" name="Text 32"/>
          <p:cNvSpPr/>
          <p:nvPr/>
        </p:nvSpPr>
        <p:spPr>
          <a:xfrm>
            <a:off x="6949440" y="417880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Transcript search across many calls — themes, mentions, sentiment</a:t>
            </a:r>
            <a:endParaRPr lang="en-US" sz="1300" dirty="0"/>
          </a:p>
        </p:txBody>
      </p:sp>
      <p:sp>
        <p:nvSpPr>
          <p:cNvPr id="35" name="Text 33"/>
          <p:cNvSpPr/>
          <p:nvPr/>
        </p:nvSpPr>
        <p:spPr>
          <a:xfrm>
            <a:off x="6537960" y="480060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6" name="Text 34"/>
          <p:cNvSpPr/>
          <p:nvPr/>
        </p:nvSpPr>
        <p:spPr>
          <a:xfrm>
            <a:off x="6949440" y="481888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Broker research aggregation and consensus views</a:t>
            </a:r>
            <a:endParaRPr lang="en-US" sz="1300" dirty="0"/>
          </a:p>
        </p:txBody>
      </p:sp>
      <p:sp>
        <p:nvSpPr>
          <p:cNvPr id="37" name="Text 35"/>
          <p:cNvSpPr/>
          <p:nvPr/>
        </p:nvSpPr>
        <p:spPr>
          <a:xfrm>
            <a:off x="6537960" y="544068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8" name="Text 36"/>
          <p:cNvSpPr/>
          <p:nvPr/>
        </p:nvSpPr>
        <p:spPr>
          <a:xfrm>
            <a:off x="6949440" y="545896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Expert call libraries — verbatim primary-source colour</a:t>
            </a:r>
            <a:endParaRPr lang="en-US" sz="1300" dirty="0"/>
          </a:p>
        </p:txBody>
      </p:sp>
      <p:sp>
        <p:nvSpPr>
          <p:cNvPr id="39" name="Text 37"/>
          <p:cNvSpPr/>
          <p:nvPr/>
        </p:nvSpPr>
        <p:spPr>
          <a:xfrm>
            <a:off x="548640" y="6446520"/>
            <a:ext cx="11064240" cy="320040"/>
          </a:xfrm>
          <a:prstGeom prst="rect">
            <a:avLst/>
          </a:prstGeom>
          <a:noFill/>
          <a:ln/>
        </p:spPr>
        <p:txBody>
          <a:bodyPr wrap="square" lIns="0" tIns="0" rIns="0" bIns="0" rtlCol="0" anchor="ctr"/>
          <a:lstStyle/>
          <a:p>
            <a:pPr algn="ctr" indent="0" marL="0">
              <a:buNone/>
            </a:pPr>
            <a:r>
              <a:rPr lang="en-US" sz="1300" b="1" i="1" dirty="0">
                <a:solidFill>
                  <a:srgbClr val="1E293B"/>
                </a:solidFill>
                <a:latin typeface="Calibri" pitchFamily="34" charset="0"/>
                <a:ea typeface="Calibri" pitchFamily="34" charset="-122"/>
                <a:cs typeface="Calibri" pitchFamily="34" charset="-120"/>
              </a:rPr>
              <a:t>Rule of thumb — Perplexity for the open web. AlphaSense for the curated finance corpus. Bloomberg for the numbers.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0891B2"/>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LIMITS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Use with caution — second-order risks</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Not bans. Just things that bite if you forget.</a:t>
            </a:r>
            <a:endParaRPr lang="en-US" sz="1600" dirty="0"/>
          </a:p>
        </p:txBody>
      </p:sp>
      <p:sp>
        <p:nvSpPr>
          <p:cNvPr id="17" name="Shape 15"/>
          <p:cNvSpPr/>
          <p:nvPr/>
        </p:nvSpPr>
        <p:spPr>
          <a:xfrm>
            <a:off x="548640" y="2606040"/>
            <a:ext cx="5532120" cy="1874520"/>
          </a:xfrm>
          <a:prstGeom prst="rect">
            <a:avLst/>
          </a:prstGeom>
          <a:solidFill>
            <a:srgbClr val="FFFBEB"/>
          </a:solidFill>
          <a:ln w="9525">
            <a:solidFill>
              <a:srgbClr val="B45309"/>
            </a:solidFill>
            <a:prstDash val="solid"/>
          </a:ln>
        </p:spPr>
      </p:sp>
      <p:sp>
        <p:nvSpPr>
          <p:cNvPr id="18" name="Shape 16"/>
          <p:cNvSpPr/>
          <p:nvPr/>
        </p:nvSpPr>
        <p:spPr>
          <a:xfrm>
            <a:off x="548640" y="2606040"/>
            <a:ext cx="73152" cy="1874520"/>
          </a:xfrm>
          <a:prstGeom prst="rect">
            <a:avLst/>
          </a:prstGeom>
          <a:solidFill>
            <a:srgbClr val="B45309"/>
          </a:solidFill>
          <a:ln/>
        </p:spPr>
      </p:sp>
      <p:sp>
        <p:nvSpPr>
          <p:cNvPr id="19" name="Text 17"/>
          <p:cNvSpPr/>
          <p:nvPr/>
        </p:nvSpPr>
        <p:spPr>
          <a:xfrm>
            <a:off x="777240" y="2807208"/>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20" name="Text 18"/>
          <p:cNvSpPr/>
          <p:nvPr/>
        </p:nvSpPr>
        <p:spPr>
          <a:xfrm>
            <a:off x="1234440" y="2788920"/>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Citation drift</a:t>
            </a:r>
            <a:endParaRPr lang="en-US" sz="1700" dirty="0"/>
          </a:p>
        </p:txBody>
      </p:sp>
      <p:sp>
        <p:nvSpPr>
          <p:cNvPr id="21" name="Text 19"/>
          <p:cNvSpPr/>
          <p:nvPr/>
        </p:nvSpPr>
        <p:spPr>
          <a:xfrm>
            <a:off x="1234440" y="3319272"/>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The cited URL is sometimes only loosely related to the quoted line. Open every link you intend to use externally.</a:t>
            </a:r>
            <a:endParaRPr lang="en-US" sz="1300" dirty="0"/>
          </a:p>
        </p:txBody>
      </p:sp>
      <p:sp>
        <p:nvSpPr>
          <p:cNvPr id="22" name="Shape 20"/>
          <p:cNvSpPr/>
          <p:nvPr/>
        </p:nvSpPr>
        <p:spPr>
          <a:xfrm>
            <a:off x="6263640" y="2606040"/>
            <a:ext cx="5532120" cy="1874520"/>
          </a:xfrm>
          <a:prstGeom prst="rect">
            <a:avLst/>
          </a:prstGeom>
          <a:solidFill>
            <a:srgbClr val="FFFBEB"/>
          </a:solidFill>
          <a:ln w="9525">
            <a:solidFill>
              <a:srgbClr val="B45309"/>
            </a:solidFill>
            <a:prstDash val="solid"/>
          </a:ln>
        </p:spPr>
      </p:sp>
      <p:sp>
        <p:nvSpPr>
          <p:cNvPr id="23" name="Shape 21"/>
          <p:cNvSpPr/>
          <p:nvPr/>
        </p:nvSpPr>
        <p:spPr>
          <a:xfrm>
            <a:off x="6263640" y="2606040"/>
            <a:ext cx="73152" cy="1874520"/>
          </a:xfrm>
          <a:prstGeom prst="rect">
            <a:avLst/>
          </a:prstGeom>
          <a:solidFill>
            <a:srgbClr val="B45309"/>
          </a:solidFill>
          <a:ln/>
        </p:spPr>
      </p:sp>
      <p:sp>
        <p:nvSpPr>
          <p:cNvPr id="24" name="Text 22"/>
          <p:cNvSpPr/>
          <p:nvPr/>
        </p:nvSpPr>
        <p:spPr>
          <a:xfrm>
            <a:off x="6492240" y="2807208"/>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25" name="Text 23"/>
          <p:cNvSpPr/>
          <p:nvPr/>
        </p:nvSpPr>
        <p:spPr>
          <a:xfrm>
            <a:off x="6949440" y="2788920"/>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Numerical confidence ≠ correctness</a:t>
            </a:r>
            <a:endParaRPr lang="en-US" sz="1700" dirty="0"/>
          </a:p>
        </p:txBody>
      </p:sp>
      <p:sp>
        <p:nvSpPr>
          <p:cNvPr id="26" name="Text 24"/>
          <p:cNvSpPr/>
          <p:nvPr/>
        </p:nvSpPr>
        <p:spPr>
          <a:xfrm>
            <a:off x="6949440" y="3319272"/>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A clean-looking number with two decimals is still a guess if it wasn't sourced from a filing. Spot-check against Bloomberg.</a:t>
            </a:r>
            <a:endParaRPr lang="en-US" sz="1300" dirty="0"/>
          </a:p>
        </p:txBody>
      </p:sp>
      <p:sp>
        <p:nvSpPr>
          <p:cNvPr id="27" name="Shape 25"/>
          <p:cNvSpPr/>
          <p:nvPr/>
        </p:nvSpPr>
        <p:spPr>
          <a:xfrm>
            <a:off x="548640" y="4645152"/>
            <a:ext cx="5532120" cy="1874520"/>
          </a:xfrm>
          <a:prstGeom prst="rect">
            <a:avLst/>
          </a:prstGeom>
          <a:solidFill>
            <a:srgbClr val="FFFBEB"/>
          </a:solidFill>
          <a:ln w="9525">
            <a:solidFill>
              <a:srgbClr val="B45309"/>
            </a:solidFill>
            <a:prstDash val="solid"/>
          </a:ln>
        </p:spPr>
      </p:sp>
      <p:sp>
        <p:nvSpPr>
          <p:cNvPr id="28" name="Shape 26"/>
          <p:cNvSpPr/>
          <p:nvPr/>
        </p:nvSpPr>
        <p:spPr>
          <a:xfrm>
            <a:off x="548640" y="4645152"/>
            <a:ext cx="73152" cy="1874520"/>
          </a:xfrm>
          <a:prstGeom prst="rect">
            <a:avLst/>
          </a:prstGeom>
          <a:solidFill>
            <a:srgbClr val="B45309"/>
          </a:solidFill>
          <a:ln/>
        </p:spPr>
      </p:sp>
      <p:sp>
        <p:nvSpPr>
          <p:cNvPr id="29" name="Text 27"/>
          <p:cNvSpPr/>
          <p:nvPr/>
        </p:nvSpPr>
        <p:spPr>
          <a:xfrm>
            <a:off x="777240" y="4846320"/>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30" name="Text 28"/>
          <p:cNvSpPr/>
          <p:nvPr/>
        </p:nvSpPr>
        <p:spPr>
          <a:xfrm>
            <a:off x="1234440" y="4828032"/>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Model mismatch</a:t>
            </a:r>
            <a:endParaRPr lang="en-US" sz="1700" dirty="0"/>
          </a:p>
        </p:txBody>
      </p:sp>
      <p:sp>
        <p:nvSpPr>
          <p:cNvPr id="31" name="Text 29"/>
          <p:cNvSpPr/>
          <p:nvPr/>
        </p:nvSpPr>
        <p:spPr>
          <a:xfrm>
            <a:off x="1234440" y="5358384"/>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Wrong model for the task = poor output. Multi-doc synthesis on the default model is the most common failure mode.</a:t>
            </a:r>
            <a:endParaRPr lang="en-US" sz="1300" dirty="0"/>
          </a:p>
        </p:txBody>
      </p:sp>
      <p:sp>
        <p:nvSpPr>
          <p:cNvPr id="32" name="Shape 30"/>
          <p:cNvSpPr/>
          <p:nvPr/>
        </p:nvSpPr>
        <p:spPr>
          <a:xfrm>
            <a:off x="6263640" y="4645152"/>
            <a:ext cx="5532120" cy="1874520"/>
          </a:xfrm>
          <a:prstGeom prst="rect">
            <a:avLst/>
          </a:prstGeom>
          <a:solidFill>
            <a:srgbClr val="FFFBEB"/>
          </a:solidFill>
          <a:ln w="9525">
            <a:solidFill>
              <a:srgbClr val="B45309"/>
            </a:solidFill>
            <a:prstDash val="solid"/>
          </a:ln>
        </p:spPr>
      </p:sp>
      <p:sp>
        <p:nvSpPr>
          <p:cNvPr id="33" name="Shape 31"/>
          <p:cNvSpPr/>
          <p:nvPr/>
        </p:nvSpPr>
        <p:spPr>
          <a:xfrm>
            <a:off x="6263640" y="4645152"/>
            <a:ext cx="73152" cy="1874520"/>
          </a:xfrm>
          <a:prstGeom prst="rect">
            <a:avLst/>
          </a:prstGeom>
          <a:solidFill>
            <a:srgbClr val="B45309"/>
          </a:solidFill>
          <a:ln/>
        </p:spPr>
      </p:sp>
      <p:sp>
        <p:nvSpPr>
          <p:cNvPr id="34" name="Text 32"/>
          <p:cNvSpPr/>
          <p:nvPr/>
        </p:nvSpPr>
        <p:spPr>
          <a:xfrm>
            <a:off x="6492240" y="4846320"/>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35" name="Text 33"/>
          <p:cNvSpPr/>
          <p:nvPr/>
        </p:nvSpPr>
        <p:spPr>
          <a:xfrm>
            <a:off x="6949440" y="4828032"/>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No firm-wide compliance policy yet</a:t>
            </a:r>
            <a:endParaRPr lang="en-US" sz="1700" dirty="0"/>
          </a:p>
        </p:txBody>
      </p:sp>
      <p:sp>
        <p:nvSpPr>
          <p:cNvPr id="36" name="Text 34"/>
          <p:cNvSpPr/>
          <p:nvPr/>
        </p:nvSpPr>
        <p:spPr>
          <a:xfrm>
            <a:off x="6949440" y="5358384"/>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We don't have explicit guardrails on prompts and uploads. Until we do, default to the hard rules.</a:t>
            </a:r>
            <a:endParaRPr lang="en-US" sz="1300" dirty="0"/>
          </a:p>
        </p:txBody>
      </p:sp>
      <p:sp>
        <p:nvSpPr>
          <p:cNvPr id="37" name="Text 35"/>
          <p:cNvSpPr/>
          <p:nvPr/>
        </p:nvSpPr>
        <p:spPr>
          <a:xfrm>
            <a:off x="548640" y="6537960"/>
            <a:ext cx="11064240" cy="320040"/>
          </a:xfrm>
          <a:prstGeom prst="rect">
            <a:avLst/>
          </a:prstGeom>
          <a:noFill/>
          <a:ln/>
        </p:spPr>
        <p:txBody>
          <a:bodyPr wrap="square" lIns="0" tIns="0" rIns="0" bIns="0" rtlCol="0" anchor="ctr"/>
          <a:lstStyle/>
          <a:p>
            <a:pPr algn="ctr" indent="0" marL="0">
              <a:buNone/>
            </a:pPr>
            <a:r>
              <a:rPr lang="en-US" sz="1300" b="1" i="1" dirty="0">
                <a:solidFill>
                  <a:srgbClr val="0891B2"/>
                </a:solidFill>
                <a:latin typeface="Calibri" pitchFamily="34" charset="0"/>
                <a:ea typeface="Calibri" pitchFamily="34" charset="-122"/>
                <a:cs typeface="Calibri" pitchFamily="34" charset="-120"/>
              </a:rPr>
              <a:t>→ Treat it as a research accelerator, not as a citation. Your name is on the note.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Perplexity Enterprise — What's possible</dc:title>
  <dc:subject>PptxGenJS Presentation</dc:subject>
  <dc:creator>Aman Jain</dc:creator>
  <cp:lastModifiedBy>Aman Jain</cp:lastModifiedBy>
  <cp:revision>1</cp:revision>
  <dcterms:created xsi:type="dcterms:W3CDTF">2026-05-11T07:32:11Z</dcterms:created>
  <dcterms:modified xsi:type="dcterms:W3CDTF">2026-05-11T07:32:11Z</dcterms:modified>
</cp:coreProperties>
</file>